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8" r:id="rId3"/>
    <p:sldId id="257" r:id="rId4"/>
    <p:sldId id="281" r:id="rId5"/>
    <p:sldId id="394" r:id="rId6"/>
    <p:sldId id="287" r:id="rId7"/>
    <p:sldId id="288" r:id="rId8"/>
    <p:sldId id="400" r:id="rId9"/>
    <p:sldId id="276" r:id="rId10"/>
    <p:sldId id="259" r:id="rId11"/>
    <p:sldId id="282" r:id="rId12"/>
    <p:sldId id="283" r:id="rId13"/>
    <p:sldId id="286" r:id="rId14"/>
    <p:sldId id="279" r:id="rId15"/>
    <p:sldId id="289" r:id="rId16"/>
    <p:sldId id="395" r:id="rId17"/>
    <p:sldId id="396" r:id="rId18"/>
    <p:sldId id="397" r:id="rId19"/>
    <p:sldId id="398" r:id="rId20"/>
    <p:sldId id="399" r:id="rId21"/>
    <p:sldId id="263" r:id="rId22"/>
    <p:sldId id="270" r:id="rId23"/>
  </p:sldIdLst>
  <p:sldSz cx="18288000" cy="10287000"/>
  <p:notesSz cx="6858000" cy="9144000"/>
  <p:embeddedFontLst>
    <p:embeddedFont>
      <p:font typeface="Arial Narrow" panose="020B0606020202030204" pitchFamily="34" charset="0"/>
      <p:regular r:id="rId25"/>
      <p:bold r:id="rId26"/>
      <p:italic r:id="rId27"/>
      <p:boldItalic r:id="rId28"/>
    </p:embeddedFont>
    <p:embeddedFont>
      <p:font typeface="Cambria Math" panose="02040503050406030204" pitchFamily="18" charset="0"/>
      <p:regular r:id="rId29"/>
    </p:embeddedFont>
    <p:embeddedFont>
      <p:font typeface="Inter Bold" panose="020B0604020202020204" charset="0"/>
      <p:regular r:id="rId30"/>
    </p:embeddedFont>
    <p:embeddedFont>
      <p:font typeface="Nordique Inline" panose="00000500000000000000" pitchFamily="2" charset="0"/>
      <p:regular r:id="rId31"/>
    </p:embeddedFont>
    <p:embeddedFont>
      <p:font typeface="Poppins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996600"/>
    <a:srgbClr val="660033"/>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8C38C6-BBFE-4128-BE3F-D6347206547A}" type="datetimeFigureOut">
              <a:rPr lang="en-IN" smtClean="0"/>
              <a:t>05-03-2026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5D34F-2B4E-4F00-8297-2762CCE2B70A}" type="slidenum">
              <a:rPr lang="en-IN" smtClean="0"/>
              <a:t>‹#›</a:t>
            </a:fld>
            <a:endParaRPr lang="en-IN"/>
          </a:p>
        </p:txBody>
      </p:sp>
    </p:spTree>
    <p:extLst>
      <p:ext uri="{BB962C8B-B14F-4D97-AF65-F5344CB8AC3E}">
        <p14:creationId xmlns:p14="http://schemas.microsoft.com/office/powerpoint/2010/main" val="1052093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96387-E670-FD04-BBE0-D30A21EC8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353D9-7A56-10DE-56B9-6BBAB07A77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7A2A1-A7E1-291F-8848-B80DDAAF0C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90018D-31B1-9F25-A857-27873F6FEDDC}"/>
              </a:ext>
            </a:extLst>
          </p:cNvPr>
          <p:cNvSpPr>
            <a:spLocks noGrp="1"/>
          </p:cNvSpPr>
          <p:nvPr>
            <p:ph type="sldNum" sz="quarter" idx="5"/>
          </p:nvPr>
        </p:nvSpPr>
        <p:spPr/>
        <p:txBody>
          <a:bodyPr/>
          <a:lstStyle/>
          <a:p>
            <a:fld id="{C65A0CD5-FF1A-49A5-A9FE-8EA57A69F5A2}" type="slidenum">
              <a:rPr lang="en-IN" smtClean="0"/>
              <a:t>8</a:t>
            </a:fld>
            <a:endParaRPr lang="en-IN" dirty="0"/>
          </a:p>
        </p:txBody>
      </p:sp>
      <p:sp>
        <p:nvSpPr>
          <p:cNvPr id="5" name="Date Placeholder 4">
            <a:extLst>
              <a:ext uri="{FF2B5EF4-FFF2-40B4-BE49-F238E27FC236}">
                <a16:creationId xmlns:a16="http://schemas.microsoft.com/office/drawing/2014/main" id="{856E75FE-4833-1CC5-2094-CF37EFCB340D}"/>
              </a:ext>
            </a:extLst>
          </p:cNvPr>
          <p:cNvSpPr>
            <a:spLocks noGrp="1"/>
          </p:cNvSpPr>
          <p:nvPr>
            <p:ph type="dt" idx="10"/>
          </p:nvPr>
        </p:nvSpPr>
        <p:spPr/>
        <p:txBody>
          <a:bodyPr/>
          <a:lstStyle/>
          <a:p>
            <a:fld id="{0970B0E8-368E-4648-8640-7C6FD40C9D26}" type="datetime1">
              <a:rPr lang="en-IN" smtClean="0"/>
              <a:t>05-03-2026</a:t>
            </a:fld>
            <a:endParaRPr lang="en-IN"/>
          </a:p>
        </p:txBody>
      </p:sp>
    </p:spTree>
    <p:extLst>
      <p:ext uri="{BB962C8B-B14F-4D97-AF65-F5344CB8AC3E}">
        <p14:creationId xmlns:p14="http://schemas.microsoft.com/office/powerpoint/2010/main" val="1501991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hyperlink" Target="file:///C:\Users\pc\Downloads\GIT.ppt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71519" y="2282576"/>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628650" y="3511906"/>
            <a:ext cx="1257300" cy="3338071"/>
            <a:chOff x="0" y="0"/>
            <a:chExt cx="929559" cy="879163"/>
          </a:xfrm>
        </p:grpSpPr>
        <p:sp>
          <p:nvSpPr>
            <p:cNvPr id="4" name="Freeform 4"/>
            <p:cNvSpPr/>
            <p:nvPr/>
          </p:nvSpPr>
          <p:spPr>
            <a:xfrm>
              <a:off x="0" y="0"/>
              <a:ext cx="929559" cy="879163"/>
            </a:xfrm>
            <a:custGeom>
              <a:avLst/>
              <a:gdLst/>
              <a:ahLst/>
              <a:cxnLst/>
              <a:rect l="l" t="t" r="r" b="b"/>
              <a:pathLst>
                <a:path w="929559" h="879163">
                  <a:moveTo>
                    <a:pt x="0" y="0"/>
                  </a:moveTo>
                  <a:lnTo>
                    <a:pt x="929559" y="0"/>
                  </a:lnTo>
                  <a:lnTo>
                    <a:pt x="929559" y="879163"/>
                  </a:lnTo>
                  <a:lnTo>
                    <a:pt x="0" y="879163"/>
                  </a:lnTo>
                  <a:close/>
                </a:path>
              </a:pathLst>
            </a:custGeom>
            <a:solidFill>
              <a:srgbClr val="BCA37F"/>
            </a:solidFill>
          </p:spPr>
          <p:txBody>
            <a:bodyPr/>
            <a:lstStyle/>
            <a:p>
              <a:endParaRPr lang="en-IN"/>
            </a:p>
          </p:txBody>
        </p:sp>
        <p:sp>
          <p:nvSpPr>
            <p:cNvPr id="5" name="TextBox 5"/>
            <p:cNvSpPr txBox="1"/>
            <p:nvPr/>
          </p:nvSpPr>
          <p:spPr>
            <a:xfrm>
              <a:off x="0" y="-47625"/>
              <a:ext cx="929559" cy="926788"/>
            </a:xfrm>
            <a:prstGeom prst="rect">
              <a:avLst/>
            </a:prstGeom>
          </p:spPr>
          <p:txBody>
            <a:bodyPr lIns="50800" tIns="50800" rIns="50800" bIns="50800" rtlCol="0" anchor="ctr"/>
            <a:lstStyle/>
            <a:p>
              <a:pPr algn="ctr">
                <a:lnSpc>
                  <a:spcPts val="3012"/>
                </a:lnSpc>
              </a:pPr>
              <a:endParaRPr/>
            </a:p>
          </p:txBody>
        </p:sp>
      </p:grpSp>
      <p:grpSp>
        <p:nvGrpSpPr>
          <p:cNvPr id="6" name="Group 6"/>
          <p:cNvGrpSpPr/>
          <p:nvPr/>
        </p:nvGrpSpPr>
        <p:grpSpPr>
          <a:xfrm>
            <a:off x="16850683" y="7365373"/>
            <a:ext cx="1190712" cy="11907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9" name="Freeform 9"/>
          <p:cNvSpPr/>
          <p:nvPr/>
        </p:nvSpPr>
        <p:spPr>
          <a:xfrm>
            <a:off x="15207460" y="7876541"/>
            <a:ext cx="2618042" cy="4114800"/>
          </a:xfrm>
          <a:custGeom>
            <a:avLst/>
            <a:gdLst/>
            <a:ahLst/>
            <a:cxnLst/>
            <a:rect l="l" t="t" r="r" b="b"/>
            <a:pathLst>
              <a:path w="2618042" h="4114800">
                <a:moveTo>
                  <a:pt x="0" y="0"/>
                </a:moveTo>
                <a:lnTo>
                  <a:pt x="2618042" y="0"/>
                </a:lnTo>
                <a:lnTo>
                  <a:pt x="261804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rot="5400000">
            <a:off x="13601700" y="2158589"/>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14574125" y="-869877"/>
            <a:ext cx="3251377" cy="2483239"/>
          </a:xfrm>
          <a:custGeom>
            <a:avLst/>
            <a:gdLst/>
            <a:ahLst/>
            <a:cxnLst/>
            <a:rect l="l" t="t" r="r" b="b"/>
            <a:pathLst>
              <a:path w="3251377" h="2483239">
                <a:moveTo>
                  <a:pt x="0" y="0"/>
                </a:moveTo>
                <a:lnTo>
                  <a:pt x="3251377" y="0"/>
                </a:lnTo>
                <a:lnTo>
                  <a:pt x="3251377" y="2483240"/>
                </a:lnTo>
                <a:lnTo>
                  <a:pt x="0" y="24832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2" name="TextBox 12"/>
          <p:cNvSpPr txBox="1"/>
          <p:nvPr/>
        </p:nvSpPr>
        <p:spPr>
          <a:xfrm>
            <a:off x="2645032" y="1656003"/>
            <a:ext cx="13516878" cy="3323987"/>
          </a:xfrm>
          <a:prstGeom prst="rect">
            <a:avLst/>
          </a:prstGeom>
        </p:spPr>
        <p:txBody>
          <a:bodyPr wrap="square" lIns="0" tIns="0" rIns="0" bIns="0" rtlCol="0" anchor="t">
            <a:spAutoFit/>
          </a:bodyPr>
          <a:lstStyle/>
          <a:p>
            <a:pPr algn="ctr"/>
            <a:r>
              <a:rPr lang="en-US" sz="5400" b="1" dirty="0">
                <a:solidFill>
                  <a:srgbClr val="996633"/>
                </a:solidFill>
                <a:latin typeface="Times New Roman" panose="02020603050405020304" pitchFamily="18" charset="0"/>
                <a:cs typeface="Times New Roman" panose="02020603050405020304" pitchFamily="18" charset="0"/>
              </a:rPr>
              <a:t>An Expected Gradient Length Driven Active Learning Framework for Multi-Class Sentiment Analysis Using Transformer Models </a:t>
            </a:r>
            <a:endParaRPr lang="en-US" sz="5400" b="1" dirty="0">
              <a:solidFill>
                <a:srgbClr val="996633"/>
              </a:solidFill>
              <a:latin typeface="Times New Roman" panose="02020603050405020304" pitchFamily="18" charset="0"/>
              <a:ea typeface="Glacial Indifference Bold"/>
              <a:cs typeface="Times New Roman" panose="02020603050405020304" pitchFamily="18" charset="0"/>
              <a:sym typeface="Glacial Indifference Bold"/>
            </a:endParaRPr>
          </a:p>
        </p:txBody>
      </p:sp>
      <p:grpSp>
        <p:nvGrpSpPr>
          <p:cNvPr id="13" name="Group 3">
            <a:extLst>
              <a:ext uri="{FF2B5EF4-FFF2-40B4-BE49-F238E27FC236}">
                <a16:creationId xmlns:a16="http://schemas.microsoft.com/office/drawing/2014/main" id="{F640DF8E-E5D4-D3D6-D8FB-510DAD2BCD8F}"/>
              </a:ext>
            </a:extLst>
          </p:cNvPr>
          <p:cNvGrpSpPr/>
          <p:nvPr/>
        </p:nvGrpSpPr>
        <p:grpSpPr>
          <a:xfrm>
            <a:off x="9103229" y="6106615"/>
            <a:ext cx="7859083" cy="3338071"/>
            <a:chOff x="0" y="0"/>
            <a:chExt cx="929559" cy="879163"/>
          </a:xfrm>
        </p:grpSpPr>
        <p:sp>
          <p:nvSpPr>
            <p:cNvPr id="14" name="Freeform 4">
              <a:extLst>
                <a:ext uri="{FF2B5EF4-FFF2-40B4-BE49-F238E27FC236}">
                  <a16:creationId xmlns:a16="http://schemas.microsoft.com/office/drawing/2014/main" id="{A5EFED25-2B06-F681-A326-887BF5D6C9C6}"/>
                </a:ext>
              </a:extLst>
            </p:cNvPr>
            <p:cNvSpPr/>
            <p:nvPr/>
          </p:nvSpPr>
          <p:spPr>
            <a:xfrm>
              <a:off x="0" y="0"/>
              <a:ext cx="929559" cy="879163"/>
            </a:xfrm>
            <a:custGeom>
              <a:avLst/>
              <a:gdLst/>
              <a:ahLst/>
              <a:cxnLst/>
              <a:rect l="l" t="t" r="r" b="b"/>
              <a:pathLst>
                <a:path w="929559" h="879163">
                  <a:moveTo>
                    <a:pt x="0" y="0"/>
                  </a:moveTo>
                  <a:lnTo>
                    <a:pt x="929559" y="0"/>
                  </a:lnTo>
                  <a:lnTo>
                    <a:pt x="929559" y="879163"/>
                  </a:lnTo>
                  <a:lnTo>
                    <a:pt x="0" y="879163"/>
                  </a:lnTo>
                  <a:close/>
                </a:path>
              </a:pathLst>
            </a:custGeom>
            <a:solidFill>
              <a:srgbClr val="BCA37F"/>
            </a:solidFill>
          </p:spPr>
          <p:txBody>
            <a:bodyPr/>
            <a:lstStyle/>
            <a:p>
              <a:endParaRPr lang="en-IN"/>
            </a:p>
          </p:txBody>
        </p:sp>
        <p:sp>
          <p:nvSpPr>
            <p:cNvPr id="15" name="TextBox 5">
              <a:extLst>
                <a:ext uri="{FF2B5EF4-FFF2-40B4-BE49-F238E27FC236}">
                  <a16:creationId xmlns:a16="http://schemas.microsoft.com/office/drawing/2014/main" id="{25450E0F-BB99-E4D3-B906-A17874A82CDA}"/>
                </a:ext>
              </a:extLst>
            </p:cNvPr>
            <p:cNvSpPr txBox="1"/>
            <p:nvPr/>
          </p:nvSpPr>
          <p:spPr>
            <a:xfrm>
              <a:off x="0" y="-47625"/>
              <a:ext cx="929559" cy="926788"/>
            </a:xfrm>
            <a:prstGeom prst="rect">
              <a:avLst/>
            </a:prstGeom>
          </p:spPr>
          <p:txBody>
            <a:bodyPr lIns="50800" tIns="50800" rIns="50800" bIns="50800" rtlCol="0" anchor="ctr"/>
            <a:lstStyle/>
            <a:p>
              <a:pPr algn="ctr">
                <a:lnSpc>
                  <a:spcPts val="3012"/>
                </a:lnSpc>
              </a:pPr>
              <a:endParaRPr/>
            </a:p>
          </p:txBody>
        </p:sp>
      </p:grpSp>
      <p:sp>
        <p:nvSpPr>
          <p:cNvPr id="17" name="TextBox 16">
            <a:extLst>
              <a:ext uri="{FF2B5EF4-FFF2-40B4-BE49-F238E27FC236}">
                <a16:creationId xmlns:a16="http://schemas.microsoft.com/office/drawing/2014/main" id="{7B11BF39-7C13-055C-6827-0A3393050F65}"/>
              </a:ext>
            </a:extLst>
          </p:cNvPr>
          <p:cNvSpPr txBox="1"/>
          <p:nvPr/>
        </p:nvSpPr>
        <p:spPr>
          <a:xfrm>
            <a:off x="9144000" y="6439314"/>
            <a:ext cx="3048000"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Presented By:</a:t>
            </a:r>
          </a:p>
        </p:txBody>
      </p:sp>
      <p:sp>
        <p:nvSpPr>
          <p:cNvPr id="19" name="TextBox 18">
            <a:extLst>
              <a:ext uri="{FF2B5EF4-FFF2-40B4-BE49-F238E27FC236}">
                <a16:creationId xmlns:a16="http://schemas.microsoft.com/office/drawing/2014/main" id="{6B9869E6-7B30-2CA7-03B7-39DDB76FCB8F}"/>
              </a:ext>
            </a:extLst>
          </p:cNvPr>
          <p:cNvSpPr txBox="1"/>
          <p:nvPr/>
        </p:nvSpPr>
        <p:spPr>
          <a:xfrm>
            <a:off x="6172200" y="412855"/>
            <a:ext cx="9461090" cy="923330"/>
          </a:xfrm>
          <a:prstGeom prst="rect">
            <a:avLst/>
          </a:prstGeom>
          <a:noFill/>
        </p:spPr>
        <p:txBody>
          <a:bodyPr wrap="square">
            <a:spAutoFit/>
          </a:bodyPr>
          <a:lstStyle/>
          <a:p>
            <a:r>
              <a:rPr lang="en-IN" sz="5400" b="1" dirty="0">
                <a:latin typeface="Times New Roman" panose="02020603050405020304" pitchFamily="18" charset="0"/>
                <a:cs typeface="Times New Roman" panose="02020603050405020304" pitchFamily="18" charset="0"/>
              </a:rPr>
              <a:t>Second Review</a:t>
            </a:r>
          </a:p>
        </p:txBody>
      </p:sp>
      <p:sp>
        <p:nvSpPr>
          <p:cNvPr id="21" name="TextBox 20">
            <a:extLst>
              <a:ext uri="{FF2B5EF4-FFF2-40B4-BE49-F238E27FC236}">
                <a16:creationId xmlns:a16="http://schemas.microsoft.com/office/drawing/2014/main" id="{76BD3E69-1129-138A-004E-EC0379CBAF67}"/>
              </a:ext>
            </a:extLst>
          </p:cNvPr>
          <p:cNvSpPr txBox="1"/>
          <p:nvPr/>
        </p:nvSpPr>
        <p:spPr>
          <a:xfrm>
            <a:off x="10287000" y="7195642"/>
            <a:ext cx="9461090" cy="1815882"/>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221FA04625  </a:t>
            </a:r>
            <a:r>
              <a:rPr lang="en-IN" sz="2800" dirty="0" err="1">
                <a:latin typeface="Times New Roman" panose="02020603050405020304" pitchFamily="18" charset="0"/>
                <a:cs typeface="Times New Roman" panose="02020603050405020304" pitchFamily="18" charset="0"/>
              </a:rPr>
              <a:t>M.Shanmukha</a:t>
            </a:r>
            <a:r>
              <a:rPr lang="en-IN" sz="2800" dirty="0">
                <a:latin typeface="Times New Roman" panose="02020603050405020304" pitchFamily="18" charset="0"/>
                <a:cs typeface="Times New Roman" panose="02020603050405020304" pitchFamily="18" charset="0"/>
              </a:rPr>
              <a:t> Priya</a:t>
            </a:r>
          </a:p>
          <a:p>
            <a:r>
              <a:rPr lang="en-IN" sz="2800" dirty="0">
                <a:latin typeface="Times New Roman" panose="02020603050405020304" pitchFamily="18" charset="0"/>
                <a:cs typeface="Times New Roman" panose="02020603050405020304" pitchFamily="18" charset="0"/>
              </a:rPr>
              <a:t>221FA04700  </a:t>
            </a:r>
            <a:r>
              <a:rPr lang="en-IN" sz="2800" dirty="0" err="1">
                <a:latin typeface="Times New Roman" panose="02020603050405020304" pitchFamily="18" charset="0"/>
                <a:cs typeface="Times New Roman" panose="02020603050405020304" pitchFamily="18" charset="0"/>
              </a:rPr>
              <a:t>K.Swathi</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3D2C6266-4801-27F0-B4B3-1EEB0D33BA39}"/>
              </a:ext>
            </a:extLst>
          </p:cNvPr>
          <p:cNvSpPr txBox="1"/>
          <p:nvPr/>
        </p:nvSpPr>
        <p:spPr>
          <a:xfrm>
            <a:off x="6325347" y="5067950"/>
            <a:ext cx="10191134"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Batch N0:259</a:t>
            </a:r>
          </a:p>
        </p:txBody>
      </p:sp>
      <p:sp>
        <p:nvSpPr>
          <p:cNvPr id="25" name="TextBox 24">
            <a:extLst>
              <a:ext uri="{FF2B5EF4-FFF2-40B4-BE49-F238E27FC236}">
                <a16:creationId xmlns:a16="http://schemas.microsoft.com/office/drawing/2014/main" id="{2F67908F-16BD-29A6-229D-82CE4EC62FD3}"/>
              </a:ext>
            </a:extLst>
          </p:cNvPr>
          <p:cNvSpPr txBox="1"/>
          <p:nvPr/>
        </p:nvSpPr>
        <p:spPr>
          <a:xfrm>
            <a:off x="793990" y="7418344"/>
            <a:ext cx="10191134" cy="2272417"/>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Guide details:</a:t>
            </a:r>
          </a:p>
          <a:p>
            <a:r>
              <a:rPr lang="en-IN" sz="2800" dirty="0">
                <a:latin typeface="Times New Roman" panose="02020603050405020304" pitchFamily="18" charset="0"/>
                <a:cs typeface="Times New Roman" panose="02020603050405020304" pitchFamily="18" charset="0"/>
              </a:rPr>
              <a:t>Mrs . S. Anitha</a:t>
            </a:r>
          </a:p>
          <a:p>
            <a:pPr marL="12700" marR="5080">
              <a:lnSpc>
                <a:spcPct val="99800"/>
              </a:lnSpc>
              <a:spcBef>
                <a:spcPts val="115"/>
              </a:spcBef>
            </a:pPr>
            <a:r>
              <a:rPr lang="en-IN" sz="2800" spc="300" dirty="0" err="1">
                <a:latin typeface="Times New Roman" panose="02020603050405020304" pitchFamily="18" charset="0"/>
                <a:cs typeface="Times New Roman" panose="02020603050405020304" pitchFamily="18" charset="0"/>
              </a:rPr>
              <a:t>Asst.Prof</a:t>
            </a:r>
            <a:endParaRPr lang="en-IN" sz="2800" spc="300" dirty="0">
              <a:latin typeface="Times New Roman" panose="02020603050405020304" pitchFamily="18" charset="0"/>
              <a:cs typeface="Times New Roman" panose="02020603050405020304" pitchFamily="18" charset="0"/>
            </a:endParaRPr>
          </a:p>
          <a:p>
            <a:pPr marL="12700" marR="5080">
              <a:lnSpc>
                <a:spcPct val="99800"/>
              </a:lnSpc>
              <a:spcBef>
                <a:spcPts val="115"/>
              </a:spcBef>
            </a:pPr>
            <a:r>
              <a:rPr lang="en-IN" sz="2800" spc="300" dirty="0">
                <a:latin typeface="Times New Roman" panose="02020603050405020304" pitchFamily="18" charset="0"/>
                <a:cs typeface="Times New Roman" panose="02020603050405020304" pitchFamily="18" charset="0"/>
              </a:rPr>
              <a:t>Dept of CSE                           </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80343" y="8952747"/>
            <a:ext cx="732467" cy="686553"/>
          </a:xfrm>
          <a:custGeom>
            <a:avLst/>
            <a:gdLst/>
            <a:ahLst/>
            <a:cxnLst/>
            <a:rect l="l" t="t" r="r" b="b"/>
            <a:pathLst>
              <a:path w="732467" h="686553">
                <a:moveTo>
                  <a:pt x="0" y="0"/>
                </a:moveTo>
                <a:lnTo>
                  <a:pt x="732467" y="0"/>
                </a:lnTo>
                <a:lnTo>
                  <a:pt x="732467" y="686554"/>
                </a:lnTo>
                <a:lnTo>
                  <a:pt x="0" y="6865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13025320" y="3275637"/>
            <a:ext cx="4233980" cy="8932726"/>
            <a:chOff x="0" y="0"/>
            <a:chExt cx="1115122" cy="2352652"/>
          </a:xfrm>
        </p:grpSpPr>
        <p:sp>
          <p:nvSpPr>
            <p:cNvPr id="4" name="Freeform 4"/>
            <p:cNvSpPr/>
            <p:nvPr/>
          </p:nvSpPr>
          <p:spPr>
            <a:xfrm>
              <a:off x="0" y="0"/>
              <a:ext cx="1115122" cy="2352652"/>
            </a:xfrm>
            <a:custGeom>
              <a:avLst/>
              <a:gdLst/>
              <a:ahLst/>
              <a:cxnLst/>
              <a:rect l="l" t="t" r="r" b="b"/>
              <a:pathLst>
                <a:path w="1115122" h="2352652">
                  <a:moveTo>
                    <a:pt x="0" y="0"/>
                  </a:moveTo>
                  <a:lnTo>
                    <a:pt x="1115122" y="0"/>
                  </a:lnTo>
                  <a:lnTo>
                    <a:pt x="1115122" y="2352652"/>
                  </a:lnTo>
                  <a:lnTo>
                    <a:pt x="0" y="2352652"/>
                  </a:lnTo>
                  <a:close/>
                </a:path>
              </a:pathLst>
            </a:custGeom>
            <a:solidFill>
              <a:srgbClr val="EAD6B8"/>
            </a:solidFill>
          </p:spPr>
          <p:txBody>
            <a:bodyPr/>
            <a:lstStyle/>
            <a:p>
              <a:endParaRPr lang="en-IN"/>
            </a:p>
          </p:txBody>
        </p:sp>
        <p:sp>
          <p:nvSpPr>
            <p:cNvPr id="5" name="TextBox 5"/>
            <p:cNvSpPr txBox="1"/>
            <p:nvPr/>
          </p:nvSpPr>
          <p:spPr>
            <a:xfrm>
              <a:off x="0" y="-47625"/>
              <a:ext cx="1115122" cy="2400277"/>
            </a:xfrm>
            <a:prstGeom prst="rect">
              <a:avLst/>
            </a:prstGeom>
          </p:spPr>
          <p:txBody>
            <a:bodyPr lIns="50800" tIns="50800" rIns="50800" bIns="50800" rtlCol="0" anchor="ctr"/>
            <a:lstStyle/>
            <a:p>
              <a:pPr algn="ctr">
                <a:lnSpc>
                  <a:spcPts val="3012"/>
                </a:lnSpc>
              </a:pPr>
              <a:endParaRPr/>
            </a:p>
          </p:txBody>
        </p:sp>
      </p:grpSp>
      <p:grpSp>
        <p:nvGrpSpPr>
          <p:cNvPr id="6" name="Group 6"/>
          <p:cNvGrpSpPr/>
          <p:nvPr/>
        </p:nvGrpSpPr>
        <p:grpSpPr>
          <a:xfrm>
            <a:off x="-2587404" y="2701881"/>
            <a:ext cx="4233980" cy="5167289"/>
            <a:chOff x="0" y="0"/>
            <a:chExt cx="1115122" cy="1360932"/>
          </a:xfrm>
        </p:grpSpPr>
        <p:sp>
          <p:nvSpPr>
            <p:cNvPr id="7" name="Freeform 7"/>
            <p:cNvSpPr/>
            <p:nvPr/>
          </p:nvSpPr>
          <p:spPr>
            <a:xfrm>
              <a:off x="0" y="0"/>
              <a:ext cx="1115122" cy="1360932"/>
            </a:xfrm>
            <a:custGeom>
              <a:avLst/>
              <a:gdLst/>
              <a:ahLst/>
              <a:cxnLst/>
              <a:rect l="l" t="t" r="r" b="b"/>
              <a:pathLst>
                <a:path w="1115122" h="1360932">
                  <a:moveTo>
                    <a:pt x="0" y="0"/>
                  </a:moveTo>
                  <a:lnTo>
                    <a:pt x="1115122" y="0"/>
                  </a:lnTo>
                  <a:lnTo>
                    <a:pt x="1115122" y="1360932"/>
                  </a:lnTo>
                  <a:lnTo>
                    <a:pt x="0" y="1360932"/>
                  </a:lnTo>
                  <a:close/>
                </a:path>
              </a:pathLst>
            </a:custGeom>
            <a:solidFill>
              <a:srgbClr val="EAD6B8"/>
            </a:solidFill>
          </p:spPr>
          <p:txBody>
            <a:bodyPr/>
            <a:lstStyle/>
            <a:p>
              <a:endParaRPr lang="en-IN"/>
            </a:p>
          </p:txBody>
        </p:sp>
        <p:sp>
          <p:nvSpPr>
            <p:cNvPr id="8" name="TextBox 8"/>
            <p:cNvSpPr txBox="1"/>
            <p:nvPr/>
          </p:nvSpPr>
          <p:spPr>
            <a:xfrm>
              <a:off x="0" y="-47625"/>
              <a:ext cx="1115122" cy="1408557"/>
            </a:xfrm>
            <a:prstGeom prst="rect">
              <a:avLst/>
            </a:prstGeom>
          </p:spPr>
          <p:txBody>
            <a:bodyPr lIns="50800" tIns="50800" rIns="50800" bIns="50800" rtlCol="0" anchor="ctr"/>
            <a:lstStyle/>
            <a:p>
              <a:pPr algn="ctr">
                <a:lnSpc>
                  <a:spcPts val="3012"/>
                </a:lnSpc>
              </a:pPr>
              <a:endParaRPr/>
            </a:p>
          </p:txBody>
        </p:sp>
      </p:grpSp>
      <p:grpSp>
        <p:nvGrpSpPr>
          <p:cNvPr id="9" name="Group 9"/>
          <p:cNvGrpSpPr/>
          <p:nvPr/>
        </p:nvGrpSpPr>
        <p:grpSpPr>
          <a:xfrm>
            <a:off x="11003228" y="2422871"/>
            <a:ext cx="5246370" cy="6130348"/>
            <a:chOff x="0" y="0"/>
            <a:chExt cx="812800" cy="949751"/>
          </a:xfrm>
        </p:grpSpPr>
        <p:sp>
          <p:nvSpPr>
            <p:cNvPr id="10" name="Freeform 10"/>
            <p:cNvSpPr/>
            <p:nvPr/>
          </p:nvSpPr>
          <p:spPr>
            <a:xfrm>
              <a:off x="0" y="0"/>
              <a:ext cx="812800" cy="949751"/>
            </a:xfrm>
            <a:custGeom>
              <a:avLst/>
              <a:gdLst/>
              <a:ahLst/>
              <a:cxnLst/>
              <a:rect l="l" t="t" r="r" b="b"/>
              <a:pathLst>
                <a:path w="812800" h="949751">
                  <a:moveTo>
                    <a:pt x="0" y="0"/>
                  </a:moveTo>
                  <a:lnTo>
                    <a:pt x="812800" y="0"/>
                  </a:lnTo>
                  <a:lnTo>
                    <a:pt x="812800" y="949751"/>
                  </a:lnTo>
                  <a:lnTo>
                    <a:pt x="0" y="949751"/>
                  </a:lnTo>
                  <a:close/>
                </a:path>
              </a:pathLst>
            </a:custGeom>
            <a:blipFill>
              <a:blip r:embed="rId4"/>
              <a:stretch>
                <a:fillRect t="-3487" b="-3487"/>
              </a:stretch>
            </a:blipFill>
          </p:spPr>
          <p:txBody>
            <a:bodyPr/>
            <a:lstStyle/>
            <a:p>
              <a:endParaRPr lang="en-IN"/>
            </a:p>
          </p:txBody>
        </p:sp>
      </p:grpSp>
      <p:grpSp>
        <p:nvGrpSpPr>
          <p:cNvPr id="11" name="Group 11"/>
          <p:cNvGrpSpPr/>
          <p:nvPr/>
        </p:nvGrpSpPr>
        <p:grpSpPr>
          <a:xfrm>
            <a:off x="2713440" y="2576910"/>
            <a:ext cx="698728" cy="698728"/>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13" name="TextBox 13"/>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01</a:t>
              </a:r>
            </a:p>
          </p:txBody>
        </p:sp>
      </p:grpSp>
      <p:grpSp>
        <p:nvGrpSpPr>
          <p:cNvPr id="14" name="Group 14"/>
          <p:cNvGrpSpPr/>
          <p:nvPr/>
        </p:nvGrpSpPr>
        <p:grpSpPr>
          <a:xfrm>
            <a:off x="2713440" y="3495616"/>
            <a:ext cx="698728" cy="698728"/>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16" name="TextBox 16"/>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02</a:t>
              </a:r>
            </a:p>
          </p:txBody>
        </p:sp>
      </p:grpSp>
      <p:sp>
        <p:nvSpPr>
          <p:cNvPr id="17" name="TextBox 17"/>
          <p:cNvSpPr txBox="1"/>
          <p:nvPr/>
        </p:nvSpPr>
        <p:spPr>
          <a:xfrm>
            <a:off x="1028700" y="404228"/>
            <a:ext cx="12240089" cy="1687211"/>
          </a:xfrm>
          <a:prstGeom prst="rect">
            <a:avLst/>
          </a:prstGeom>
        </p:spPr>
        <p:txBody>
          <a:bodyPr lIns="0" tIns="0" rIns="0" bIns="0" rtlCol="0" anchor="t">
            <a:spAutoFit/>
          </a:bodyPr>
          <a:lstStyle/>
          <a:p>
            <a:pPr marL="0" lvl="0" indent="0" algn="l">
              <a:lnSpc>
                <a:spcPts val="13050"/>
              </a:lnSpc>
              <a:spcBef>
                <a:spcPct val="0"/>
              </a:spcBef>
            </a:pPr>
            <a:r>
              <a:rPr lang="en-US" sz="9321" b="1" dirty="0">
                <a:solidFill>
                  <a:srgbClr val="705C40"/>
                </a:solidFill>
                <a:latin typeface="Poppins Bold"/>
                <a:ea typeface="Poppins Bold"/>
                <a:cs typeface="Poppins Bold"/>
                <a:sym typeface="Poppins Bold"/>
              </a:rPr>
              <a:t>Agenda Overview</a:t>
            </a:r>
          </a:p>
        </p:txBody>
      </p:sp>
      <p:sp>
        <p:nvSpPr>
          <p:cNvPr id="19" name="TextBox 19"/>
          <p:cNvSpPr txBox="1"/>
          <p:nvPr/>
        </p:nvSpPr>
        <p:spPr>
          <a:xfrm>
            <a:off x="3697550" y="2635206"/>
            <a:ext cx="4057443" cy="483337"/>
          </a:xfrm>
          <a:prstGeom prst="rect">
            <a:avLst/>
          </a:prstGeom>
        </p:spPr>
        <p:txBody>
          <a:bodyPr lIns="0" tIns="0" rIns="0" bIns="0" rtlCol="0" anchor="t">
            <a:spAutoFit/>
          </a:bodyPr>
          <a:lstStyle/>
          <a:p>
            <a:pPr algn="l">
              <a:lnSpc>
                <a:spcPts val="4132"/>
              </a:lnSpc>
              <a:spcBef>
                <a:spcPct val="0"/>
              </a:spcBef>
            </a:pPr>
            <a:r>
              <a:rPr lang="en-US" sz="2951" b="1" dirty="0">
                <a:solidFill>
                  <a:srgbClr val="000000"/>
                </a:solidFill>
                <a:latin typeface="Inter Bold"/>
                <a:ea typeface="Inter Bold"/>
                <a:cs typeface="Inter Bold"/>
                <a:sym typeface="Inter Bold"/>
              </a:rPr>
              <a:t>Introduction</a:t>
            </a:r>
          </a:p>
        </p:txBody>
      </p:sp>
      <p:grpSp>
        <p:nvGrpSpPr>
          <p:cNvPr id="21" name="Group 21"/>
          <p:cNvGrpSpPr/>
          <p:nvPr/>
        </p:nvGrpSpPr>
        <p:grpSpPr>
          <a:xfrm>
            <a:off x="2713440" y="4414323"/>
            <a:ext cx="698728" cy="698728"/>
            <a:chOff x="0" y="0"/>
            <a:chExt cx="812800" cy="812800"/>
          </a:xfrm>
        </p:grpSpPr>
        <p:sp>
          <p:nvSpPr>
            <p:cNvPr id="22" name="Freeform 2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23" name="TextBox 23"/>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03</a:t>
              </a:r>
            </a:p>
          </p:txBody>
        </p:sp>
      </p:grpSp>
      <p:sp>
        <p:nvSpPr>
          <p:cNvPr id="24" name="TextBox 24"/>
          <p:cNvSpPr txBox="1"/>
          <p:nvPr/>
        </p:nvSpPr>
        <p:spPr>
          <a:xfrm>
            <a:off x="3659696" y="4548886"/>
            <a:ext cx="4057443" cy="500137"/>
          </a:xfrm>
          <a:prstGeom prst="rect">
            <a:avLst/>
          </a:prstGeom>
        </p:spPr>
        <p:txBody>
          <a:bodyPr lIns="0" tIns="0" rIns="0" bIns="0" rtlCol="0" anchor="t">
            <a:spAutoFit/>
          </a:bodyPr>
          <a:lstStyle/>
          <a:p>
            <a:pPr>
              <a:lnSpc>
                <a:spcPts val="4132"/>
              </a:lnSpc>
              <a:spcBef>
                <a:spcPct val="0"/>
              </a:spcBef>
            </a:pPr>
            <a:r>
              <a:rPr lang="en-US" sz="2951" b="1" dirty="0">
                <a:solidFill>
                  <a:srgbClr val="000000"/>
                </a:solidFill>
                <a:latin typeface="Inter Bold"/>
                <a:ea typeface="Inter Bold"/>
                <a:cs typeface="Inter Bold"/>
                <a:sym typeface="Inter Bold"/>
              </a:rPr>
              <a:t>Dataset Description</a:t>
            </a:r>
          </a:p>
        </p:txBody>
      </p:sp>
      <p:grpSp>
        <p:nvGrpSpPr>
          <p:cNvPr id="25" name="Group 25"/>
          <p:cNvGrpSpPr/>
          <p:nvPr/>
        </p:nvGrpSpPr>
        <p:grpSpPr>
          <a:xfrm>
            <a:off x="2713440" y="5333029"/>
            <a:ext cx="698728" cy="698728"/>
            <a:chOff x="0" y="0"/>
            <a:chExt cx="812800" cy="812800"/>
          </a:xfrm>
        </p:grpSpPr>
        <p:sp>
          <p:nvSpPr>
            <p:cNvPr id="26" name="Freeform 2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27" name="TextBox 27"/>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04</a:t>
              </a:r>
            </a:p>
          </p:txBody>
        </p:sp>
      </p:grpSp>
      <p:sp>
        <p:nvSpPr>
          <p:cNvPr id="28" name="TextBox 28"/>
          <p:cNvSpPr txBox="1"/>
          <p:nvPr/>
        </p:nvSpPr>
        <p:spPr>
          <a:xfrm>
            <a:off x="3697550" y="3570346"/>
            <a:ext cx="4057443" cy="500137"/>
          </a:xfrm>
          <a:prstGeom prst="rect">
            <a:avLst/>
          </a:prstGeom>
        </p:spPr>
        <p:txBody>
          <a:bodyPr lIns="0" tIns="0" rIns="0" bIns="0" rtlCol="0" anchor="t">
            <a:spAutoFit/>
          </a:bodyPr>
          <a:lstStyle/>
          <a:p>
            <a:pPr>
              <a:lnSpc>
                <a:spcPts val="4132"/>
              </a:lnSpc>
              <a:spcBef>
                <a:spcPct val="0"/>
              </a:spcBef>
            </a:pPr>
            <a:r>
              <a:rPr lang="en-US" sz="2951" b="1" dirty="0">
                <a:solidFill>
                  <a:srgbClr val="000000"/>
                </a:solidFill>
                <a:latin typeface="Inter Bold"/>
                <a:ea typeface="Inter Bold"/>
                <a:cs typeface="Inter Bold"/>
                <a:sym typeface="Inter Bold"/>
              </a:rPr>
              <a:t>Objective</a:t>
            </a:r>
          </a:p>
        </p:txBody>
      </p:sp>
      <p:grpSp>
        <p:nvGrpSpPr>
          <p:cNvPr id="29" name="Group 29"/>
          <p:cNvGrpSpPr/>
          <p:nvPr/>
        </p:nvGrpSpPr>
        <p:grpSpPr>
          <a:xfrm>
            <a:off x="2713440" y="6251735"/>
            <a:ext cx="698728" cy="698728"/>
            <a:chOff x="0" y="0"/>
            <a:chExt cx="812800" cy="812800"/>
          </a:xfrm>
        </p:grpSpPr>
        <p:sp>
          <p:nvSpPr>
            <p:cNvPr id="30" name="Freeform 3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31" name="TextBox 31"/>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a:solidFill>
                    <a:srgbClr val="000000"/>
                  </a:solidFill>
                  <a:latin typeface="Inter Bold"/>
                  <a:ea typeface="Inter Bold"/>
                  <a:cs typeface="Inter Bold"/>
                  <a:sym typeface="Inter Bold"/>
                </a:rPr>
                <a:t>05</a:t>
              </a:r>
            </a:p>
          </p:txBody>
        </p:sp>
      </p:grpSp>
      <p:sp>
        <p:nvSpPr>
          <p:cNvPr id="32" name="TextBox 32"/>
          <p:cNvSpPr txBox="1"/>
          <p:nvPr/>
        </p:nvSpPr>
        <p:spPr>
          <a:xfrm>
            <a:off x="3659696" y="7080353"/>
            <a:ext cx="6589451" cy="886397"/>
          </a:xfrm>
          <a:prstGeom prst="rect">
            <a:avLst/>
          </a:prstGeom>
        </p:spPr>
        <p:txBody>
          <a:bodyPr wrap="square" lIns="0" tIns="0" rIns="0" bIns="0" rtlCol="0" anchor="t">
            <a:spAutoFit/>
          </a:bodyPr>
          <a:lstStyle/>
          <a:p>
            <a:pPr marL="127000" indent="0">
              <a:lnSpc>
                <a:spcPct val="90000"/>
              </a:lnSpc>
              <a:spcBef>
                <a:spcPct val="0"/>
              </a:spcBef>
              <a:spcAft>
                <a:spcPts val="600"/>
              </a:spcAft>
            </a:pPr>
            <a:r>
              <a:rPr lang="en-US" sz="3200" b="1" dirty="0">
                <a:latin typeface="Times New Roman" panose="02020603050405020304" pitchFamily="18" charset="0"/>
                <a:cs typeface="Times New Roman" panose="02020603050405020304" pitchFamily="18" charset="0"/>
              </a:rPr>
              <a:t>Identification of Tools / Equipment / Training Needs</a:t>
            </a:r>
          </a:p>
        </p:txBody>
      </p:sp>
      <p:grpSp>
        <p:nvGrpSpPr>
          <p:cNvPr id="33" name="Group 33"/>
          <p:cNvGrpSpPr/>
          <p:nvPr/>
        </p:nvGrpSpPr>
        <p:grpSpPr>
          <a:xfrm>
            <a:off x="2713440" y="7170442"/>
            <a:ext cx="698728" cy="698728"/>
            <a:chOff x="0" y="0"/>
            <a:chExt cx="812800" cy="812800"/>
          </a:xfrm>
        </p:grpSpPr>
        <p:sp>
          <p:nvSpPr>
            <p:cNvPr id="34" name="Freeform 3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AD6B8"/>
            </a:solidFill>
          </p:spPr>
          <p:txBody>
            <a:bodyPr/>
            <a:lstStyle/>
            <a:p>
              <a:endParaRPr lang="en-IN"/>
            </a:p>
          </p:txBody>
        </p:sp>
        <p:sp>
          <p:nvSpPr>
            <p:cNvPr id="35" name="TextBox 35"/>
            <p:cNvSpPr txBox="1"/>
            <p:nvPr/>
          </p:nvSpPr>
          <p:spPr>
            <a:xfrm>
              <a:off x="0" y="-57150"/>
              <a:ext cx="812800" cy="869950"/>
            </a:xfrm>
            <a:prstGeom prst="rect">
              <a:avLst/>
            </a:prstGeom>
          </p:spPr>
          <p:txBody>
            <a:bodyPr lIns="50800" tIns="50800" rIns="50800" bIns="50800" rtlCol="0" anchor="ctr"/>
            <a:lstStyle/>
            <a:p>
              <a:pPr algn="ctr">
                <a:lnSpc>
                  <a:spcPts val="3572"/>
                </a:lnSpc>
              </a:pPr>
              <a:r>
                <a:rPr lang="en-US" sz="2551" b="1" dirty="0">
                  <a:solidFill>
                    <a:srgbClr val="000000"/>
                  </a:solidFill>
                  <a:latin typeface="Inter Bold"/>
                  <a:ea typeface="Inter Bold"/>
                  <a:cs typeface="Inter Bold"/>
                  <a:sym typeface="Inter Bold"/>
                </a:rPr>
                <a:t>06</a:t>
              </a:r>
            </a:p>
          </p:txBody>
        </p:sp>
      </p:grpSp>
      <p:sp>
        <p:nvSpPr>
          <p:cNvPr id="36" name="TextBox 36"/>
          <p:cNvSpPr txBox="1"/>
          <p:nvPr/>
        </p:nvSpPr>
        <p:spPr>
          <a:xfrm>
            <a:off x="3697550" y="6460033"/>
            <a:ext cx="4057443" cy="500137"/>
          </a:xfrm>
          <a:prstGeom prst="rect">
            <a:avLst/>
          </a:prstGeom>
        </p:spPr>
        <p:txBody>
          <a:bodyPr lIns="0" tIns="0" rIns="0" bIns="0" rtlCol="0" anchor="t">
            <a:spAutoFit/>
          </a:bodyPr>
          <a:lstStyle/>
          <a:p>
            <a:pPr>
              <a:lnSpc>
                <a:spcPts val="4132"/>
              </a:lnSpc>
              <a:spcBef>
                <a:spcPct val="0"/>
              </a:spcBef>
            </a:pPr>
            <a:r>
              <a:rPr lang="en-US" sz="2951" b="1" dirty="0">
                <a:solidFill>
                  <a:srgbClr val="000000"/>
                </a:solidFill>
                <a:latin typeface="Inter Bold"/>
                <a:ea typeface="Inter Bold"/>
                <a:cs typeface="Inter Bold"/>
                <a:sym typeface="Inter Bold"/>
              </a:rPr>
              <a:t>Methodology</a:t>
            </a:r>
          </a:p>
        </p:txBody>
      </p:sp>
      <p:sp>
        <p:nvSpPr>
          <p:cNvPr id="37" name="Freeform 37"/>
          <p:cNvSpPr/>
          <p:nvPr/>
        </p:nvSpPr>
        <p:spPr>
          <a:xfrm>
            <a:off x="11838803" y="9258300"/>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pic>
        <p:nvPicPr>
          <p:cNvPr id="18" name="Picture 17">
            <a:extLst>
              <a:ext uri="{FF2B5EF4-FFF2-40B4-BE49-F238E27FC236}">
                <a16:creationId xmlns:a16="http://schemas.microsoft.com/office/drawing/2014/main" id="{1B7EAF28-62A1-1604-24D1-659D9A71D84C}"/>
              </a:ext>
            </a:extLst>
          </p:cNvPr>
          <p:cNvPicPr>
            <a:picLocks noChangeAspect="1"/>
          </p:cNvPicPr>
          <p:nvPr/>
        </p:nvPicPr>
        <p:blipFill>
          <a:blip r:embed="rId7"/>
          <a:stretch>
            <a:fillRect/>
          </a:stretch>
        </p:blipFill>
        <p:spPr>
          <a:xfrm>
            <a:off x="-2474475" y="3495616"/>
            <a:ext cx="4277322" cy="3496163"/>
          </a:xfrm>
          <a:prstGeom prst="rect">
            <a:avLst/>
          </a:prstGeom>
        </p:spPr>
      </p:pic>
      <p:sp>
        <p:nvSpPr>
          <p:cNvPr id="44" name="TextBox 36">
            <a:extLst>
              <a:ext uri="{FF2B5EF4-FFF2-40B4-BE49-F238E27FC236}">
                <a16:creationId xmlns:a16="http://schemas.microsoft.com/office/drawing/2014/main" id="{CF3E69F8-C726-79D7-B51D-86E816567B95}"/>
              </a:ext>
            </a:extLst>
          </p:cNvPr>
          <p:cNvSpPr txBox="1"/>
          <p:nvPr/>
        </p:nvSpPr>
        <p:spPr>
          <a:xfrm>
            <a:off x="3697550" y="5481493"/>
            <a:ext cx="4057443" cy="492443"/>
          </a:xfrm>
          <a:prstGeom prst="rect">
            <a:avLst/>
          </a:prstGeom>
        </p:spPr>
        <p:txBody>
          <a:bodyPr lIns="0" tIns="0" rIns="0" bIns="0" rtlCol="0" anchor="t">
            <a:spAutoFit/>
          </a:bodyPr>
          <a:lstStyle/>
          <a:p>
            <a:r>
              <a:rPr lang="en-IN" sz="3200" b="1" dirty="0">
                <a:latin typeface="Times New Roman" panose="02020603050405020304" pitchFamily="18" charset="0"/>
                <a:cs typeface="Times New Roman" panose="02020603050405020304" pitchFamily="18" charset="0"/>
              </a:rPr>
              <a:t>Literature Survey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280343" y="8446262"/>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1600">
              <a:latin typeface="Times New Roman" panose="02020603050405020304" pitchFamily="18" charset="0"/>
              <a:cs typeface="Times New Roman" panose="02020603050405020304" pitchFamily="18" charset="0"/>
            </a:endParaRPr>
          </a:p>
        </p:txBody>
      </p:sp>
      <p:sp>
        <p:nvSpPr>
          <p:cNvPr id="7" name="AutoShape 7"/>
          <p:cNvSpPr/>
          <p:nvPr/>
        </p:nvSpPr>
        <p:spPr>
          <a:xfrm>
            <a:off x="6783460" y="8789538"/>
            <a:ext cx="10475840" cy="0"/>
          </a:xfrm>
          <a:prstGeom prst="line">
            <a:avLst/>
          </a:prstGeom>
          <a:ln w="38100" cap="flat">
            <a:solidFill>
              <a:srgbClr val="BCA37F"/>
            </a:solidFill>
            <a:prstDash val="solid"/>
            <a:headEnd type="none" w="sm" len="sm"/>
            <a:tailEnd type="none" w="sm" len="sm"/>
          </a:ln>
        </p:spPr>
        <p:txBody>
          <a:bodyPr/>
          <a:lstStyle/>
          <a:p>
            <a:endParaRPr lang="en-IN" sz="1600">
              <a:latin typeface="Times New Roman" panose="02020603050405020304" pitchFamily="18" charset="0"/>
              <a:cs typeface="Times New Roman" panose="02020603050405020304" pitchFamily="18" charset="0"/>
            </a:endParaRPr>
          </a:p>
        </p:txBody>
      </p:sp>
      <p:grpSp>
        <p:nvGrpSpPr>
          <p:cNvPr id="10" name="Group 10"/>
          <p:cNvGrpSpPr/>
          <p:nvPr/>
        </p:nvGrpSpPr>
        <p:grpSpPr>
          <a:xfrm>
            <a:off x="-914400" y="564813"/>
            <a:ext cx="3086100" cy="1178743"/>
            <a:chOff x="0" y="0"/>
            <a:chExt cx="812800" cy="310451"/>
          </a:xfrm>
        </p:grpSpPr>
        <p:sp>
          <p:nvSpPr>
            <p:cNvPr id="11" name="Freeform 11"/>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12" name="TextBox 12"/>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8EBD72FB-9014-CD74-7478-93EB440918D6}"/>
              </a:ext>
            </a:extLst>
          </p:cNvPr>
          <p:cNvSpPr txBox="1"/>
          <p:nvPr/>
        </p:nvSpPr>
        <p:spPr>
          <a:xfrm>
            <a:off x="1905000" y="2317582"/>
            <a:ext cx="7924800" cy="6001643"/>
          </a:xfrm>
          <a:prstGeom prst="rect">
            <a:avLst/>
          </a:prstGeom>
          <a:noFill/>
        </p:spPr>
        <p:txBody>
          <a:bodyPr wrap="square">
            <a:spAutoFit/>
          </a:bodyPr>
          <a:lstStyle/>
          <a:p>
            <a:pPr marL="342900" indent="-342900" algn="just">
              <a:buSzPct val="1000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Sentiment analysis is a key task in Natural Language Processing (NLP) that involves determining the emotional tone expressed in text. </a:t>
            </a:r>
          </a:p>
          <a:p>
            <a:pPr marL="342900" indent="-342900" algn="just">
              <a:buSzPct val="1000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It is widely used in fields such as social media monitoring, customer feedback analysis, and market research to extract opinions and attitudes from written language. </a:t>
            </a:r>
          </a:p>
          <a:p>
            <a:pPr marL="342900" indent="-342900" algn="just">
              <a:buSzPct val="1000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Sentiment analysis helps identify whether the sentiment in a piece of text is positive, negative, or neutral. </a:t>
            </a:r>
          </a:p>
          <a:p>
            <a:endParaRPr lang="en-IN" sz="3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4C6FCEA-8B1A-9B5B-6262-95B736BEF68D}"/>
              </a:ext>
            </a:extLst>
          </p:cNvPr>
          <p:cNvSpPr txBox="1"/>
          <p:nvPr/>
        </p:nvSpPr>
        <p:spPr>
          <a:xfrm>
            <a:off x="1066800" y="738685"/>
            <a:ext cx="5562600"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Introduction</a:t>
            </a:r>
          </a:p>
        </p:txBody>
      </p:sp>
      <p:grpSp>
        <p:nvGrpSpPr>
          <p:cNvPr id="20" name="Group 6">
            <a:extLst>
              <a:ext uri="{FF2B5EF4-FFF2-40B4-BE49-F238E27FC236}">
                <a16:creationId xmlns:a16="http://schemas.microsoft.com/office/drawing/2014/main" id="{E7E3A69C-7BC1-B88D-A487-539702CA9FED}"/>
              </a:ext>
            </a:extLst>
          </p:cNvPr>
          <p:cNvGrpSpPr/>
          <p:nvPr/>
        </p:nvGrpSpPr>
        <p:grpSpPr>
          <a:xfrm>
            <a:off x="11044087" y="1866900"/>
            <a:ext cx="6846470" cy="6523130"/>
            <a:chOff x="-43124" y="-47625"/>
            <a:chExt cx="1158246" cy="1408557"/>
          </a:xfrm>
        </p:grpSpPr>
        <p:sp>
          <p:nvSpPr>
            <p:cNvPr id="21" name="Freeform 7">
              <a:extLst>
                <a:ext uri="{FF2B5EF4-FFF2-40B4-BE49-F238E27FC236}">
                  <a16:creationId xmlns:a16="http://schemas.microsoft.com/office/drawing/2014/main" id="{D7F0D443-A923-AAEF-F250-59F43CD495FB}"/>
                </a:ext>
              </a:extLst>
            </p:cNvPr>
            <p:cNvSpPr/>
            <p:nvPr/>
          </p:nvSpPr>
          <p:spPr>
            <a:xfrm>
              <a:off x="-43124" y="0"/>
              <a:ext cx="1158246" cy="1040469"/>
            </a:xfrm>
            <a:custGeom>
              <a:avLst/>
              <a:gdLst/>
              <a:ahLst/>
              <a:cxnLst/>
              <a:rect l="l" t="t" r="r" b="b"/>
              <a:pathLst>
                <a:path w="1115122" h="1360932">
                  <a:moveTo>
                    <a:pt x="0" y="0"/>
                  </a:moveTo>
                  <a:lnTo>
                    <a:pt x="1115122" y="0"/>
                  </a:lnTo>
                  <a:lnTo>
                    <a:pt x="1115122" y="1360932"/>
                  </a:lnTo>
                  <a:lnTo>
                    <a:pt x="0" y="1360932"/>
                  </a:lnTo>
                  <a:close/>
                </a:path>
              </a:pathLst>
            </a:custGeom>
            <a:solidFill>
              <a:srgbClr val="EAD6B8"/>
            </a:solidFill>
          </p:spPr>
          <p:txBody>
            <a:bodyPr/>
            <a:lstStyle/>
            <a:p>
              <a:endParaRPr lang="en-IN"/>
            </a:p>
          </p:txBody>
        </p:sp>
        <p:sp>
          <p:nvSpPr>
            <p:cNvPr id="22" name="TextBox 8">
              <a:extLst>
                <a:ext uri="{FF2B5EF4-FFF2-40B4-BE49-F238E27FC236}">
                  <a16:creationId xmlns:a16="http://schemas.microsoft.com/office/drawing/2014/main" id="{71D44EDF-F6B7-C8CC-9A8C-89F5F5152687}"/>
                </a:ext>
              </a:extLst>
            </p:cNvPr>
            <p:cNvSpPr txBox="1"/>
            <p:nvPr/>
          </p:nvSpPr>
          <p:spPr>
            <a:xfrm>
              <a:off x="0" y="-47625"/>
              <a:ext cx="1115122" cy="1408557"/>
            </a:xfrm>
            <a:prstGeom prst="rect">
              <a:avLst/>
            </a:prstGeom>
          </p:spPr>
          <p:txBody>
            <a:bodyPr lIns="50800" tIns="50800" rIns="50800" bIns="50800" rtlCol="0" anchor="ctr"/>
            <a:lstStyle/>
            <a:p>
              <a:pPr algn="ctr">
                <a:lnSpc>
                  <a:spcPts val="3012"/>
                </a:lnSpc>
              </a:pPr>
              <a:endParaRPr/>
            </a:p>
          </p:txBody>
        </p:sp>
      </p:grpSp>
      <p:pic>
        <p:nvPicPr>
          <p:cNvPr id="23" name="Picture 22">
            <a:extLst>
              <a:ext uri="{FF2B5EF4-FFF2-40B4-BE49-F238E27FC236}">
                <a16:creationId xmlns:a16="http://schemas.microsoft.com/office/drawing/2014/main" id="{A630C564-7B59-9D8E-A092-27646E7CFFC0}"/>
              </a:ext>
            </a:extLst>
          </p:cNvPr>
          <p:cNvPicPr>
            <a:picLocks noChangeAspect="1"/>
          </p:cNvPicPr>
          <p:nvPr/>
        </p:nvPicPr>
        <p:blipFill>
          <a:blip r:embed="rId4"/>
          <a:stretch>
            <a:fillRect/>
          </a:stretch>
        </p:blipFill>
        <p:spPr>
          <a:xfrm>
            <a:off x="11199791" y="2746391"/>
            <a:ext cx="6535062" cy="3400900"/>
          </a:xfrm>
          <a:prstGeom prst="rect">
            <a:avLst/>
          </a:prstGeom>
        </p:spPr>
      </p:pic>
      <p:sp>
        <p:nvSpPr>
          <p:cNvPr id="24" name="Oval 23">
            <a:extLst>
              <a:ext uri="{FF2B5EF4-FFF2-40B4-BE49-F238E27FC236}">
                <a16:creationId xmlns:a16="http://schemas.microsoft.com/office/drawing/2014/main" id="{A7C5FB50-D645-6353-3989-1A5374A8FCF3}"/>
              </a:ext>
            </a:extLst>
          </p:cNvPr>
          <p:cNvSpPr/>
          <p:nvPr/>
        </p:nvSpPr>
        <p:spPr>
          <a:xfrm>
            <a:off x="11298996" y="5318404"/>
            <a:ext cx="740604" cy="663296"/>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7AE8E4-86B9-3DCA-17D4-837C173C954B}"/>
              </a:ext>
            </a:extLst>
          </p:cNvPr>
          <p:cNvSpPr txBox="1"/>
          <p:nvPr/>
        </p:nvSpPr>
        <p:spPr>
          <a:xfrm>
            <a:off x="1600200" y="1866900"/>
            <a:ext cx="10210800" cy="5565640"/>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endParaRPr lang="en-US" sz="2400" dirty="0">
              <a:solidFill>
                <a:schemeClr val="tx1">
                  <a:alpha val="80000"/>
                </a:schemeClr>
              </a:solidFill>
              <a:latin typeface="Times New Roman" panose="02020603050405020304" pitchFamily="18" charset="0"/>
              <a:cs typeface="Times New Roman" panose="02020603050405020304" pitchFamily="18" charset="0"/>
            </a:endParaRPr>
          </a:p>
        </p:txBody>
      </p:sp>
      <p:sp>
        <p:nvSpPr>
          <p:cNvPr id="4" name="Freeform 7">
            <a:extLst>
              <a:ext uri="{FF2B5EF4-FFF2-40B4-BE49-F238E27FC236}">
                <a16:creationId xmlns:a16="http://schemas.microsoft.com/office/drawing/2014/main" id="{396B8A02-C908-E0FB-3CC2-ADE6E5B7B990}"/>
              </a:ext>
            </a:extLst>
          </p:cNvPr>
          <p:cNvSpPr/>
          <p:nvPr/>
        </p:nvSpPr>
        <p:spPr>
          <a:xfrm rot="5400000">
            <a:off x="13721642" y="7000714"/>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5" name="TextBox 4">
            <a:extLst>
              <a:ext uri="{FF2B5EF4-FFF2-40B4-BE49-F238E27FC236}">
                <a16:creationId xmlns:a16="http://schemas.microsoft.com/office/drawing/2014/main" id="{421355CB-BD0E-B0BE-B18B-6F0EB280BDEC}"/>
              </a:ext>
            </a:extLst>
          </p:cNvPr>
          <p:cNvSpPr txBox="1"/>
          <p:nvPr/>
        </p:nvSpPr>
        <p:spPr>
          <a:xfrm>
            <a:off x="1295400" y="6449730"/>
            <a:ext cx="662940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hlinkClick r:id="rId4" action="ppaction://hlinkpres?slideindex=1&amp;slidetitle="/>
              </a:rPr>
              <a:t>https://github.com/Shannu1695/Final-Year-Project</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72B0056-8DA8-F40A-34C0-64B1BC741882}"/>
              </a:ext>
            </a:extLst>
          </p:cNvPr>
          <p:cNvSpPr txBox="1"/>
          <p:nvPr/>
        </p:nvSpPr>
        <p:spPr>
          <a:xfrm>
            <a:off x="533400" y="5573005"/>
            <a:ext cx="4495800"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GitHub Repository</a:t>
            </a:r>
          </a:p>
        </p:txBody>
      </p:sp>
      <p:sp>
        <p:nvSpPr>
          <p:cNvPr id="8" name="TextBox 7">
            <a:extLst>
              <a:ext uri="{FF2B5EF4-FFF2-40B4-BE49-F238E27FC236}">
                <a16:creationId xmlns:a16="http://schemas.microsoft.com/office/drawing/2014/main" id="{FE69072E-24EC-2B0A-F53A-1150DE975575}"/>
              </a:ext>
            </a:extLst>
          </p:cNvPr>
          <p:cNvSpPr txBox="1"/>
          <p:nvPr/>
        </p:nvSpPr>
        <p:spPr>
          <a:xfrm>
            <a:off x="1523910" y="2682270"/>
            <a:ext cx="15163889" cy="1569660"/>
          </a:xfrm>
          <a:prstGeom prst="rect">
            <a:avLst/>
          </a:prstGeom>
          <a:noFill/>
        </p:spPr>
        <p:txBody>
          <a:bodyPr wrap="square" rtlCol="0">
            <a:spAutoFit/>
          </a:bodyPr>
          <a:lstStyle/>
          <a:p>
            <a:pPr algn="just"/>
            <a:r>
              <a:rPr lang="en-US" sz="3200" dirty="0">
                <a:latin typeface="Times New Roman" panose="02020603050405020304" pitchFamily="18" charset="0"/>
                <a:cs typeface="Times New Roman" panose="02020603050405020304" pitchFamily="18" charset="0"/>
              </a:rPr>
              <a:t>The objective of this project is to improve sentiment classification accuracy by using transformer-based models while reducing manual labeling effort through an uncertainty-aware active learning approach.</a:t>
            </a:r>
            <a:endParaRPr lang="en-IN" sz="3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3544E99-B24B-9771-0AD7-5D70CD7A306E}"/>
              </a:ext>
            </a:extLst>
          </p:cNvPr>
          <p:cNvSpPr txBox="1"/>
          <p:nvPr/>
        </p:nvSpPr>
        <p:spPr>
          <a:xfrm>
            <a:off x="723811" y="1165322"/>
            <a:ext cx="373380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Objective</a:t>
            </a:r>
          </a:p>
        </p:txBody>
      </p:sp>
    </p:spTree>
    <p:extLst>
      <p:ext uri="{BB962C8B-B14F-4D97-AF65-F5344CB8AC3E}">
        <p14:creationId xmlns:p14="http://schemas.microsoft.com/office/powerpoint/2010/main" val="3977176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39763"/>
            <a:ext cx="8229600" cy="1143000"/>
          </a:xfrm>
        </p:spPr>
        <p:txBody>
          <a:bodyPr/>
          <a:lstStyle/>
          <a:p>
            <a:r>
              <a:rPr lang="en-IN" dirty="0">
                <a:latin typeface="Times New Roman" panose="02020603050405020304" pitchFamily="18" charset="0"/>
                <a:cs typeface="Times New Roman" panose="02020603050405020304" pitchFamily="18" charset="0"/>
              </a:rPr>
              <a:t>Datasets Statistics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65691650"/>
              </p:ext>
            </p:extLst>
          </p:nvPr>
        </p:nvGraphicFramePr>
        <p:xfrm>
          <a:off x="1371600" y="2476500"/>
          <a:ext cx="6050071" cy="5339742"/>
        </p:xfrm>
        <a:graphic>
          <a:graphicData uri="http://schemas.openxmlformats.org/drawingml/2006/table">
            <a:tbl>
              <a:tblPr>
                <a:tableStyleId>{5C22544A-7EE6-4342-B048-85BDC9FD1C3A}</a:tableStyleId>
              </a:tblPr>
              <a:tblGrid>
                <a:gridCol w="3692602">
                  <a:extLst>
                    <a:ext uri="{9D8B030D-6E8A-4147-A177-3AD203B41FA5}">
                      <a16:colId xmlns:a16="http://schemas.microsoft.com/office/drawing/2014/main" val="780921220"/>
                    </a:ext>
                  </a:extLst>
                </a:gridCol>
                <a:gridCol w="2357469">
                  <a:extLst>
                    <a:ext uri="{9D8B030D-6E8A-4147-A177-3AD203B41FA5}">
                      <a16:colId xmlns:a16="http://schemas.microsoft.com/office/drawing/2014/main" val="788823863"/>
                    </a:ext>
                  </a:extLst>
                </a:gridCol>
              </a:tblGrid>
              <a:tr h="603845">
                <a:tc>
                  <a:txBody>
                    <a:bodyPr/>
                    <a:lstStyle/>
                    <a:p>
                      <a:pPr algn="ctr" fontAlgn="ctr"/>
                      <a:r>
                        <a:rPr lang="en-IN" sz="2100" b="1" u="none" strike="noStrike" dirty="0">
                          <a:effectLst/>
                          <a:latin typeface="Times New Roman" panose="02020603050405020304" pitchFamily="18" charset="0"/>
                          <a:cs typeface="Times New Roman" panose="02020603050405020304" pitchFamily="18" charset="0"/>
                        </a:rPr>
                        <a:t>Component</a:t>
                      </a:r>
                      <a:endParaRPr lang="en-IN"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1" u="none" strike="noStrike" dirty="0">
                          <a:effectLst/>
                          <a:latin typeface="Times New Roman" panose="02020603050405020304" pitchFamily="18" charset="0"/>
                          <a:cs typeface="Times New Roman" panose="02020603050405020304" pitchFamily="18" charset="0"/>
                        </a:rPr>
                        <a:t>Samples</a:t>
                      </a:r>
                      <a:endParaRPr lang="en-IN"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5517313"/>
                  </a:ext>
                </a:extLst>
              </a:tr>
              <a:tr h="603845">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Total Dataset</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50,000</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475432"/>
                  </a:ext>
                </a:extLst>
              </a:tr>
              <a:tr h="603845">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Training Set</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u="none" strike="noStrike">
                          <a:effectLst/>
                          <a:latin typeface="Times New Roman" panose="02020603050405020304" pitchFamily="18" charset="0"/>
                          <a:cs typeface="Times New Roman" panose="02020603050405020304" pitchFamily="18" charset="0"/>
                        </a:rPr>
                        <a:t>40,000</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5602928"/>
                  </a:ext>
                </a:extLst>
              </a:tr>
              <a:tr h="603845">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Test Set</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u="none" strike="noStrike">
                          <a:effectLst/>
                          <a:latin typeface="Times New Roman" panose="02020603050405020304" pitchFamily="18" charset="0"/>
                          <a:cs typeface="Times New Roman" panose="02020603050405020304" pitchFamily="18" charset="0"/>
                        </a:rPr>
                        <a:t>10,000</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9781968"/>
                  </a:ext>
                </a:extLst>
              </a:tr>
              <a:tr h="603845">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Initial Labeled</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10,000</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9766244"/>
                  </a:ext>
                </a:extLst>
              </a:tr>
              <a:tr h="603845">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Initial Unlabeled</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u="none" strike="noStrike">
                          <a:effectLst/>
                          <a:latin typeface="Times New Roman" panose="02020603050405020304" pitchFamily="18" charset="0"/>
                          <a:cs typeface="Times New Roman" panose="02020603050405020304" pitchFamily="18" charset="0"/>
                        </a:rPr>
                        <a:t>30,000</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5919303"/>
                  </a:ext>
                </a:extLst>
              </a:tr>
              <a:tr h="1112827">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Samples Added per Cycle</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200</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6879233"/>
                  </a:ext>
                </a:extLst>
              </a:tr>
              <a:tr h="603845">
                <a:tc>
                  <a:txBody>
                    <a:bodyPr/>
                    <a:lstStyle/>
                    <a:p>
                      <a:pPr algn="ctr" fontAlgn="ctr"/>
                      <a:r>
                        <a:rPr lang="en-IN" sz="2100" u="none" strike="noStrike">
                          <a:effectLst/>
                          <a:latin typeface="Times New Roman" panose="02020603050405020304" pitchFamily="18" charset="0"/>
                          <a:cs typeface="Times New Roman" panose="02020603050405020304" pitchFamily="18" charset="0"/>
                        </a:rPr>
                        <a:t>Maximum Iterations</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150</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0143332"/>
                  </a:ext>
                </a:extLst>
              </a:tr>
            </a:tbl>
          </a:graphicData>
        </a:graphic>
      </p:graphicFrame>
      <p:sp>
        <p:nvSpPr>
          <p:cNvPr id="4" name="Slide Number Placeholder 3"/>
          <p:cNvSpPr>
            <a:spLocks noGrp="1"/>
          </p:cNvSpPr>
          <p:nvPr>
            <p:ph type="sldNum" sz="quarter" idx="12"/>
          </p:nvPr>
        </p:nvSpPr>
        <p:spPr/>
        <p:txBody>
          <a:bodyPr/>
          <a:lstStyle/>
          <a:p>
            <a:fld id="{5EEB83C2-341F-4C28-A243-1C56DDDA54D3}" type="slidenum">
              <a:rPr lang="en-US" smtClean="0"/>
              <a:t>5</a:t>
            </a:fld>
            <a:endParaRPr lang="en-US"/>
          </a:p>
        </p:txBody>
      </p:sp>
      <p:graphicFrame>
        <p:nvGraphicFramePr>
          <p:cNvPr id="8" name="Content Placeholder 4"/>
          <p:cNvGraphicFramePr>
            <a:graphicFrameLocks/>
          </p:cNvGraphicFramePr>
          <p:nvPr>
            <p:extLst>
              <p:ext uri="{D42A27DB-BD31-4B8C-83A1-F6EECF244321}">
                <p14:modId xmlns:p14="http://schemas.microsoft.com/office/powerpoint/2010/main" val="1804817469"/>
              </p:ext>
            </p:extLst>
          </p:nvPr>
        </p:nvGraphicFramePr>
        <p:xfrm>
          <a:off x="9435230" y="2476499"/>
          <a:ext cx="6050071" cy="5339745"/>
        </p:xfrm>
        <a:graphic>
          <a:graphicData uri="http://schemas.openxmlformats.org/drawingml/2006/table">
            <a:tbl>
              <a:tblPr>
                <a:tableStyleId>{5C22544A-7EE6-4342-B048-85BDC9FD1C3A}</a:tableStyleId>
              </a:tblPr>
              <a:tblGrid>
                <a:gridCol w="3692602">
                  <a:extLst>
                    <a:ext uri="{9D8B030D-6E8A-4147-A177-3AD203B41FA5}">
                      <a16:colId xmlns:a16="http://schemas.microsoft.com/office/drawing/2014/main" val="780921220"/>
                    </a:ext>
                  </a:extLst>
                </a:gridCol>
                <a:gridCol w="2357469">
                  <a:extLst>
                    <a:ext uri="{9D8B030D-6E8A-4147-A177-3AD203B41FA5}">
                      <a16:colId xmlns:a16="http://schemas.microsoft.com/office/drawing/2014/main" val="788823863"/>
                    </a:ext>
                  </a:extLst>
                </a:gridCol>
              </a:tblGrid>
              <a:tr h="568140">
                <a:tc>
                  <a:txBody>
                    <a:bodyPr/>
                    <a:lstStyle/>
                    <a:p>
                      <a:pPr algn="ctr" fontAlgn="ctr"/>
                      <a:r>
                        <a:rPr lang="en-IN" sz="2100" b="1" u="none" strike="noStrike" dirty="0">
                          <a:effectLst/>
                          <a:latin typeface="Times New Roman" panose="02020603050405020304" pitchFamily="18" charset="0"/>
                          <a:cs typeface="Times New Roman" panose="02020603050405020304" pitchFamily="18" charset="0"/>
                        </a:rPr>
                        <a:t>Component</a:t>
                      </a:r>
                      <a:endParaRPr lang="en-IN"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1" u="none" strike="noStrike" dirty="0">
                          <a:effectLst/>
                          <a:latin typeface="Times New Roman" panose="02020603050405020304" pitchFamily="18" charset="0"/>
                          <a:cs typeface="Times New Roman" panose="02020603050405020304" pitchFamily="18" charset="0"/>
                        </a:rPr>
                        <a:t>Samples</a:t>
                      </a:r>
                      <a:endParaRPr lang="en-IN" sz="2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75517313"/>
                  </a:ext>
                </a:extLst>
              </a:tr>
              <a:tr h="608398">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Total Dataset</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18,944</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475432"/>
                  </a:ext>
                </a:extLst>
              </a:tr>
              <a:tr h="608398">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Training Set</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15,155</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5602928"/>
                  </a:ext>
                </a:extLst>
              </a:tr>
              <a:tr h="608398">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Test Set</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3,789</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9781968"/>
                  </a:ext>
                </a:extLst>
              </a:tr>
              <a:tr h="608398">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Initial Labeled</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1,516</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9766244"/>
                  </a:ext>
                </a:extLst>
              </a:tr>
              <a:tr h="608398">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Initial Unlabeled</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13,639</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5919303"/>
                  </a:ext>
                </a:extLst>
              </a:tr>
              <a:tr h="1121217">
                <a:tc>
                  <a:txBody>
                    <a:bodyPr/>
                    <a:lstStyle/>
                    <a:p>
                      <a:pPr algn="ctr" fontAlgn="ctr"/>
                      <a:r>
                        <a:rPr lang="en-IN" sz="2100" u="none" strike="noStrike" dirty="0">
                          <a:effectLst/>
                          <a:latin typeface="Times New Roman" panose="02020603050405020304" pitchFamily="18" charset="0"/>
                          <a:cs typeface="Times New Roman" panose="02020603050405020304" pitchFamily="18" charset="0"/>
                        </a:rPr>
                        <a:t>Samples Added per Cycle</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100</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6879233"/>
                  </a:ext>
                </a:extLst>
              </a:tr>
              <a:tr h="608398">
                <a:tc>
                  <a:txBody>
                    <a:bodyPr/>
                    <a:lstStyle/>
                    <a:p>
                      <a:pPr algn="ctr" fontAlgn="ctr"/>
                      <a:r>
                        <a:rPr lang="en-IN" sz="2100" u="none" strike="noStrike">
                          <a:effectLst/>
                          <a:latin typeface="Times New Roman" panose="02020603050405020304" pitchFamily="18" charset="0"/>
                          <a:cs typeface="Times New Roman" panose="02020603050405020304" pitchFamily="18" charset="0"/>
                        </a:rPr>
                        <a:t>Maximum Iterations</a:t>
                      </a:r>
                      <a:endParaRPr lang="en-IN" sz="2100" b="0" i="0" u="none" strike="noStrike">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136</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0143332"/>
                  </a:ext>
                </a:extLst>
              </a:tr>
            </a:tbl>
          </a:graphicData>
        </a:graphic>
      </p:graphicFrame>
      <p:sp>
        <p:nvSpPr>
          <p:cNvPr id="9" name="TextBox 8"/>
          <p:cNvSpPr txBox="1"/>
          <p:nvPr/>
        </p:nvSpPr>
        <p:spPr>
          <a:xfrm>
            <a:off x="2311052" y="8267179"/>
            <a:ext cx="5279721" cy="507831"/>
          </a:xfrm>
          <a:prstGeom prst="rect">
            <a:avLst/>
          </a:prstGeom>
          <a:noFill/>
        </p:spPr>
        <p:txBody>
          <a:bodyPr wrap="square" rtlCol="0">
            <a:spAutoFit/>
          </a:bodyPr>
          <a:lstStyle/>
          <a:p>
            <a:r>
              <a:rPr lang="en-IN" sz="2700" dirty="0">
                <a:latin typeface="Arial Narrow" panose="020B0606020202030204" pitchFamily="34" charset="0"/>
              </a:rPr>
              <a:t>Table.6. IMDB</a:t>
            </a:r>
          </a:p>
        </p:txBody>
      </p:sp>
      <p:sp>
        <p:nvSpPr>
          <p:cNvPr id="10" name="TextBox 9"/>
          <p:cNvSpPr txBox="1"/>
          <p:nvPr/>
        </p:nvSpPr>
        <p:spPr>
          <a:xfrm>
            <a:off x="10634599" y="8267178"/>
            <a:ext cx="4850702" cy="507831"/>
          </a:xfrm>
          <a:prstGeom prst="rect">
            <a:avLst/>
          </a:prstGeom>
          <a:noFill/>
        </p:spPr>
        <p:txBody>
          <a:bodyPr wrap="square" rtlCol="0">
            <a:spAutoFit/>
          </a:bodyPr>
          <a:lstStyle/>
          <a:p>
            <a:r>
              <a:rPr lang="en-IN" sz="2700" dirty="0">
                <a:latin typeface="Arial Narrow" panose="020B0606020202030204" pitchFamily="34" charset="0"/>
              </a:rPr>
              <a:t>Table.7.Twitter </a:t>
            </a:r>
            <a:r>
              <a:rPr lang="en-IN" sz="2700" dirty="0" err="1">
                <a:latin typeface="Arial Narrow" panose="020B0606020202030204" pitchFamily="34" charset="0"/>
              </a:rPr>
              <a:t>U.S.Airline</a:t>
            </a:r>
            <a:endParaRPr lang="en-IN" sz="2700" dirty="0">
              <a:latin typeface="Arial Narrow" panose="020B0606020202030204" pitchFamily="34" charset="0"/>
            </a:endParaRPr>
          </a:p>
        </p:txBody>
      </p:sp>
    </p:spTree>
    <p:extLst>
      <p:ext uri="{BB962C8B-B14F-4D97-AF65-F5344CB8AC3E}">
        <p14:creationId xmlns:p14="http://schemas.microsoft.com/office/powerpoint/2010/main" val="2668353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E4B5D1-EC10-B42A-B575-FB55F2942E3F}"/>
              </a:ext>
            </a:extLst>
          </p:cNvPr>
          <p:cNvSpPr txBox="1"/>
          <p:nvPr/>
        </p:nvSpPr>
        <p:spPr>
          <a:xfrm>
            <a:off x="932449" y="814806"/>
            <a:ext cx="17145000" cy="9140964"/>
          </a:xfrm>
          <a:prstGeom prst="rect">
            <a:avLst/>
          </a:prstGeom>
          <a:noFill/>
        </p:spPr>
        <p:txBody>
          <a:bodyPr wrap="square">
            <a:spAutoFit/>
          </a:bodyPr>
          <a:lstStyle/>
          <a:p>
            <a:pPr>
              <a:buNone/>
            </a:pPr>
            <a:r>
              <a:rPr lang="en-IN" sz="2800" b="1" dirty="0">
                <a:latin typeface="Times New Roman" panose="02020603050405020304" pitchFamily="18" charset="0"/>
                <a:cs typeface="Times New Roman" panose="02020603050405020304" pitchFamily="18" charset="0"/>
              </a:rPr>
              <a:t>Problem identification and formulation of sentiment analysis as a binary and multi-class text classification problem</a:t>
            </a:r>
            <a:r>
              <a:rPr lang="en-IN" sz="2800" dirty="0">
                <a:latin typeface="Times New Roman" panose="02020603050405020304" pitchFamily="18" charset="0"/>
                <a:cs typeface="Times New Roman" panose="02020603050405020304" pitchFamily="18" charset="0"/>
              </a:rPr>
              <a:t> (IMDB – Positive/Negative, Twitter – Positive/Neutral/Negative).</a:t>
            </a:r>
          </a:p>
          <a:p>
            <a:pPr>
              <a:buNone/>
            </a:pPr>
            <a:r>
              <a:rPr lang="en-IN" sz="2800" b="1" dirty="0">
                <a:latin typeface="Times New Roman" panose="02020603050405020304" pitchFamily="18" charset="0"/>
                <a:cs typeface="Times New Roman" panose="02020603050405020304" pitchFamily="18" charset="0"/>
              </a:rPr>
              <a:t>Literature survey on transformer-based deep learning architectures</a:t>
            </a:r>
            <a:r>
              <a:rPr lang="en-IN" sz="2800" dirty="0">
                <a:latin typeface="Times New Roman" panose="02020603050405020304" pitchFamily="18" charset="0"/>
                <a:cs typeface="Times New Roman" panose="02020603050405020304" pitchFamily="18" charset="0"/>
              </a:rPr>
              <a:t> (BERT, </a:t>
            </a:r>
            <a:r>
              <a:rPr lang="en-IN" sz="2800" dirty="0" err="1">
                <a:latin typeface="Times New Roman" panose="02020603050405020304" pitchFamily="18" charset="0"/>
                <a:cs typeface="Times New Roman" panose="02020603050405020304" pitchFamily="18" charset="0"/>
              </a:rPr>
              <a:t>RoBERTa</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DistilBERT</a:t>
            </a:r>
            <a:r>
              <a:rPr lang="en-IN" sz="2800" dirty="0">
                <a:latin typeface="Times New Roman" panose="02020603050405020304" pitchFamily="18" charset="0"/>
                <a:cs typeface="Times New Roman" panose="02020603050405020304" pitchFamily="18" charset="0"/>
              </a:rPr>
              <a:t>, ALBERT, </a:t>
            </a:r>
            <a:r>
              <a:rPr lang="en-IN" sz="2800" dirty="0" err="1">
                <a:latin typeface="Times New Roman" panose="02020603050405020304" pitchFamily="18" charset="0"/>
                <a:cs typeface="Times New Roman" panose="02020603050405020304" pitchFamily="18" charset="0"/>
              </a:rPr>
              <a:t>DeBERTa</a:t>
            </a:r>
            <a:r>
              <a:rPr lang="en-IN" sz="2800" dirty="0">
                <a:latin typeface="Times New Roman" panose="02020603050405020304" pitchFamily="18" charset="0"/>
                <a:cs typeface="Times New Roman" panose="02020603050405020304" pitchFamily="18" charset="0"/>
              </a:rPr>
              <a:t>) and </a:t>
            </a:r>
            <a:r>
              <a:rPr lang="en-IN" sz="2800" b="1" dirty="0">
                <a:latin typeface="Times New Roman" panose="02020603050405020304" pitchFamily="18" charset="0"/>
                <a:cs typeface="Times New Roman" panose="02020603050405020304" pitchFamily="18" charset="0"/>
              </a:rPr>
              <a:t>Active Learning techniques (Expected Gradient Length - EGL)</a:t>
            </a:r>
            <a:r>
              <a:rPr lang="en-IN" sz="2800" dirty="0">
                <a:latin typeface="Times New Roman" panose="02020603050405020304" pitchFamily="18" charset="0"/>
                <a:cs typeface="Times New Roman" panose="02020603050405020304" pitchFamily="18" charset="0"/>
              </a:rPr>
              <a:t> used for efficient sentiment classification.</a:t>
            </a:r>
          </a:p>
          <a:p>
            <a:pPr>
              <a:buNone/>
            </a:pPr>
            <a:r>
              <a:rPr lang="en-IN" sz="2800" b="1" dirty="0">
                <a:latin typeface="Times New Roman" panose="02020603050405020304" pitchFamily="18" charset="0"/>
                <a:cs typeface="Times New Roman" panose="02020603050405020304" pitchFamily="18" charset="0"/>
              </a:rPr>
              <a:t>Dataset selection</a:t>
            </a:r>
            <a:r>
              <a:rPr lang="en-IN" sz="2800" dirty="0">
                <a:latin typeface="Times New Roman" panose="02020603050405020304" pitchFamily="18" charset="0"/>
                <a:cs typeface="Times New Roman" panose="02020603050405020304" pitchFamily="18" charset="0"/>
              </a:rPr>
              <a:t> (IMDB Movie Review Dataset and Augmented Twitter Sentiment Dataset – public benchmark datasets) and understanding of text characteristics, class distribution, and real-world relevance in opinion mining and social media analysis.</a:t>
            </a:r>
          </a:p>
          <a:p>
            <a:r>
              <a:rPr lang="en-IN" sz="2800" b="1" dirty="0">
                <a:latin typeface="Times New Roman" panose="02020603050405020304" pitchFamily="18" charset="0"/>
                <a:cs typeface="Times New Roman" panose="02020603050405020304" pitchFamily="18" charset="0"/>
              </a:rPr>
              <a:t>Data preprocessing steps: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Text cleaning (removal of URLs, special characters, emojis)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Lowercasing and normalization</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Tokenization using transformer tokenizers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Handling class imbalance (if required)</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Dataset splitting (Train, Validation, Test – 80/10/10)</a:t>
            </a:r>
          </a:p>
          <a:p>
            <a:pPr>
              <a:buNone/>
            </a:pPr>
            <a:r>
              <a:rPr lang="en-IN" sz="2800"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Initial model selection and feasibility analysis:</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Selection of pre-trained transformer models for fine-tuning</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Comparison of lightweight (</a:t>
            </a:r>
            <a:r>
              <a:rPr lang="en-IN" sz="2800" dirty="0" err="1">
                <a:latin typeface="Times New Roman" panose="02020603050405020304" pitchFamily="18" charset="0"/>
                <a:cs typeface="Times New Roman" panose="02020603050405020304" pitchFamily="18" charset="0"/>
              </a:rPr>
              <a:t>DistilBERT</a:t>
            </a:r>
            <a:r>
              <a:rPr lang="en-IN" sz="2800" dirty="0">
                <a:latin typeface="Times New Roman" panose="02020603050405020304" pitchFamily="18" charset="0"/>
                <a:cs typeface="Times New Roman" panose="02020603050405020304" pitchFamily="18" charset="0"/>
              </a:rPr>
              <a:t>, ALBERT) vs heavyweight models (BERT, </a:t>
            </a:r>
            <a:r>
              <a:rPr lang="en-IN" sz="2800" dirty="0" err="1">
                <a:latin typeface="Times New Roman" panose="02020603050405020304" pitchFamily="18" charset="0"/>
                <a:cs typeface="Times New Roman" panose="02020603050405020304" pitchFamily="18" charset="0"/>
              </a:rPr>
              <a:t>RoBERTa</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DeBERTa</a:t>
            </a:r>
            <a:r>
              <a:rPr lang="en-IN" sz="2800" dirty="0">
                <a:latin typeface="Times New Roman" panose="02020603050405020304" pitchFamily="18" charset="0"/>
                <a:cs typeface="Times New Roman" panose="02020603050405020304" pitchFamily="18" charset="0"/>
              </a:rPr>
              <a:t>)</a:t>
            </a:r>
          </a:p>
          <a:p>
            <a:r>
              <a:rPr lang="en-IN" sz="2800" b="1" dirty="0">
                <a:latin typeface="Times New Roman" panose="02020603050405020304" pitchFamily="18" charset="0"/>
                <a:cs typeface="Times New Roman" panose="02020603050405020304" pitchFamily="18" charset="0"/>
              </a:rPr>
              <a:t>Preparation of First Review PPT including:</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Abstract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Objectives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Proposed Methodology</a:t>
            </a:r>
          </a:p>
        </p:txBody>
      </p:sp>
      <p:sp>
        <p:nvSpPr>
          <p:cNvPr id="4" name="Title 1">
            <a:extLst>
              <a:ext uri="{FF2B5EF4-FFF2-40B4-BE49-F238E27FC236}">
                <a16:creationId xmlns:a16="http://schemas.microsoft.com/office/drawing/2014/main" id="{112B4FB7-1694-2D3A-C405-F33C99137994}"/>
              </a:ext>
            </a:extLst>
          </p:cNvPr>
          <p:cNvSpPr>
            <a:spLocks noGrp="1"/>
          </p:cNvSpPr>
          <p:nvPr/>
        </p:nvSpPr>
        <p:spPr>
          <a:xfrm>
            <a:off x="457200" y="266700"/>
            <a:ext cx="8325853" cy="54810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First Review Progress</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1570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B47B5D1-C87B-5B50-DF38-A27A0CEEABAE}"/>
              </a:ext>
            </a:extLst>
          </p:cNvPr>
          <p:cNvSpPr txBox="1"/>
          <p:nvPr/>
        </p:nvSpPr>
        <p:spPr>
          <a:xfrm>
            <a:off x="1600200" y="1765515"/>
            <a:ext cx="14568180" cy="8710077"/>
          </a:xfrm>
          <a:prstGeom prst="rect">
            <a:avLst/>
          </a:prstGeom>
          <a:noFill/>
        </p:spPr>
        <p:txBody>
          <a:bodyPr wrap="square">
            <a:spAutoFit/>
          </a:bodyPr>
          <a:lstStyle/>
          <a:p>
            <a:pPr>
              <a:buNone/>
            </a:pPr>
            <a:r>
              <a:rPr lang="en-IN" sz="2700" dirty="0">
                <a:latin typeface="Times New Roman" panose="02020603050405020304" pitchFamily="18" charset="0"/>
                <a:cs typeface="Times New Roman" panose="02020603050405020304" pitchFamily="18" charset="0"/>
              </a:rPr>
              <a:t>• </a:t>
            </a:r>
            <a:r>
              <a:rPr lang="en-IN" sz="2700" b="1" dirty="0">
                <a:latin typeface="Times New Roman" panose="02020603050405020304" pitchFamily="18" charset="0"/>
                <a:cs typeface="Times New Roman" panose="02020603050405020304" pitchFamily="18" charset="0"/>
              </a:rPr>
              <a:t>Contextual feature extraction using Transformer-based language models</a:t>
            </a:r>
            <a:r>
              <a:rPr lang="en-IN" sz="2700" dirty="0">
                <a:latin typeface="Times New Roman" panose="02020603050405020304" pitchFamily="18" charset="0"/>
                <a:cs typeface="Times New Roman" panose="02020603050405020304" pitchFamily="18" charset="0"/>
              </a:rPr>
              <a:t> to capture semantic meaning and long-range dependencies in text.</a:t>
            </a:r>
          </a:p>
          <a:p>
            <a:pPr>
              <a:buNone/>
            </a:pPr>
            <a:r>
              <a:rPr lang="en-IN" sz="2700" dirty="0">
                <a:latin typeface="Times New Roman" panose="02020603050405020304" pitchFamily="18" charset="0"/>
                <a:cs typeface="Times New Roman" panose="02020603050405020304" pitchFamily="18" charset="0"/>
              </a:rPr>
              <a:t>• </a:t>
            </a:r>
            <a:r>
              <a:rPr lang="en-IN" sz="2700" b="1" dirty="0">
                <a:latin typeface="Times New Roman" panose="02020603050405020304" pitchFamily="18" charset="0"/>
                <a:cs typeface="Times New Roman" panose="02020603050405020304" pitchFamily="18" charset="0"/>
              </a:rPr>
              <a:t>Implementation of multiple Transformer models:</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BERT</a:t>
            </a:r>
            <a:br>
              <a:rPr lang="en-IN" sz="2700" dirty="0">
                <a:latin typeface="Times New Roman" panose="02020603050405020304" pitchFamily="18" charset="0"/>
                <a:cs typeface="Times New Roman" panose="02020603050405020304" pitchFamily="18" charset="0"/>
              </a:rPr>
            </a:br>
            <a:r>
              <a:rPr lang="en-IN" sz="2700" dirty="0" err="1">
                <a:latin typeface="Times New Roman" panose="02020603050405020304" pitchFamily="18" charset="0"/>
                <a:cs typeface="Times New Roman" panose="02020603050405020304" pitchFamily="18" charset="0"/>
              </a:rPr>
              <a:t>RoBERTa</a:t>
            </a:r>
            <a:br>
              <a:rPr lang="en-IN" sz="2700" dirty="0">
                <a:latin typeface="Times New Roman" panose="02020603050405020304" pitchFamily="18" charset="0"/>
                <a:cs typeface="Times New Roman" panose="02020603050405020304" pitchFamily="18" charset="0"/>
              </a:rPr>
            </a:br>
            <a:r>
              <a:rPr lang="en-IN" sz="2700" dirty="0" err="1">
                <a:latin typeface="Times New Roman" panose="02020603050405020304" pitchFamily="18" charset="0"/>
                <a:cs typeface="Times New Roman" panose="02020603050405020304" pitchFamily="18" charset="0"/>
              </a:rPr>
              <a:t>DistilBERT</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ALBERT</a:t>
            </a:r>
            <a:br>
              <a:rPr lang="en-IN" sz="2700" dirty="0">
                <a:latin typeface="Times New Roman" panose="02020603050405020304" pitchFamily="18" charset="0"/>
                <a:cs typeface="Times New Roman" panose="02020603050405020304" pitchFamily="18" charset="0"/>
              </a:rPr>
            </a:br>
            <a:r>
              <a:rPr lang="en-IN" sz="2700" dirty="0" err="1">
                <a:latin typeface="Times New Roman" panose="02020603050405020304" pitchFamily="18" charset="0"/>
                <a:cs typeface="Times New Roman" panose="02020603050405020304" pitchFamily="18" charset="0"/>
              </a:rPr>
              <a:t>DeBERTa</a:t>
            </a:r>
            <a:endParaRPr lang="en-IN" sz="2700" dirty="0">
              <a:latin typeface="Times New Roman" panose="02020603050405020304" pitchFamily="18" charset="0"/>
              <a:cs typeface="Times New Roman" panose="02020603050405020304" pitchFamily="18" charset="0"/>
            </a:endParaRPr>
          </a:p>
          <a:p>
            <a:pPr>
              <a:buNone/>
            </a:pPr>
            <a:r>
              <a:rPr lang="en-IN" sz="2700" dirty="0">
                <a:latin typeface="Times New Roman" panose="02020603050405020304" pitchFamily="18" charset="0"/>
                <a:cs typeface="Times New Roman" panose="02020603050405020304" pitchFamily="18" charset="0"/>
              </a:rPr>
              <a:t>• </a:t>
            </a:r>
            <a:r>
              <a:rPr lang="en-IN" sz="2700" b="1" dirty="0">
                <a:latin typeface="Times New Roman" panose="02020603050405020304" pitchFamily="18" charset="0"/>
                <a:cs typeface="Times New Roman" panose="02020603050405020304" pitchFamily="18" charset="0"/>
              </a:rPr>
              <a:t>Development of Active Learning Framework:</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Expected Gradient Length (EGL) based sampling</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Uncertainty-based sample selection</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Iterative retraining with informative samples</a:t>
            </a:r>
          </a:p>
          <a:p>
            <a:pPr>
              <a:buNone/>
            </a:pPr>
            <a:r>
              <a:rPr lang="en-IN" sz="2700" dirty="0">
                <a:latin typeface="Times New Roman" panose="02020603050405020304" pitchFamily="18" charset="0"/>
                <a:cs typeface="Times New Roman" panose="02020603050405020304" pitchFamily="18" charset="0"/>
              </a:rPr>
              <a:t>• </a:t>
            </a:r>
            <a:r>
              <a:rPr lang="en-IN" sz="2700" b="1" dirty="0">
                <a:latin typeface="Times New Roman" panose="02020603050405020304" pitchFamily="18" charset="0"/>
                <a:cs typeface="Times New Roman" panose="02020603050405020304" pitchFamily="18" charset="0"/>
              </a:rPr>
              <a:t>Model training and performance comparison</a:t>
            </a:r>
            <a:r>
              <a:rPr lang="en-IN" sz="2700" dirty="0">
                <a:latin typeface="Times New Roman" panose="02020603050405020304" pitchFamily="18" charset="0"/>
                <a:cs typeface="Times New Roman" panose="02020603050405020304" pitchFamily="18" charset="0"/>
              </a:rPr>
              <a:t> across binary (IMDB) and multi-class (Twitter) sentiment datasets.</a:t>
            </a:r>
          </a:p>
          <a:p>
            <a:pPr>
              <a:buNone/>
            </a:pPr>
            <a:r>
              <a:rPr lang="en-IN" sz="2700" dirty="0">
                <a:latin typeface="Times New Roman" panose="02020603050405020304" pitchFamily="18" charset="0"/>
                <a:cs typeface="Times New Roman" panose="02020603050405020304" pitchFamily="18" charset="0"/>
              </a:rPr>
              <a:t>• </a:t>
            </a:r>
            <a:r>
              <a:rPr lang="en-IN" sz="2700" b="1" dirty="0">
                <a:latin typeface="Times New Roman" panose="02020603050405020304" pitchFamily="18" charset="0"/>
                <a:cs typeface="Times New Roman" panose="02020603050405020304" pitchFamily="18" charset="0"/>
              </a:rPr>
              <a:t>Hyperparameter tuning:</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Learning rate optimization</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Batch size tuning</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Dropout regularization</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Number of training epochs selection</a:t>
            </a:r>
            <a:br>
              <a:rPr lang="en-IN" sz="2700" dirty="0">
                <a:latin typeface="Times New Roman" panose="02020603050405020304" pitchFamily="18" charset="0"/>
                <a:cs typeface="Times New Roman" panose="02020603050405020304" pitchFamily="18" charset="0"/>
              </a:rPr>
            </a:br>
            <a:r>
              <a:rPr lang="en-IN" sz="2700" dirty="0">
                <a:latin typeface="Times New Roman" panose="02020603050405020304" pitchFamily="18" charset="0"/>
                <a:cs typeface="Times New Roman" panose="02020603050405020304" pitchFamily="18" charset="0"/>
              </a:rPr>
              <a:t>Maximum sequence length adjustment</a:t>
            </a:r>
          </a:p>
        </p:txBody>
      </p:sp>
      <p:grpSp>
        <p:nvGrpSpPr>
          <p:cNvPr id="5" name="Group 10">
            <a:extLst>
              <a:ext uri="{FF2B5EF4-FFF2-40B4-BE49-F238E27FC236}">
                <a16:creationId xmlns:a16="http://schemas.microsoft.com/office/drawing/2014/main" id="{D6F415F4-F9B2-B09F-F2F8-A40A73050091}"/>
              </a:ext>
            </a:extLst>
          </p:cNvPr>
          <p:cNvGrpSpPr/>
          <p:nvPr/>
        </p:nvGrpSpPr>
        <p:grpSpPr>
          <a:xfrm>
            <a:off x="-1600200" y="405946"/>
            <a:ext cx="20622241" cy="1178743"/>
            <a:chOff x="0" y="0"/>
            <a:chExt cx="812800" cy="310451"/>
          </a:xfrm>
        </p:grpSpPr>
        <p:sp>
          <p:nvSpPr>
            <p:cNvPr id="6" name="Freeform 11">
              <a:extLst>
                <a:ext uri="{FF2B5EF4-FFF2-40B4-BE49-F238E27FC236}">
                  <a16:creationId xmlns:a16="http://schemas.microsoft.com/office/drawing/2014/main" id="{BB3DC42B-54FE-9115-3183-9C7B697BA6DF}"/>
                </a:ext>
              </a:extLst>
            </p:cNvPr>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7" name="TextBox 12">
              <a:extLst>
                <a:ext uri="{FF2B5EF4-FFF2-40B4-BE49-F238E27FC236}">
                  <a16:creationId xmlns:a16="http://schemas.microsoft.com/office/drawing/2014/main" id="{B466DE6E-C6F4-EC43-65D6-A3305020DE93}"/>
                </a:ext>
              </a:extLst>
            </p:cNvPr>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sp>
        <p:nvSpPr>
          <p:cNvPr id="8" name="Title 1">
            <a:extLst>
              <a:ext uri="{FF2B5EF4-FFF2-40B4-BE49-F238E27FC236}">
                <a16:creationId xmlns:a16="http://schemas.microsoft.com/office/drawing/2014/main" id="{60E86437-B82F-3F90-4DFA-1EFCD004C3E9}"/>
              </a:ext>
            </a:extLst>
          </p:cNvPr>
          <p:cNvSpPr txBox="1">
            <a:spLocks/>
          </p:cNvSpPr>
          <p:nvPr/>
        </p:nvSpPr>
        <p:spPr>
          <a:xfrm>
            <a:off x="457200" y="735460"/>
            <a:ext cx="5344160" cy="960085"/>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latin typeface="Times New Roman" panose="02020603050405020304" pitchFamily="18" charset="0"/>
                <a:cs typeface="Times New Roman" panose="02020603050405020304" pitchFamily="18" charset="0"/>
              </a:rPr>
              <a:t>Second Review Progress</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97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515E7-A6E3-45C3-009F-0025AEC02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0B9C5-8501-8B2A-4924-2ACA16ADDD7B}"/>
              </a:ext>
            </a:extLst>
          </p:cNvPr>
          <p:cNvSpPr>
            <a:spLocks noGrp="1"/>
          </p:cNvSpPr>
          <p:nvPr>
            <p:ph type="title"/>
          </p:nvPr>
        </p:nvSpPr>
        <p:spPr>
          <a:xfrm>
            <a:off x="-609600" y="266700"/>
            <a:ext cx="8229600" cy="1143000"/>
          </a:xfrm>
        </p:spPr>
        <p:txBody>
          <a:bodyPr/>
          <a:lstStyle/>
          <a:p>
            <a:r>
              <a:rPr lang="en-US" dirty="0">
                <a:latin typeface="Times New Roman" panose="02020603050405020304" pitchFamily="18" charset="0"/>
                <a:ea typeface="Batang"/>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CC2AD532-ED24-E86B-E492-33B3403079FF}"/>
              </a:ext>
            </a:extLst>
          </p:cNvPr>
          <p:cNvGraphicFramePr>
            <a:graphicFrameLocks noGrp="1"/>
          </p:cNvGraphicFramePr>
          <p:nvPr>
            <p:ph idx="1"/>
            <p:extLst>
              <p:ext uri="{D42A27DB-BD31-4B8C-83A1-F6EECF244321}">
                <p14:modId xmlns:p14="http://schemas.microsoft.com/office/powerpoint/2010/main" val="957293500"/>
              </p:ext>
            </p:extLst>
          </p:nvPr>
        </p:nvGraphicFramePr>
        <p:xfrm>
          <a:off x="762001" y="1790700"/>
          <a:ext cx="16685421" cy="7758493"/>
        </p:xfrm>
        <a:graphic>
          <a:graphicData uri="http://schemas.openxmlformats.org/drawingml/2006/table">
            <a:tbl>
              <a:tblPr/>
              <a:tblGrid>
                <a:gridCol w="692235">
                  <a:extLst>
                    <a:ext uri="{9D8B030D-6E8A-4147-A177-3AD203B41FA5}">
                      <a16:colId xmlns:a16="http://schemas.microsoft.com/office/drawing/2014/main" val="1505208381"/>
                    </a:ext>
                  </a:extLst>
                </a:gridCol>
                <a:gridCol w="3832393">
                  <a:extLst>
                    <a:ext uri="{9D8B030D-6E8A-4147-A177-3AD203B41FA5}">
                      <a16:colId xmlns:a16="http://schemas.microsoft.com/office/drawing/2014/main" val="796883450"/>
                    </a:ext>
                  </a:extLst>
                </a:gridCol>
                <a:gridCol w="1499649">
                  <a:extLst>
                    <a:ext uri="{9D8B030D-6E8A-4147-A177-3AD203B41FA5}">
                      <a16:colId xmlns:a16="http://schemas.microsoft.com/office/drawing/2014/main" val="1707320686"/>
                    </a:ext>
                  </a:extLst>
                </a:gridCol>
                <a:gridCol w="3626797">
                  <a:extLst>
                    <a:ext uri="{9D8B030D-6E8A-4147-A177-3AD203B41FA5}">
                      <a16:colId xmlns:a16="http://schemas.microsoft.com/office/drawing/2014/main" val="3740659429"/>
                    </a:ext>
                  </a:extLst>
                </a:gridCol>
                <a:gridCol w="1459959">
                  <a:extLst>
                    <a:ext uri="{9D8B030D-6E8A-4147-A177-3AD203B41FA5}">
                      <a16:colId xmlns:a16="http://schemas.microsoft.com/office/drawing/2014/main" val="575301300"/>
                    </a:ext>
                  </a:extLst>
                </a:gridCol>
                <a:gridCol w="1465570">
                  <a:extLst>
                    <a:ext uri="{9D8B030D-6E8A-4147-A177-3AD203B41FA5}">
                      <a16:colId xmlns:a16="http://schemas.microsoft.com/office/drawing/2014/main" val="794801115"/>
                    </a:ext>
                  </a:extLst>
                </a:gridCol>
                <a:gridCol w="1609597">
                  <a:extLst>
                    <a:ext uri="{9D8B030D-6E8A-4147-A177-3AD203B41FA5}">
                      <a16:colId xmlns:a16="http://schemas.microsoft.com/office/drawing/2014/main" val="1923856810"/>
                    </a:ext>
                  </a:extLst>
                </a:gridCol>
                <a:gridCol w="2499221">
                  <a:extLst>
                    <a:ext uri="{9D8B030D-6E8A-4147-A177-3AD203B41FA5}">
                      <a16:colId xmlns:a16="http://schemas.microsoft.com/office/drawing/2014/main" val="151280658"/>
                    </a:ext>
                  </a:extLst>
                </a:gridCol>
              </a:tblGrid>
              <a:tr h="996565">
                <a:tc>
                  <a:txBody>
                    <a:bodyPr/>
                    <a:lstStyle/>
                    <a:p>
                      <a:pPr algn="ctr" fontAlgn="b"/>
                      <a:r>
                        <a:rPr lang="en-IN" sz="2100" b="1" i="0" u="none" strike="noStrike" dirty="0">
                          <a:solidFill>
                            <a:srgbClr val="000000"/>
                          </a:solidFill>
                          <a:effectLst/>
                          <a:latin typeface="Times New Roman" panose="02020603050405020304" pitchFamily="18" charset="0"/>
                          <a:cs typeface="Times New Roman" panose="02020603050405020304" pitchFamily="18" charset="0"/>
                        </a:rPr>
                        <a:t>S.No</a:t>
                      </a:r>
                    </a:p>
                  </a:txBody>
                  <a:tcPr marL="12296" marR="12296" marT="12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2100" b="1" i="0" u="none" strike="noStrike" dirty="0">
                          <a:solidFill>
                            <a:srgbClr val="000000"/>
                          </a:solidFill>
                          <a:effectLst/>
                          <a:latin typeface="Times New Roman" panose="02020603050405020304" pitchFamily="18" charset="0"/>
                          <a:cs typeface="Times New Roman" panose="02020603050405020304" pitchFamily="18" charset="0"/>
                        </a:rPr>
                        <a:t>Paper Title</a:t>
                      </a:r>
                    </a:p>
                  </a:txBody>
                  <a:tcPr marL="12296" marR="12296" marT="12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2100" b="1" i="0" u="none" strike="noStrike" dirty="0">
                          <a:solidFill>
                            <a:srgbClr val="000000"/>
                          </a:solidFill>
                          <a:effectLst/>
                          <a:latin typeface="Times New Roman" panose="02020603050405020304" pitchFamily="18" charset="0"/>
                          <a:cs typeface="Times New Roman" panose="02020603050405020304" pitchFamily="18" charset="0"/>
                        </a:rPr>
                        <a:t>Year, Publisher</a:t>
                      </a:r>
                    </a:p>
                  </a:txBody>
                  <a:tcPr marL="12296" marR="12296" marT="12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2100" b="1" i="0" u="none" strike="noStrike" dirty="0">
                          <a:solidFill>
                            <a:srgbClr val="000000"/>
                          </a:solidFill>
                          <a:effectLst/>
                          <a:latin typeface="Times New Roman" panose="02020603050405020304" pitchFamily="18" charset="0"/>
                          <a:cs typeface="Times New Roman" panose="02020603050405020304" pitchFamily="18" charset="0"/>
                        </a:rPr>
                        <a:t>Highlight</a:t>
                      </a:r>
                    </a:p>
                  </a:txBody>
                  <a:tcPr marL="12296" marR="12296" marT="12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1" i="0" u="none" strike="noStrike" dirty="0">
                          <a:solidFill>
                            <a:srgbClr val="000000"/>
                          </a:solidFill>
                          <a:effectLst/>
                          <a:latin typeface="Times New Roman" panose="02020603050405020304" pitchFamily="18" charset="0"/>
                          <a:cs typeface="Times New Roman" panose="02020603050405020304" pitchFamily="18" charset="0"/>
                        </a:rPr>
                        <a:t>Methods Used</a:t>
                      </a:r>
                    </a:p>
                  </a:txBody>
                  <a:tcPr marL="12296" marR="12296" marT="12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2100" b="1" i="0" u="none" strike="noStrike" dirty="0">
                          <a:solidFill>
                            <a:srgbClr val="000000"/>
                          </a:solidFill>
                          <a:effectLst/>
                          <a:latin typeface="Times New Roman" panose="02020603050405020304" pitchFamily="18" charset="0"/>
                          <a:cs typeface="Times New Roman" panose="02020603050405020304" pitchFamily="18" charset="0"/>
                        </a:rPr>
                        <a:t>Dataset</a:t>
                      </a:r>
                    </a:p>
                  </a:txBody>
                  <a:tcPr marL="12296" marR="12296" marT="12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1" i="0" u="none" strike="noStrike" dirty="0">
                          <a:solidFill>
                            <a:srgbClr val="000000"/>
                          </a:solidFill>
                          <a:effectLst/>
                          <a:latin typeface="Times New Roman" panose="02020603050405020304" pitchFamily="18" charset="0"/>
                          <a:cs typeface="Times New Roman" panose="02020603050405020304" pitchFamily="18" charset="0"/>
                        </a:rPr>
                        <a:t>Accuracy</a:t>
                      </a:r>
                    </a:p>
                  </a:txBody>
                  <a:tcPr marL="12296" marR="12296" marT="12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IN" sz="2100" b="1" i="0" u="none" strike="noStrike" dirty="0">
                          <a:solidFill>
                            <a:srgbClr val="000000"/>
                          </a:solidFill>
                          <a:effectLst/>
                          <a:latin typeface="Times New Roman" panose="02020603050405020304" pitchFamily="18" charset="0"/>
                          <a:cs typeface="Times New Roman" panose="02020603050405020304" pitchFamily="18" charset="0"/>
                        </a:rPr>
                        <a:t>Limitations</a:t>
                      </a:r>
                    </a:p>
                  </a:txBody>
                  <a:tcPr marL="12296" marR="12296" marT="122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6541457"/>
                  </a:ext>
                </a:extLst>
              </a:tr>
              <a:tr h="2013868">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Active Learning Based on Transfer Learning Techniques for Text Classification</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2023, IEEE Access</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Combines active learning with transfer learning to reduce labeled data</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Uncertainty Sampling, Random Forest</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IMDB, Spam, Amazon Reviews</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85% </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Requires similar source and target datasets</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1007007"/>
                  </a:ext>
                </a:extLst>
              </a:tr>
              <a:tr h="1898221">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Active Learning Empowered Sentiment Analysis for Smartphone Customer Reviews</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2024, IEEE Transactions on Consumer Electronics</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Uses active learning to improve classification of Flipkart smartphone reviews</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TF-IDF + ML classifiers</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Flipkart Reviews</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89%</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r>
                        <a:rPr lang="en-IN" sz="2100" dirty="0">
                          <a:latin typeface="Times New Roman" panose="02020603050405020304" pitchFamily="18" charset="0"/>
                          <a:cs typeface="Times New Roman" panose="02020603050405020304" pitchFamily="18" charset="0"/>
                        </a:rPr>
                        <a:t>Dataset imbalance</a:t>
                      </a:r>
                    </a:p>
                  </a:txBody>
                  <a:tcPr marL="137160" marR="137160" marT="68580" marB="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9569578"/>
                  </a:ext>
                </a:extLst>
              </a:tr>
              <a:tr h="2849839">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r>
                        <a:rPr lang="en-US" sz="2100" dirty="0">
                          <a:latin typeface="Times New Roman" panose="02020603050405020304" pitchFamily="18" charset="0"/>
                          <a:cs typeface="Times New Roman" panose="02020603050405020304" pitchFamily="18" charset="0"/>
                        </a:rPr>
                        <a:t>Sentiment Analysis Framework using Deep Active Learning for Smartphone Aspect-Based Rating Prediction</a:t>
                      </a:r>
                    </a:p>
                  </a:txBody>
                  <a:tcPr marL="137160" marR="137160" marT="68580" marB="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100" b="0" i="0" u="none" strike="noStrike" dirty="0">
                          <a:solidFill>
                            <a:srgbClr val="000000"/>
                          </a:solidFill>
                          <a:effectLst/>
                          <a:latin typeface="Times New Roman" panose="02020603050405020304" pitchFamily="18" charset="0"/>
                          <a:cs typeface="Times New Roman" panose="02020603050405020304" pitchFamily="18" charset="0"/>
                        </a:rPr>
                        <a:t>2023, Foundations of Computing and Decision Sciences</a:t>
                      </a:r>
                      <a:endParaRPr lang="en-IN" sz="2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r>
                        <a:rPr lang="en-US" sz="2100" dirty="0">
                          <a:latin typeface="Times New Roman" panose="02020603050405020304" pitchFamily="18" charset="0"/>
                          <a:cs typeface="Times New Roman" panose="02020603050405020304" pitchFamily="18" charset="0"/>
                        </a:rPr>
                        <a:t>Uses deep active learning with LSTM for smartphone aspect rating prediction</a:t>
                      </a:r>
                      <a:endParaRPr lang="en-IN" sz="2100" dirty="0">
                        <a:latin typeface="Times New Roman" panose="02020603050405020304" pitchFamily="18" charset="0"/>
                        <a:cs typeface="Times New Roman" panose="02020603050405020304" pitchFamily="18" charset="0"/>
                      </a:endParaRPr>
                    </a:p>
                  </a:txBody>
                  <a:tcPr marL="137160" marR="137160" marT="68580" marB="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LSTM + Active Sampling</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Amazon &amp; Twitter Reviews</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82.8%</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IN" sz="2100" b="0" i="0" u="none" strike="noStrike" dirty="0">
                          <a:solidFill>
                            <a:srgbClr val="000000"/>
                          </a:solidFill>
                          <a:effectLst/>
                          <a:latin typeface="Times New Roman" panose="02020603050405020304" pitchFamily="18" charset="0"/>
                          <a:cs typeface="Times New Roman" panose="02020603050405020304" pitchFamily="18" charset="0"/>
                        </a:rPr>
                        <a:t>High computational cost</a:t>
                      </a:r>
                    </a:p>
                  </a:txBody>
                  <a:tcPr marL="14288" marR="14288" marT="142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9822680"/>
                  </a:ext>
                </a:extLst>
              </a:tr>
            </a:tbl>
          </a:graphicData>
        </a:graphic>
      </p:graphicFrame>
      <p:sp>
        <p:nvSpPr>
          <p:cNvPr id="5" name="Slide Number Placeholder 4">
            <a:extLst>
              <a:ext uri="{FF2B5EF4-FFF2-40B4-BE49-F238E27FC236}">
                <a16:creationId xmlns:a16="http://schemas.microsoft.com/office/drawing/2014/main" id="{D32C1159-BCD0-F1EE-374B-71C92D8773CD}"/>
              </a:ext>
            </a:extLst>
          </p:cNvPr>
          <p:cNvSpPr>
            <a:spLocks noGrp="1"/>
          </p:cNvSpPr>
          <p:nvPr>
            <p:ph type="sldNum" sz="quarter" idx="12"/>
          </p:nvPr>
        </p:nvSpPr>
        <p:spPr/>
        <p:txBody>
          <a:bodyPr/>
          <a:lstStyle/>
          <a:p>
            <a:fld id="{5EEB83C2-341F-4C28-A243-1C56DDDA54D3}" type="slidenum">
              <a:rPr lang="en-US" smtClean="0"/>
              <a:t>8</a:t>
            </a:fld>
            <a:endParaRPr lang="en-US"/>
          </a:p>
        </p:txBody>
      </p:sp>
    </p:spTree>
    <p:extLst>
      <p:ext uri="{BB962C8B-B14F-4D97-AF65-F5344CB8AC3E}">
        <p14:creationId xmlns:p14="http://schemas.microsoft.com/office/powerpoint/2010/main" val="595619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7238614-AD46-59CE-F3D1-6D54CA580A2C}"/>
              </a:ext>
            </a:extLst>
          </p:cNvPr>
          <p:cNvSpPr txBox="1"/>
          <p:nvPr/>
        </p:nvSpPr>
        <p:spPr>
          <a:xfrm>
            <a:off x="1421065" y="1743554"/>
            <a:ext cx="14330825" cy="8279190"/>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proposed </a:t>
            </a:r>
            <a:r>
              <a:rPr lang="en-US" sz="2800" b="1" dirty="0">
                <a:latin typeface="Times New Roman" panose="02020603050405020304" pitchFamily="18" charset="0"/>
                <a:cs typeface="Times New Roman" panose="02020603050405020304" pitchFamily="18" charset="0"/>
              </a:rPr>
              <a:t>Uncertainty-Aware Active Learning Framework using Transformer Models</a:t>
            </a:r>
            <a:r>
              <a:rPr lang="en-US" sz="2800" dirty="0">
                <a:latin typeface="Times New Roman" panose="02020603050405020304" pitchFamily="18" charset="0"/>
                <a:cs typeface="Times New Roman" panose="02020603050405020304" pitchFamily="18" charset="0"/>
              </a:rPr>
              <a:t> was evaluated using multiple quantitative performance metrics to ensure high classification accuracy and robustness. The datasets consisted of:</a:t>
            </a:r>
          </a:p>
          <a:p>
            <a:pPr algn="just"/>
            <a:r>
              <a:rPr lang="en-US" sz="2800" b="1" dirty="0">
                <a:latin typeface="Times New Roman" panose="02020603050405020304" pitchFamily="18" charset="0"/>
                <a:cs typeface="Times New Roman" panose="02020603050405020304" pitchFamily="18" charset="0"/>
              </a:rPr>
              <a:t>Binary classification (IMDB):</a:t>
            </a:r>
            <a:r>
              <a:rPr lang="en-US" sz="2800" dirty="0">
                <a:latin typeface="Times New Roman" panose="02020603050405020304" pitchFamily="18" charset="0"/>
                <a:cs typeface="Times New Roman" panose="02020603050405020304" pitchFamily="18" charset="0"/>
              </a:rPr>
              <a:t> Positive, Negative</a:t>
            </a:r>
          </a:p>
          <a:p>
            <a:pPr algn="just"/>
            <a:r>
              <a:rPr lang="en-US" sz="2800" b="1" dirty="0">
                <a:latin typeface="Times New Roman" panose="02020603050405020304" pitchFamily="18" charset="0"/>
                <a:cs typeface="Times New Roman" panose="02020603050405020304" pitchFamily="18" charset="0"/>
              </a:rPr>
              <a:t>Multi-class classification (Twitter):</a:t>
            </a:r>
            <a:r>
              <a:rPr lang="en-US" sz="2800" dirty="0">
                <a:latin typeface="Times New Roman" panose="02020603050405020304" pitchFamily="18" charset="0"/>
                <a:cs typeface="Times New Roman" panose="02020603050405020304" pitchFamily="18" charset="0"/>
              </a:rPr>
              <a:t> Positive, Neutral, Negative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evaluation metrics included:</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Accuracy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Precision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Recall</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F1-Score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Confusion Matrix</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ROC-AUC</a:t>
            </a:r>
          </a:p>
          <a:p>
            <a:pPr algn="just"/>
            <a:r>
              <a:rPr lang="en-US" sz="2800" dirty="0">
                <a:latin typeface="Times New Roman" panose="02020603050405020304" pitchFamily="18" charset="0"/>
                <a:cs typeface="Times New Roman" panose="02020603050405020304" pitchFamily="18" charset="0"/>
              </a:rPr>
              <a:t>Among all models, </a:t>
            </a:r>
            <a:r>
              <a:rPr lang="en-US" sz="2800" b="1" dirty="0" err="1">
                <a:latin typeface="Times New Roman" panose="02020603050405020304" pitchFamily="18" charset="0"/>
                <a:cs typeface="Times New Roman" panose="02020603050405020304" pitchFamily="18" charset="0"/>
              </a:rPr>
              <a:t>DeBERTa</a:t>
            </a:r>
            <a:r>
              <a:rPr lang="en-US" sz="2800" b="1" dirty="0">
                <a:latin typeface="Times New Roman" panose="02020603050405020304" pitchFamily="18" charset="0"/>
                <a:cs typeface="Times New Roman" panose="02020603050405020304" pitchFamily="18" charset="0"/>
              </a:rPr>
              <a:t> with EGL-based Active Learning achieved an overall accuracy of approximately 94% on the IMDB dataset</a:t>
            </a:r>
            <a:r>
              <a:rPr lang="en-US" sz="2800" dirty="0">
                <a:latin typeface="Times New Roman" panose="02020603050405020304" pitchFamily="18" charset="0"/>
                <a:cs typeface="Times New Roman" panose="02020603050405020304" pitchFamily="18" charset="0"/>
              </a:rPr>
              <a:t>, outperforming other transformer models such as BERT, </a:t>
            </a:r>
            <a:r>
              <a:rPr lang="en-US" sz="2800" dirty="0" err="1">
                <a:latin typeface="Times New Roman" panose="02020603050405020304" pitchFamily="18" charset="0"/>
                <a:cs typeface="Times New Roman" panose="02020603050405020304" pitchFamily="18" charset="0"/>
              </a:rPr>
              <a:t>RoBERTa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DistilBERT</a:t>
            </a:r>
            <a:r>
              <a:rPr lang="en-US" sz="2800" dirty="0">
                <a:latin typeface="Times New Roman" panose="02020603050405020304" pitchFamily="18" charset="0"/>
                <a:cs typeface="Times New Roman" panose="02020603050405020304" pitchFamily="18" charset="0"/>
              </a:rPr>
              <a:t>, and ALBERT.</a:t>
            </a:r>
          </a:p>
          <a:p>
            <a:pPr algn="just"/>
            <a:r>
              <a:rPr lang="en-US" sz="2800" dirty="0">
                <a:latin typeface="Times New Roman" panose="02020603050405020304" pitchFamily="18" charset="0"/>
                <a:cs typeface="Times New Roman" panose="02020603050405020304" pitchFamily="18" charset="0"/>
              </a:rPr>
              <a:t>The integration of </a:t>
            </a:r>
            <a:r>
              <a:rPr lang="en-US" sz="2800" b="1" dirty="0">
                <a:latin typeface="Times New Roman" panose="02020603050405020304" pitchFamily="18" charset="0"/>
                <a:cs typeface="Times New Roman" panose="02020603050405020304" pitchFamily="18" charset="0"/>
              </a:rPr>
              <a:t>Expected Gradient Length (EGL)</a:t>
            </a:r>
            <a:r>
              <a:rPr lang="en-US" sz="2800" dirty="0">
                <a:latin typeface="Times New Roman" panose="02020603050405020304" pitchFamily="18" charset="0"/>
                <a:cs typeface="Times New Roman" panose="02020603050405020304" pitchFamily="18" charset="0"/>
              </a:rPr>
              <a:t> reduced labeling effort and improved model generalization by selecting the most informative training samples. This resulted in better contextual understanding, improved class separation, and balanced performance across sentiment classes.</a:t>
            </a:r>
          </a:p>
          <a:p>
            <a:endParaRPr lang="en-US" sz="2800" dirty="0">
              <a:latin typeface="Times New Roman" panose="02020603050405020304" pitchFamily="18" charset="0"/>
              <a:cs typeface="Times New Roman" panose="02020603050405020304" pitchFamily="18" charset="0"/>
            </a:endParaRPr>
          </a:p>
        </p:txBody>
      </p:sp>
      <p:grpSp>
        <p:nvGrpSpPr>
          <p:cNvPr id="7" name="Group 10">
            <a:extLst>
              <a:ext uri="{FF2B5EF4-FFF2-40B4-BE49-F238E27FC236}">
                <a16:creationId xmlns:a16="http://schemas.microsoft.com/office/drawing/2014/main" id="{45E7C20E-3BC8-DCAF-E652-E3CBC988D261}"/>
              </a:ext>
            </a:extLst>
          </p:cNvPr>
          <p:cNvGrpSpPr/>
          <p:nvPr/>
        </p:nvGrpSpPr>
        <p:grpSpPr>
          <a:xfrm>
            <a:off x="-1724644" y="272424"/>
            <a:ext cx="20622241" cy="1178743"/>
            <a:chOff x="0" y="0"/>
            <a:chExt cx="812800" cy="310451"/>
          </a:xfrm>
        </p:grpSpPr>
        <p:sp>
          <p:nvSpPr>
            <p:cNvPr id="8" name="Freeform 11">
              <a:extLst>
                <a:ext uri="{FF2B5EF4-FFF2-40B4-BE49-F238E27FC236}">
                  <a16:creationId xmlns:a16="http://schemas.microsoft.com/office/drawing/2014/main" id="{BC4E78CD-72D7-9B93-3C73-CE6F036EE392}"/>
                </a:ext>
              </a:extLst>
            </p:cNvPr>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9" name="TextBox 12">
              <a:extLst>
                <a:ext uri="{FF2B5EF4-FFF2-40B4-BE49-F238E27FC236}">
                  <a16:creationId xmlns:a16="http://schemas.microsoft.com/office/drawing/2014/main" id="{D32D33BF-9E49-C73A-98B0-75817CEA220F}"/>
                </a:ext>
              </a:extLst>
            </p:cNvPr>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sp>
        <p:nvSpPr>
          <p:cNvPr id="10" name="TextBox 9">
            <a:extLst>
              <a:ext uri="{FF2B5EF4-FFF2-40B4-BE49-F238E27FC236}">
                <a16:creationId xmlns:a16="http://schemas.microsoft.com/office/drawing/2014/main" id="{C028BB04-A095-D883-14DD-2C16037AA99E}"/>
              </a:ext>
            </a:extLst>
          </p:cNvPr>
          <p:cNvSpPr txBox="1"/>
          <p:nvPr/>
        </p:nvSpPr>
        <p:spPr>
          <a:xfrm>
            <a:off x="304800" y="569407"/>
            <a:ext cx="10553700" cy="584775"/>
          </a:xfrm>
          <a:prstGeom prst="rect">
            <a:avLst/>
          </a:prstGeom>
          <a:noFill/>
        </p:spPr>
        <p:txBody>
          <a:bodyPr wrap="square">
            <a:spAutoFit/>
          </a:bodyPr>
          <a:lstStyle/>
          <a:p>
            <a:pPr>
              <a:buNone/>
            </a:pPr>
            <a:r>
              <a:rPr lang="en-US" sz="3200" b="1" dirty="0">
                <a:latin typeface="Times New Roman" panose="02020603050405020304" pitchFamily="18" charset="0"/>
                <a:cs typeface="Times New Roman" panose="02020603050405020304" pitchFamily="18" charset="0"/>
              </a:rPr>
              <a:t>Performance Evaluation of the Proposed Model</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1506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2155986" y="495300"/>
            <a:ext cx="13182600" cy="2133600"/>
            <a:chOff x="0" y="0"/>
            <a:chExt cx="2429645" cy="2960376"/>
          </a:xfrm>
        </p:grpSpPr>
        <p:sp>
          <p:nvSpPr>
            <p:cNvPr id="4" name="Freeform 4"/>
            <p:cNvSpPr/>
            <p:nvPr/>
          </p:nvSpPr>
          <p:spPr>
            <a:xfrm>
              <a:off x="0" y="0"/>
              <a:ext cx="2429645" cy="2960376"/>
            </a:xfrm>
            <a:custGeom>
              <a:avLst/>
              <a:gdLst/>
              <a:ahLst/>
              <a:cxnLst/>
              <a:rect l="l" t="t" r="r" b="b"/>
              <a:pathLst>
                <a:path w="2429645" h="2960376">
                  <a:moveTo>
                    <a:pt x="0" y="0"/>
                  </a:moveTo>
                  <a:lnTo>
                    <a:pt x="2429645" y="0"/>
                  </a:lnTo>
                  <a:lnTo>
                    <a:pt x="2429645" y="2960376"/>
                  </a:lnTo>
                  <a:lnTo>
                    <a:pt x="0" y="2960376"/>
                  </a:lnTo>
                  <a:close/>
                </a:path>
              </a:pathLst>
            </a:custGeom>
            <a:solidFill>
              <a:srgbClr val="EAD6B8"/>
            </a:solidFill>
          </p:spPr>
          <p:txBody>
            <a:bodyPr/>
            <a:lstStyle/>
            <a:p>
              <a:endParaRPr lang="en-IN"/>
            </a:p>
          </p:txBody>
        </p:sp>
        <p:sp>
          <p:nvSpPr>
            <p:cNvPr id="5" name="TextBox 5"/>
            <p:cNvSpPr txBox="1"/>
            <p:nvPr/>
          </p:nvSpPr>
          <p:spPr>
            <a:xfrm>
              <a:off x="0" y="-47625"/>
              <a:ext cx="2429645" cy="3008001"/>
            </a:xfrm>
            <a:prstGeom prst="rect">
              <a:avLst/>
            </a:prstGeom>
          </p:spPr>
          <p:txBody>
            <a:bodyPr lIns="50800" tIns="50800" rIns="50800" bIns="50800" rtlCol="0" anchor="ctr"/>
            <a:lstStyle/>
            <a:p>
              <a:pPr algn="ctr">
                <a:lnSpc>
                  <a:spcPts val="3012"/>
                </a:lnSpc>
              </a:pPr>
              <a:endParaRPr/>
            </a:p>
          </p:txBody>
        </p:sp>
      </p:grpSp>
      <p:grpSp>
        <p:nvGrpSpPr>
          <p:cNvPr id="12" name="Group 12"/>
          <p:cNvGrpSpPr/>
          <p:nvPr/>
        </p:nvGrpSpPr>
        <p:grpSpPr>
          <a:xfrm>
            <a:off x="17176175" y="8629924"/>
            <a:ext cx="865220" cy="86522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5" name="Freeform 15"/>
          <p:cNvSpPr/>
          <p:nvPr/>
        </p:nvSpPr>
        <p:spPr>
          <a:xfrm>
            <a:off x="15982142" y="9001360"/>
            <a:ext cx="1902376" cy="2989982"/>
          </a:xfrm>
          <a:custGeom>
            <a:avLst/>
            <a:gdLst/>
            <a:ahLst/>
            <a:cxnLst/>
            <a:rect l="l" t="t" r="r" b="b"/>
            <a:pathLst>
              <a:path w="1902376" h="2989982">
                <a:moveTo>
                  <a:pt x="0" y="0"/>
                </a:moveTo>
                <a:lnTo>
                  <a:pt x="1902376" y="0"/>
                </a:lnTo>
                <a:lnTo>
                  <a:pt x="1902376" y="2989981"/>
                </a:lnTo>
                <a:lnTo>
                  <a:pt x="0" y="29899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rot="5400000">
            <a:off x="14075172" y="2158589"/>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7" name="TextBox 17"/>
          <p:cNvSpPr txBox="1"/>
          <p:nvPr/>
        </p:nvSpPr>
        <p:spPr>
          <a:xfrm>
            <a:off x="5783215" y="430250"/>
            <a:ext cx="11150115" cy="1356140"/>
          </a:xfrm>
          <a:prstGeom prst="rect">
            <a:avLst/>
          </a:prstGeom>
        </p:spPr>
        <p:txBody>
          <a:bodyPr wrap="square" lIns="0" tIns="0" rIns="0" bIns="0" rtlCol="0" anchor="t">
            <a:spAutoFit/>
          </a:bodyPr>
          <a:lstStyle/>
          <a:p>
            <a:pPr lvl="0">
              <a:lnSpc>
                <a:spcPts val="13050"/>
              </a:lnSpc>
              <a:spcBef>
                <a:spcPct val="0"/>
              </a:spcBef>
            </a:pPr>
            <a:r>
              <a:rPr lang="en-IN" sz="3200" b="1" dirty="0">
                <a:latin typeface="Times New Roman" panose="02020603050405020304" pitchFamily="18" charset="0"/>
                <a:cs typeface="Times New Roman" panose="02020603050405020304" pitchFamily="18" charset="0"/>
              </a:rPr>
              <a:t>Proposed System Architecture</a:t>
            </a:r>
            <a:endParaRPr lang="en-US" sz="3200" b="1" dirty="0">
              <a:solidFill>
                <a:srgbClr val="465739"/>
              </a:solidFill>
              <a:latin typeface="Times New Roman" panose="02020603050405020304" pitchFamily="18" charset="0"/>
              <a:ea typeface="Glacial Indifference Bold"/>
              <a:cs typeface="Times New Roman" panose="02020603050405020304" pitchFamily="18" charset="0"/>
              <a:sym typeface="Glacial Indifference Bold"/>
            </a:endParaRPr>
          </a:p>
        </p:txBody>
      </p:sp>
      <p:pic>
        <p:nvPicPr>
          <p:cNvPr id="6" name="Picture 5">
            <a:extLst>
              <a:ext uri="{FF2B5EF4-FFF2-40B4-BE49-F238E27FC236}">
                <a16:creationId xmlns:a16="http://schemas.microsoft.com/office/drawing/2014/main" id="{8B6BDB1A-8867-9E9E-61BC-53ED3DDE5D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7029" y="2885154"/>
            <a:ext cx="17281065" cy="68989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0689FC-318D-8714-1468-6ACE6D729050}"/>
              </a:ext>
            </a:extLst>
          </p:cNvPr>
          <p:cNvSpPr txBox="1"/>
          <p:nvPr/>
        </p:nvSpPr>
        <p:spPr>
          <a:xfrm>
            <a:off x="1043834" y="2171700"/>
            <a:ext cx="9448800" cy="7124514"/>
          </a:xfrm>
          <a:prstGeom prst="rect">
            <a:avLst/>
          </a:prstGeom>
          <a:noFill/>
        </p:spPr>
        <p:txBody>
          <a:bodyPr wrap="square">
            <a:spAutoFit/>
          </a:bodyPr>
          <a:lstStyle/>
          <a:p>
            <a:pPr marL="457200" indent="-457200">
              <a:lnSpc>
                <a:spcPct val="150000"/>
              </a:lnSpc>
              <a:buFont typeface="+mj-lt"/>
              <a:buAutoNum type="arabicPeriod"/>
            </a:pPr>
            <a:r>
              <a:rPr lang="en-US" sz="2800" b="1" dirty="0">
                <a:latin typeface="Times New Roman" panose="02020603050405020304" pitchFamily="18" charset="0"/>
                <a:cs typeface="Times New Roman" panose="02020603050405020304" pitchFamily="18" charset="0"/>
              </a:rPr>
              <a:t>Dataset Collection: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Use publicly available sentiment datasets such as IMDB movie reviews or Twitter text datasets.</a:t>
            </a:r>
          </a:p>
          <a:p>
            <a:pPr marL="457200" indent="-457200">
              <a:lnSpc>
                <a:spcPct val="150000"/>
              </a:lnSpc>
              <a:buFont typeface="+mj-lt"/>
              <a:buAutoNum type="arabicPeriod"/>
            </a:pPr>
            <a:r>
              <a:rPr lang="en-US" sz="2800" b="1" dirty="0">
                <a:latin typeface="Times New Roman" panose="02020603050405020304" pitchFamily="18" charset="0"/>
                <a:cs typeface="Times New Roman" panose="02020603050405020304" pitchFamily="18" charset="0"/>
              </a:rPr>
              <a:t>Data Preprocessing: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Clean the text by removing noise, stop words, URLs, and special characters, followed by tokenization suitable for transformer models.</a:t>
            </a:r>
          </a:p>
          <a:p>
            <a:pPr marL="457200" indent="-457200">
              <a:lnSpc>
                <a:spcPct val="150000"/>
              </a:lnSpc>
              <a:buFont typeface="+mj-lt"/>
              <a:buAutoNum type="arabicPeriod"/>
            </a:pPr>
            <a:r>
              <a:rPr lang="en-US" sz="2800" b="1" dirty="0">
                <a:latin typeface="Times New Roman" panose="02020603050405020304" pitchFamily="18" charset="0"/>
                <a:cs typeface="Times New Roman" panose="02020603050405020304" pitchFamily="18" charset="0"/>
              </a:rPr>
              <a:t>Transformer Model Training: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Fine-tune transformer-based models (BERT, </a:t>
            </a:r>
            <a:r>
              <a:rPr lang="en-US" sz="2800" dirty="0" err="1">
                <a:latin typeface="Times New Roman" panose="02020603050405020304" pitchFamily="18" charset="0"/>
                <a:cs typeface="Times New Roman" panose="02020603050405020304" pitchFamily="18" charset="0"/>
              </a:rPr>
              <a:t>DistilBERT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RoBERTa</a:t>
            </a:r>
            <a:r>
              <a:rPr lang="en-US" sz="2800" dirty="0">
                <a:latin typeface="Times New Roman" panose="02020603050405020304" pitchFamily="18" charset="0"/>
                <a:cs typeface="Times New Roman" panose="02020603050405020304" pitchFamily="18" charset="0"/>
              </a:rPr>
              <a:t>) on a small labeled dataset to capture contextual sentiment information.</a:t>
            </a:r>
          </a:p>
        </p:txBody>
      </p:sp>
      <p:sp>
        <p:nvSpPr>
          <p:cNvPr id="5" name="TextBox 4">
            <a:extLst>
              <a:ext uri="{FF2B5EF4-FFF2-40B4-BE49-F238E27FC236}">
                <a16:creationId xmlns:a16="http://schemas.microsoft.com/office/drawing/2014/main" id="{A024B230-AD49-B51D-EE19-DC06FDA71C28}"/>
              </a:ext>
            </a:extLst>
          </p:cNvPr>
          <p:cNvSpPr txBox="1"/>
          <p:nvPr/>
        </p:nvSpPr>
        <p:spPr>
          <a:xfrm>
            <a:off x="685800" y="1102697"/>
            <a:ext cx="9144000" cy="584775"/>
          </a:xfrm>
          <a:prstGeom prst="rect">
            <a:avLst/>
          </a:prstGeom>
          <a:noFill/>
        </p:spPr>
        <p:txBody>
          <a:bodyPr wrap="square">
            <a:spAutoFit/>
          </a:bodyPr>
          <a:lstStyle/>
          <a:p>
            <a:pPr>
              <a:buNone/>
            </a:pPr>
            <a:r>
              <a:rPr lang="en-US" sz="3200" b="1" dirty="0">
                <a:latin typeface="Times New Roman" panose="02020603050405020304" pitchFamily="18" charset="0"/>
                <a:cs typeface="Times New Roman" panose="02020603050405020304" pitchFamily="18" charset="0"/>
              </a:rPr>
              <a:t> Methodology </a:t>
            </a:r>
          </a:p>
        </p:txBody>
      </p:sp>
      <p:sp>
        <p:nvSpPr>
          <p:cNvPr id="6" name="Freeform 7">
            <a:extLst>
              <a:ext uri="{FF2B5EF4-FFF2-40B4-BE49-F238E27FC236}">
                <a16:creationId xmlns:a16="http://schemas.microsoft.com/office/drawing/2014/main" id="{B0833263-CE5A-B77F-C0A3-6065AA0C0C43}"/>
              </a:ext>
            </a:extLst>
          </p:cNvPr>
          <p:cNvSpPr/>
          <p:nvPr/>
        </p:nvSpPr>
        <p:spPr>
          <a:xfrm rot="5400000">
            <a:off x="13563600" y="7457914"/>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7" name="Freeform 2">
            <a:extLst>
              <a:ext uri="{FF2B5EF4-FFF2-40B4-BE49-F238E27FC236}">
                <a16:creationId xmlns:a16="http://schemas.microsoft.com/office/drawing/2014/main" id="{C9D920B3-5367-1F24-1F03-DEF88802E1EE}"/>
              </a:ext>
            </a:extLst>
          </p:cNvPr>
          <p:cNvSpPr/>
          <p:nvPr/>
        </p:nvSpPr>
        <p:spPr>
          <a:xfrm>
            <a:off x="8438108" y="8736881"/>
            <a:ext cx="618357" cy="579596"/>
          </a:xfrm>
          <a:custGeom>
            <a:avLst/>
            <a:gdLst/>
            <a:ahLst/>
            <a:cxnLst/>
            <a:rect l="l" t="t" r="r" b="b"/>
            <a:pathLst>
              <a:path w="618357" h="579596">
                <a:moveTo>
                  <a:pt x="0" y="0"/>
                </a:moveTo>
                <a:lnTo>
                  <a:pt x="618357" y="0"/>
                </a:lnTo>
                <a:lnTo>
                  <a:pt x="618357" y="579596"/>
                </a:lnTo>
                <a:lnTo>
                  <a:pt x="0" y="5795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8" name="Group 12">
            <a:extLst>
              <a:ext uri="{FF2B5EF4-FFF2-40B4-BE49-F238E27FC236}">
                <a16:creationId xmlns:a16="http://schemas.microsoft.com/office/drawing/2014/main" id="{631DC174-E0C1-B5F7-A25B-64689460CE99}"/>
              </a:ext>
            </a:extLst>
          </p:cNvPr>
          <p:cNvGrpSpPr/>
          <p:nvPr/>
        </p:nvGrpSpPr>
        <p:grpSpPr>
          <a:xfrm>
            <a:off x="17176175" y="8629924"/>
            <a:ext cx="865220" cy="865220"/>
            <a:chOff x="0" y="0"/>
            <a:chExt cx="812800" cy="812800"/>
          </a:xfrm>
        </p:grpSpPr>
        <p:sp>
          <p:nvSpPr>
            <p:cNvPr id="9" name="Freeform 13">
              <a:extLst>
                <a:ext uri="{FF2B5EF4-FFF2-40B4-BE49-F238E27FC236}">
                  <a16:creationId xmlns:a16="http://schemas.microsoft.com/office/drawing/2014/main" id="{804902E5-4F79-5551-0960-2969F0CCC02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10" name="TextBox 14">
              <a:extLst>
                <a:ext uri="{FF2B5EF4-FFF2-40B4-BE49-F238E27FC236}">
                  <a16:creationId xmlns:a16="http://schemas.microsoft.com/office/drawing/2014/main" id="{2630AC6A-D7AA-5CBC-98F3-073D2BAA8CE1}"/>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1" name="Freeform 15">
            <a:extLst>
              <a:ext uri="{FF2B5EF4-FFF2-40B4-BE49-F238E27FC236}">
                <a16:creationId xmlns:a16="http://schemas.microsoft.com/office/drawing/2014/main" id="{42E972AC-8B0A-9E24-A91B-D4F7951862DC}"/>
              </a:ext>
            </a:extLst>
          </p:cNvPr>
          <p:cNvSpPr/>
          <p:nvPr/>
        </p:nvSpPr>
        <p:spPr>
          <a:xfrm>
            <a:off x="15982142" y="9001360"/>
            <a:ext cx="1902376" cy="2989982"/>
          </a:xfrm>
          <a:custGeom>
            <a:avLst/>
            <a:gdLst/>
            <a:ahLst/>
            <a:cxnLst/>
            <a:rect l="l" t="t" r="r" b="b"/>
            <a:pathLst>
              <a:path w="1902376" h="2989982">
                <a:moveTo>
                  <a:pt x="0" y="0"/>
                </a:moveTo>
                <a:lnTo>
                  <a:pt x="1902376" y="0"/>
                </a:lnTo>
                <a:lnTo>
                  <a:pt x="1902376" y="2989981"/>
                </a:lnTo>
                <a:lnTo>
                  <a:pt x="0" y="298998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pic>
        <p:nvPicPr>
          <p:cNvPr id="12" name="Picture 11">
            <a:extLst>
              <a:ext uri="{FF2B5EF4-FFF2-40B4-BE49-F238E27FC236}">
                <a16:creationId xmlns:a16="http://schemas.microsoft.com/office/drawing/2014/main" id="{1D130E23-EF23-849E-92CA-B902651F8333}"/>
              </a:ext>
            </a:extLst>
          </p:cNvPr>
          <p:cNvPicPr>
            <a:picLocks noChangeAspect="1"/>
          </p:cNvPicPr>
          <p:nvPr/>
        </p:nvPicPr>
        <p:blipFill>
          <a:blip r:embed="rId8"/>
          <a:stretch>
            <a:fillRect/>
          </a:stretch>
        </p:blipFill>
        <p:spPr>
          <a:xfrm>
            <a:off x="11031965" y="2741684"/>
            <a:ext cx="7010038" cy="3584432"/>
          </a:xfrm>
          <a:prstGeom prst="rect">
            <a:avLst/>
          </a:prstGeom>
        </p:spPr>
      </p:pic>
      <p:sp>
        <p:nvSpPr>
          <p:cNvPr id="13" name="Rectangle 12">
            <a:extLst>
              <a:ext uri="{FF2B5EF4-FFF2-40B4-BE49-F238E27FC236}">
                <a16:creationId xmlns:a16="http://schemas.microsoft.com/office/drawing/2014/main" id="{511C6105-2684-BA3C-6658-BB856FE7FB7F}"/>
              </a:ext>
            </a:extLst>
          </p:cNvPr>
          <p:cNvSpPr/>
          <p:nvPr/>
        </p:nvSpPr>
        <p:spPr>
          <a:xfrm>
            <a:off x="11008999" y="5753100"/>
            <a:ext cx="1197412" cy="75867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229976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88E258-D12A-D0C7-4AE4-747FEFA2D74F}"/>
              </a:ext>
            </a:extLst>
          </p:cNvPr>
          <p:cNvSpPr txBox="1"/>
          <p:nvPr/>
        </p:nvSpPr>
        <p:spPr>
          <a:xfrm>
            <a:off x="1600200" y="-6908722"/>
            <a:ext cx="12496800" cy="15515786"/>
          </a:xfrm>
          <a:prstGeom prst="rect">
            <a:avLst/>
          </a:prstGeom>
          <a:noFill/>
        </p:spPr>
        <p:txBody>
          <a:bodyPr wrap="square">
            <a:spAutoFit/>
          </a:bodyPr>
          <a:lstStyle/>
          <a:p>
            <a:pPr marL="457200" indent="-457200">
              <a:lnSpc>
                <a:spcPct val="150000"/>
              </a:lnSpc>
              <a:buFont typeface="+mj-lt"/>
              <a:buAutoNum type="arabicPeriod"/>
            </a:pPr>
            <a:r>
              <a:rPr lang="en-US" sz="3200" b="1" dirty="0">
                <a:solidFill>
                  <a:schemeClr val="bg2"/>
                </a:solidFill>
                <a:latin typeface="Times New Roman" panose="02020603050405020304" pitchFamily="18" charset="0"/>
                <a:cs typeface="Times New Roman" panose="02020603050405020304" pitchFamily="18" charset="0"/>
              </a:rPr>
              <a:t>Dataset Collection:</a:t>
            </a:r>
            <a:br>
              <a:rPr lang="en-US" sz="3200" dirty="0">
                <a:solidFill>
                  <a:schemeClr val="bg2"/>
                </a:solidFill>
                <a:latin typeface="Times New Roman" panose="02020603050405020304" pitchFamily="18" charset="0"/>
                <a:cs typeface="Times New Roman" panose="02020603050405020304" pitchFamily="18" charset="0"/>
              </a:rPr>
            </a:br>
            <a:r>
              <a:rPr lang="en-US" sz="3200" dirty="0">
                <a:solidFill>
                  <a:schemeClr val="bg2"/>
                </a:solidFill>
                <a:latin typeface="Times New Roman" panose="02020603050405020304" pitchFamily="18" charset="0"/>
                <a:cs typeface="Times New Roman" panose="02020603050405020304" pitchFamily="18" charset="0"/>
              </a:rPr>
              <a:t>Use publicly available sentiment datasets such as IMDB movie reviews or Twitter text datasets.</a:t>
            </a:r>
          </a:p>
          <a:p>
            <a:pPr marL="457200" indent="-457200">
              <a:lnSpc>
                <a:spcPct val="150000"/>
              </a:lnSpc>
              <a:buFont typeface="+mj-lt"/>
              <a:buAutoNum type="arabicPeriod"/>
            </a:pPr>
            <a:r>
              <a:rPr lang="en-US" sz="3200" b="1" dirty="0">
                <a:solidFill>
                  <a:schemeClr val="bg2"/>
                </a:solidFill>
                <a:latin typeface="Times New Roman" panose="02020603050405020304" pitchFamily="18" charset="0"/>
                <a:cs typeface="Times New Roman" panose="02020603050405020304" pitchFamily="18" charset="0"/>
              </a:rPr>
              <a:t>Data Preprocessing:</a:t>
            </a:r>
            <a:br>
              <a:rPr lang="en-US" sz="3200" dirty="0">
                <a:solidFill>
                  <a:schemeClr val="bg2"/>
                </a:solidFill>
                <a:latin typeface="Times New Roman" panose="02020603050405020304" pitchFamily="18" charset="0"/>
                <a:cs typeface="Times New Roman" panose="02020603050405020304" pitchFamily="18" charset="0"/>
              </a:rPr>
            </a:br>
            <a:r>
              <a:rPr lang="en-US" sz="3200" dirty="0">
                <a:solidFill>
                  <a:schemeClr val="bg2"/>
                </a:solidFill>
                <a:latin typeface="Times New Roman" panose="02020603050405020304" pitchFamily="18" charset="0"/>
                <a:cs typeface="Times New Roman" panose="02020603050405020304" pitchFamily="18" charset="0"/>
              </a:rPr>
              <a:t>Clean the text by removing noise, stop words, URLs, and special characters, followed by tokenization suitable for transformer models.</a:t>
            </a:r>
          </a:p>
          <a:p>
            <a:pPr marL="457200" indent="-457200">
              <a:lnSpc>
                <a:spcPct val="150000"/>
              </a:lnSpc>
              <a:buFont typeface="+mj-lt"/>
              <a:buAutoNum type="arabicPeriod"/>
            </a:pPr>
            <a:r>
              <a:rPr lang="en-US" sz="3200" b="1" dirty="0">
                <a:solidFill>
                  <a:schemeClr val="bg2"/>
                </a:solidFill>
                <a:latin typeface="Times New Roman" panose="02020603050405020304" pitchFamily="18" charset="0"/>
                <a:cs typeface="Times New Roman" panose="02020603050405020304" pitchFamily="18" charset="0"/>
              </a:rPr>
              <a:t>Baseline Model Training:</a:t>
            </a:r>
            <a:br>
              <a:rPr lang="en-US" sz="3200" dirty="0">
                <a:solidFill>
                  <a:schemeClr val="bg2"/>
                </a:solidFill>
                <a:latin typeface="Times New Roman" panose="02020603050405020304" pitchFamily="18" charset="0"/>
                <a:cs typeface="Times New Roman" panose="02020603050405020304" pitchFamily="18" charset="0"/>
              </a:rPr>
            </a:br>
            <a:endParaRPr lang="en-US" sz="3200" dirty="0">
              <a:solidFill>
                <a:schemeClr val="bg2"/>
              </a:solidFill>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3200" b="1" dirty="0">
                <a:solidFill>
                  <a:schemeClr val="bg1"/>
                </a:solidFill>
                <a:latin typeface="Times New Roman" panose="02020603050405020304" pitchFamily="18" charset="0"/>
                <a:cs typeface="Times New Roman" panose="02020603050405020304" pitchFamily="18" charset="0"/>
              </a:rPr>
              <a:t>T</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sz="3200" b="1" dirty="0">
                <a:latin typeface="Times New Roman" panose="02020603050405020304" pitchFamily="18" charset="0"/>
                <a:cs typeface="Times New Roman" panose="02020603050405020304" pitchFamily="18" charset="0"/>
              </a:rPr>
              <a:t>Gradient Estimation: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Identify samples with low confidence predictions from the unlabeled data pool using model uncertainty measures.</a:t>
            </a:r>
          </a:p>
          <a:p>
            <a:pPr marL="457200" indent="-457200">
              <a:lnSpc>
                <a:spcPct val="150000"/>
              </a:lnSpc>
              <a:buFont typeface="+mj-lt"/>
              <a:buAutoNum type="arabicPeriod"/>
            </a:pPr>
            <a:r>
              <a:rPr lang="en-US" sz="3200" b="1" dirty="0">
                <a:latin typeface="Times New Roman" panose="02020603050405020304" pitchFamily="18" charset="0"/>
                <a:cs typeface="Times New Roman" panose="02020603050405020304" pitchFamily="18" charset="0"/>
              </a:rPr>
              <a:t>Active Learning Loop:</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Select the most uncertain samples, label them, and add them to the training set for iterative retraining.</a:t>
            </a:r>
          </a:p>
          <a:p>
            <a:pPr marL="457200" indent="-457200">
              <a:lnSpc>
                <a:spcPct val="150000"/>
              </a:lnSpc>
              <a:buFont typeface="+mj-lt"/>
              <a:buAutoNum type="arabicPeriod"/>
            </a:pPr>
            <a:r>
              <a:rPr lang="en-US" sz="3200" b="1" dirty="0">
                <a:latin typeface="Times New Roman" panose="02020603050405020304" pitchFamily="18" charset="0"/>
                <a:cs typeface="Times New Roman" panose="02020603050405020304" pitchFamily="18" charset="0"/>
              </a:rPr>
              <a:t>Model Evaluation: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Evaluate all models using accuracy, precision, recall, and F1-score to analyze performance improvement.</a:t>
            </a:r>
          </a:p>
          <a:p>
            <a:pPr marL="457200" indent="-457200">
              <a:lnSpc>
                <a:spcPct val="150000"/>
              </a:lnSpc>
              <a:buFont typeface="+mj-lt"/>
              <a:buAutoNum type="arabicPeriod"/>
            </a:pPr>
            <a:r>
              <a:rPr lang="en-US" sz="3200" b="1" dirty="0">
                <a:latin typeface="Times New Roman" panose="02020603050405020304" pitchFamily="18" charset="0"/>
                <a:cs typeface="Times New Roman" panose="02020603050405020304" pitchFamily="18" charset="0"/>
              </a:rPr>
              <a:t>Final Model Selection: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Select the best-performing model as the final sentiment analysis system.</a:t>
            </a:r>
          </a:p>
        </p:txBody>
      </p:sp>
      <p:sp>
        <p:nvSpPr>
          <p:cNvPr id="7" name="Freeform 7">
            <a:extLst>
              <a:ext uri="{FF2B5EF4-FFF2-40B4-BE49-F238E27FC236}">
                <a16:creationId xmlns:a16="http://schemas.microsoft.com/office/drawing/2014/main" id="{7645618A-FF40-F55F-695C-2B816A536B67}"/>
              </a:ext>
            </a:extLst>
          </p:cNvPr>
          <p:cNvSpPr/>
          <p:nvPr/>
        </p:nvSpPr>
        <p:spPr>
          <a:xfrm rot="5400000">
            <a:off x="13535187" y="7133838"/>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8" name="Freeform 2">
            <a:extLst>
              <a:ext uri="{FF2B5EF4-FFF2-40B4-BE49-F238E27FC236}">
                <a16:creationId xmlns:a16="http://schemas.microsoft.com/office/drawing/2014/main" id="{03F37B9F-EE36-CB71-4FE9-0F47567202AA}"/>
              </a:ext>
            </a:extLst>
          </p:cNvPr>
          <p:cNvSpPr/>
          <p:nvPr/>
        </p:nvSpPr>
        <p:spPr>
          <a:xfrm>
            <a:off x="8438108" y="8736881"/>
            <a:ext cx="618357" cy="579596"/>
          </a:xfrm>
          <a:custGeom>
            <a:avLst/>
            <a:gdLst/>
            <a:ahLst/>
            <a:cxnLst/>
            <a:rect l="l" t="t" r="r" b="b"/>
            <a:pathLst>
              <a:path w="618357" h="579596">
                <a:moveTo>
                  <a:pt x="0" y="0"/>
                </a:moveTo>
                <a:lnTo>
                  <a:pt x="618357" y="0"/>
                </a:lnTo>
                <a:lnTo>
                  <a:pt x="618357" y="579596"/>
                </a:lnTo>
                <a:lnTo>
                  <a:pt x="0" y="5795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9" name="Group 12">
            <a:extLst>
              <a:ext uri="{FF2B5EF4-FFF2-40B4-BE49-F238E27FC236}">
                <a16:creationId xmlns:a16="http://schemas.microsoft.com/office/drawing/2014/main" id="{896CE2F9-0AEB-A061-22CA-0480ED51125F}"/>
              </a:ext>
            </a:extLst>
          </p:cNvPr>
          <p:cNvGrpSpPr/>
          <p:nvPr/>
        </p:nvGrpSpPr>
        <p:grpSpPr>
          <a:xfrm>
            <a:off x="17176175" y="8629924"/>
            <a:ext cx="865220" cy="865220"/>
            <a:chOff x="0" y="0"/>
            <a:chExt cx="812800" cy="812800"/>
          </a:xfrm>
        </p:grpSpPr>
        <p:sp>
          <p:nvSpPr>
            <p:cNvPr id="10" name="Freeform 13">
              <a:extLst>
                <a:ext uri="{FF2B5EF4-FFF2-40B4-BE49-F238E27FC236}">
                  <a16:creationId xmlns:a16="http://schemas.microsoft.com/office/drawing/2014/main" id="{1F27DAC3-CA16-1127-0EDC-FB3229A5A30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11" name="TextBox 14">
              <a:extLst>
                <a:ext uri="{FF2B5EF4-FFF2-40B4-BE49-F238E27FC236}">
                  <a16:creationId xmlns:a16="http://schemas.microsoft.com/office/drawing/2014/main" id="{C11E41C9-1BFF-955F-C5C1-F231298F39AD}"/>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2" name="Freeform 15">
            <a:extLst>
              <a:ext uri="{FF2B5EF4-FFF2-40B4-BE49-F238E27FC236}">
                <a16:creationId xmlns:a16="http://schemas.microsoft.com/office/drawing/2014/main" id="{069DAACB-47EF-D120-731F-4BC486FD01CB}"/>
              </a:ext>
            </a:extLst>
          </p:cNvPr>
          <p:cNvSpPr/>
          <p:nvPr/>
        </p:nvSpPr>
        <p:spPr>
          <a:xfrm>
            <a:off x="15982142" y="9001360"/>
            <a:ext cx="1902376" cy="2989982"/>
          </a:xfrm>
          <a:custGeom>
            <a:avLst/>
            <a:gdLst/>
            <a:ahLst/>
            <a:cxnLst/>
            <a:rect l="l" t="t" r="r" b="b"/>
            <a:pathLst>
              <a:path w="1902376" h="2989982">
                <a:moveTo>
                  <a:pt x="0" y="0"/>
                </a:moveTo>
                <a:lnTo>
                  <a:pt x="1902376" y="0"/>
                </a:lnTo>
                <a:lnTo>
                  <a:pt x="1902376" y="2989981"/>
                </a:lnTo>
                <a:lnTo>
                  <a:pt x="0" y="298998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extLst>
      <p:ext uri="{BB962C8B-B14F-4D97-AF65-F5344CB8AC3E}">
        <p14:creationId xmlns:p14="http://schemas.microsoft.com/office/powerpoint/2010/main" val="584708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2983DC2-992C-4CC2-B1A2-DBC9D80ADA2D}"/>
                  </a:ext>
                </a:extLst>
              </p:cNvPr>
              <p:cNvSpPr txBox="1"/>
              <p:nvPr/>
            </p:nvSpPr>
            <p:spPr>
              <a:xfrm>
                <a:off x="1333287" y="2327344"/>
                <a:ext cx="12230313" cy="7478970"/>
              </a:xfrm>
              <a:prstGeom prst="rect">
                <a:avLst/>
              </a:prstGeom>
              <a:noFill/>
            </p:spPr>
            <p:txBody>
              <a:bodyPr wrap="square">
                <a:spAutoFit/>
              </a:bodyPr>
              <a:lstStyle/>
              <a:p>
                <a:pPr>
                  <a:buNone/>
                </a:pPr>
                <a:r>
                  <a:rPr lang="en-IN" sz="3200" b="1" dirty="0">
                    <a:latin typeface="Times New Roman" panose="02020603050405020304" pitchFamily="18" charset="0"/>
                    <a:cs typeface="Times New Roman" panose="02020603050405020304" pitchFamily="18" charset="0"/>
                  </a:rPr>
                  <a:t>EGL-Driven Transformer Sentiment Classification</a:t>
                </a:r>
                <a:endParaRPr lang="en-IN" sz="3200" dirty="0">
                  <a:latin typeface="Times New Roman" panose="02020603050405020304" pitchFamily="18" charset="0"/>
                  <a:cs typeface="Times New Roman" panose="02020603050405020304" pitchFamily="18" charset="0"/>
                </a:endParaRPr>
              </a:p>
              <a:p>
                <a:pPr>
                  <a:buNone/>
                </a:pPr>
                <a:r>
                  <a:rPr lang="en-IN" sz="3200" b="1" dirty="0">
                    <a:latin typeface="Times New Roman" panose="02020603050405020304" pitchFamily="18" charset="0"/>
                    <a:cs typeface="Times New Roman" panose="02020603050405020304" pitchFamily="18" charset="0"/>
                  </a:rPr>
                  <a:t>Require:</a:t>
                </a: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Labeled</a:t>
                </a:r>
                <a:r>
                  <a:rPr lang="en-IN" sz="3200" dirty="0">
                    <a:latin typeface="Times New Roman" panose="02020603050405020304" pitchFamily="18" charset="0"/>
                    <a:cs typeface="Times New Roman" panose="02020603050405020304" pitchFamily="18" charset="0"/>
                  </a:rPr>
                  <a:t> dataset </a:t>
                </a:r>
                <a14:m>
                  <m:oMath xmlns:m="http://schemas.openxmlformats.org/officeDocument/2006/math">
                    <m:sSub>
                      <m:sSubPr>
                        <m:ctrlPr>
                          <a:rPr lang="ar-AE" sz="3200" i="1">
                            <a:latin typeface="Cambria Math" panose="02040503050406030204" pitchFamily="18" charset="0"/>
                          </a:rPr>
                        </m:ctrlPr>
                      </m:sSubPr>
                      <m:e>
                        <m:r>
                          <a:rPr lang="ar-AE" sz="3200" i="1">
                            <a:latin typeface="Cambria Math" panose="02040503050406030204" pitchFamily="18" charset="0"/>
                          </a:rPr>
                          <m:t>𝐷</m:t>
                        </m:r>
                      </m:e>
                      <m:sub>
                        <m:r>
                          <a:rPr lang="ar-AE" sz="3200" i="1">
                            <a:latin typeface="Cambria Math" panose="02040503050406030204" pitchFamily="18" charset="0"/>
                          </a:rPr>
                          <m:t>𝐿</m:t>
                        </m:r>
                      </m:sub>
                    </m:sSub>
                  </m:oMath>
                </a14:m>
                <a:r>
                  <a:rPr lang="ar-AE"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Unlabeled</a:t>
                </a:r>
                <a:r>
                  <a:rPr lang="en-IN" sz="3200" dirty="0">
                    <a:latin typeface="Times New Roman" panose="02020603050405020304" pitchFamily="18" charset="0"/>
                    <a:cs typeface="Times New Roman" panose="02020603050405020304" pitchFamily="18" charset="0"/>
                  </a:rPr>
                  <a:t> dataset </a:t>
                </a:r>
                <a14:m>
                  <m:oMath xmlns:m="http://schemas.openxmlformats.org/officeDocument/2006/math">
                    <m:sSub>
                      <m:sSubPr>
                        <m:ctrlPr>
                          <a:rPr lang="ar-AE" sz="3200" i="1">
                            <a:latin typeface="Cambria Math" panose="02040503050406030204" pitchFamily="18" charset="0"/>
                          </a:rPr>
                        </m:ctrlPr>
                      </m:sSubPr>
                      <m:e>
                        <m:r>
                          <a:rPr lang="ar-AE" sz="3200" i="1">
                            <a:latin typeface="Cambria Math" panose="02040503050406030204" pitchFamily="18" charset="0"/>
                          </a:rPr>
                          <m:t>𝐷</m:t>
                        </m:r>
                      </m:e>
                      <m:sub>
                        <m:r>
                          <a:rPr lang="ar-AE" sz="3200" i="1">
                            <a:latin typeface="Cambria Math" panose="02040503050406030204" pitchFamily="18" charset="0"/>
                          </a:rPr>
                          <m:t>𝑈</m:t>
                        </m:r>
                      </m:sub>
                    </m:sSub>
                  </m:oMath>
                </a14:m>
                <a:br>
                  <a:rPr lang="ar-AE" sz="3200"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Ensure:</a:t>
                </a:r>
                <a:r>
                  <a:rPr lang="en-IN" sz="3200" dirty="0">
                    <a:latin typeface="Times New Roman" panose="02020603050405020304" pitchFamily="18" charset="0"/>
                    <a:cs typeface="Times New Roman" panose="02020603050405020304" pitchFamily="18" charset="0"/>
                  </a:rPr>
                  <a:t> Final sentiment prediction </a:t>
                </a:r>
                <a14:m>
                  <m:oMath xmlns:m="http://schemas.openxmlformats.org/officeDocument/2006/math">
                    <m:acc>
                      <m:accPr>
                        <m:chr m:val="̂"/>
                        <m:ctrlPr>
                          <a:rPr lang="ar-AE" sz="3200" i="1">
                            <a:latin typeface="Cambria Math" panose="02040503050406030204" pitchFamily="18" charset="0"/>
                          </a:rPr>
                        </m:ctrlPr>
                      </m:accPr>
                      <m:e>
                        <m:r>
                          <a:rPr lang="ar-AE" sz="3200" i="1">
                            <a:latin typeface="Cambria Math" panose="02040503050406030204" pitchFamily="18" charset="0"/>
                          </a:rPr>
                          <m:t>𝑦</m:t>
                        </m:r>
                      </m:e>
                    </m:acc>
                  </m:oMath>
                </a14:m>
                <a:endParaRPr lang="ar-AE" sz="32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Preprocess text (cleaning, tokenization, padding)</a:t>
                </a: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Fine-tune Transformer on </a:t>
                </a:r>
                <a14:m>
                  <m:oMath xmlns:m="http://schemas.openxmlformats.org/officeDocument/2006/math">
                    <m:sSub>
                      <m:sSubPr>
                        <m:ctrlPr>
                          <a:rPr lang="ar-AE" sz="3200" i="1">
                            <a:latin typeface="Cambria Math" panose="02040503050406030204" pitchFamily="18" charset="0"/>
                          </a:rPr>
                        </m:ctrlPr>
                      </m:sSubPr>
                      <m:e>
                        <m:r>
                          <a:rPr lang="ar-AE" sz="3200" i="1">
                            <a:latin typeface="Cambria Math" panose="02040503050406030204" pitchFamily="18" charset="0"/>
                          </a:rPr>
                          <m:t>𝐷</m:t>
                        </m:r>
                      </m:e>
                      <m:sub>
                        <m:r>
                          <a:rPr lang="ar-AE" sz="3200" i="1">
                            <a:latin typeface="Cambria Math" panose="02040503050406030204" pitchFamily="18" charset="0"/>
                          </a:rPr>
                          <m:t>𝐿</m:t>
                        </m:r>
                      </m:sub>
                    </m:sSub>
                  </m:oMath>
                </a14:m>
                <a:endParaRPr lang="en-IN" sz="3200" dirty="0">
                  <a:latin typeface="Times New Roman" panose="02020603050405020304" pitchFamily="18" charset="0"/>
                </a:endParaRPr>
              </a:p>
              <a:p>
                <a:pPr marL="514350" indent="-514350">
                  <a:buFont typeface="+mj-lt"/>
                  <a:buAutoNum type="arabicPeriod"/>
                </a:pPr>
                <a:r>
                  <a:rPr lang="ar-AE"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while</a:t>
                </a:r>
                <a:r>
                  <a:rPr lang="en-IN" sz="3200" dirty="0">
                    <a:latin typeface="Times New Roman" panose="02020603050405020304" pitchFamily="18" charset="0"/>
                    <a:cs typeface="Times New Roman" panose="02020603050405020304" pitchFamily="18" charset="0"/>
                  </a:rPr>
                  <a:t> stopping criterion not met </a:t>
                </a:r>
                <a:r>
                  <a:rPr lang="en-IN" sz="3200" b="1" dirty="0">
                    <a:latin typeface="Times New Roman" panose="02020603050405020304" pitchFamily="18" charset="0"/>
                    <a:cs typeface="Times New Roman" panose="02020603050405020304" pitchFamily="18" charset="0"/>
                  </a:rPr>
                  <a:t>do</a:t>
                </a:r>
                <a:endParaRPr lang="en-IN" sz="32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3200" b="1" dirty="0">
                    <a:latin typeface="Times New Roman" panose="02020603050405020304" pitchFamily="18" charset="0"/>
                    <a:cs typeface="Times New Roman" panose="02020603050405020304" pitchFamily="18" charset="0"/>
                  </a:rPr>
                  <a:t>for</a:t>
                </a:r>
                <a:r>
                  <a:rPr lang="en-IN" sz="3200" dirty="0">
                    <a:latin typeface="Times New Roman" panose="02020603050405020304" pitchFamily="18" charset="0"/>
                    <a:cs typeface="Times New Roman" panose="02020603050405020304" pitchFamily="18" charset="0"/>
                  </a:rPr>
                  <a:t> each </a:t>
                </a:r>
                <a14:m>
                  <m:oMath xmlns:m="http://schemas.openxmlformats.org/officeDocument/2006/math">
                    <m:sSub>
                      <m:sSubPr>
                        <m:ctrlPr>
                          <a:rPr lang="ar-AE" sz="3200" i="1">
                            <a:latin typeface="Cambria Math" panose="02040503050406030204" pitchFamily="18" charset="0"/>
                          </a:rPr>
                        </m:ctrlPr>
                      </m:sSubPr>
                      <m:e>
                        <m:r>
                          <a:rPr lang="ar-AE" sz="3200" i="1">
                            <a:latin typeface="Cambria Math" panose="02040503050406030204" pitchFamily="18" charset="0"/>
                          </a:rPr>
                          <m:t>𝑠</m:t>
                        </m:r>
                      </m:e>
                      <m:sub>
                        <m:r>
                          <a:rPr lang="ar-AE" sz="3200" i="1">
                            <a:latin typeface="Cambria Math" panose="02040503050406030204" pitchFamily="18" charset="0"/>
                          </a:rPr>
                          <m:t>𝑛</m:t>
                        </m:r>
                      </m:sub>
                    </m:sSub>
                    <m:r>
                      <a:rPr lang="ar-AE" sz="3200" i="0">
                        <a:latin typeface="Cambria Math" panose="02040503050406030204" pitchFamily="18" charset="0"/>
                      </a:rPr>
                      <m:t>∈</m:t>
                    </m:r>
                    <m:sSub>
                      <m:sSubPr>
                        <m:ctrlPr>
                          <a:rPr lang="ar-AE" sz="3200" i="1">
                            <a:latin typeface="Cambria Math" panose="02040503050406030204" pitchFamily="18" charset="0"/>
                          </a:rPr>
                        </m:ctrlPr>
                      </m:sSubPr>
                      <m:e>
                        <m:r>
                          <a:rPr lang="ar-AE" sz="3200" i="1">
                            <a:latin typeface="Cambria Math" panose="02040503050406030204" pitchFamily="18" charset="0"/>
                          </a:rPr>
                          <m:t>𝐷</m:t>
                        </m:r>
                      </m:e>
                      <m:sub>
                        <m:r>
                          <a:rPr lang="ar-AE" sz="3200" i="1">
                            <a:latin typeface="Cambria Math" panose="02040503050406030204" pitchFamily="18" charset="0"/>
                          </a:rPr>
                          <m:t>𝑈</m:t>
                        </m:r>
                      </m:sub>
                    </m:sSub>
                  </m:oMath>
                </a14:m>
                <a:r>
                  <a:rPr lang="en-IN" sz="3200" b="1" dirty="0">
                    <a:latin typeface="Times New Roman" panose="02020603050405020304" pitchFamily="18" charset="0"/>
                    <a:cs typeface="Times New Roman" panose="02020603050405020304" pitchFamily="18" charset="0"/>
                  </a:rPr>
                  <a:t>do</a:t>
                </a:r>
                <a:endParaRPr lang="en-IN" sz="32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Compute </a:t>
                </a:r>
                <a14:m>
                  <m:oMath xmlns:m="http://schemas.openxmlformats.org/officeDocument/2006/math">
                    <m:r>
                      <a:rPr lang="en-IN" sz="3200" i="1">
                        <a:latin typeface="Cambria Math" panose="02040503050406030204" pitchFamily="18" charset="0"/>
                      </a:rPr>
                      <m:t>𝑝</m:t>
                    </m:r>
                    <m:d>
                      <m:dPr>
                        <m:ctrlPr>
                          <a:rPr lang="ar-AE" sz="3200" i="1">
                            <a:latin typeface="Cambria Math" panose="02040503050406030204" pitchFamily="18" charset="0"/>
                          </a:rPr>
                        </m:ctrlPr>
                      </m:dPr>
                      <m:e>
                        <m:r>
                          <a:rPr lang="ar-AE" sz="3200" i="1">
                            <a:latin typeface="Cambria Math" panose="02040503050406030204" pitchFamily="18" charset="0"/>
                          </a:rPr>
                          <m:t>𝑦</m:t>
                        </m:r>
                        <m:r>
                          <a:rPr lang="ar-AE" sz="3200" i="0">
                            <a:latin typeface="Cambria Math" panose="02040503050406030204" pitchFamily="18" charset="0"/>
                          </a:rPr>
                          <m:t>∣</m:t>
                        </m:r>
                        <m:sSub>
                          <m:sSubPr>
                            <m:ctrlPr>
                              <a:rPr lang="ar-AE" sz="3200" i="1">
                                <a:latin typeface="Cambria Math" panose="02040503050406030204" pitchFamily="18" charset="0"/>
                              </a:rPr>
                            </m:ctrlPr>
                          </m:sSubPr>
                          <m:e>
                            <m:r>
                              <a:rPr lang="ar-AE" sz="3200" i="1">
                                <a:latin typeface="Cambria Math" panose="02040503050406030204" pitchFamily="18" charset="0"/>
                              </a:rPr>
                              <m:t>𝑠</m:t>
                            </m:r>
                          </m:e>
                          <m:sub>
                            <m:r>
                              <a:rPr lang="ar-AE" sz="3200" i="1">
                                <a:latin typeface="Cambria Math" panose="02040503050406030204" pitchFamily="18" charset="0"/>
                              </a:rPr>
                              <m:t>𝑛</m:t>
                            </m:r>
                          </m:sub>
                        </m:sSub>
                      </m:e>
                    </m:d>
                  </m:oMath>
                </a14:m>
                <a:endParaRPr lang="en-IN" sz="3200" dirty="0">
                  <a:latin typeface="Times New Roman" panose="02020603050405020304" pitchFamily="18" charset="0"/>
                </a:endParaRP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 Compute </a:t>
                </a:r>
                <a14:m>
                  <m:oMath xmlns:m="http://schemas.openxmlformats.org/officeDocument/2006/math">
                    <m:r>
                      <a:rPr lang="en-IN" sz="3200" i="1">
                        <a:latin typeface="Cambria Math" panose="02040503050406030204" pitchFamily="18" charset="0"/>
                      </a:rPr>
                      <m:t>𝐸𝐺𝐿</m:t>
                    </m:r>
                    <m:d>
                      <m:dPr>
                        <m:ctrlPr>
                          <a:rPr lang="ar-AE" sz="3200" i="1">
                            <a:latin typeface="Cambria Math" panose="02040503050406030204" pitchFamily="18" charset="0"/>
                          </a:rPr>
                        </m:ctrlPr>
                      </m:dPr>
                      <m:e>
                        <m:sSub>
                          <m:sSubPr>
                            <m:ctrlPr>
                              <a:rPr lang="ar-AE" sz="3200" i="1">
                                <a:latin typeface="Cambria Math" panose="02040503050406030204" pitchFamily="18" charset="0"/>
                              </a:rPr>
                            </m:ctrlPr>
                          </m:sSubPr>
                          <m:e>
                            <m:r>
                              <a:rPr lang="ar-AE" sz="3200" i="1">
                                <a:latin typeface="Cambria Math" panose="02040503050406030204" pitchFamily="18" charset="0"/>
                              </a:rPr>
                              <m:t>𝑠</m:t>
                            </m:r>
                          </m:e>
                          <m:sub>
                            <m:r>
                              <a:rPr lang="ar-AE" sz="3200" i="1">
                                <a:latin typeface="Cambria Math" panose="02040503050406030204" pitchFamily="18" charset="0"/>
                              </a:rPr>
                              <m:t>𝑛</m:t>
                            </m:r>
                          </m:sub>
                        </m:sSub>
                      </m:e>
                    </m:d>
                  </m:oMath>
                </a14:m>
                <a:endParaRPr lang="en-IN" sz="3200" dirty="0">
                  <a:latin typeface="Times New Roman" panose="02020603050405020304" pitchFamily="18" charset="0"/>
                </a:endParaRPr>
              </a:p>
              <a:p>
                <a:pPr marL="514350" indent="-514350">
                  <a:buFont typeface="+mj-lt"/>
                  <a:buAutoNum type="arabicPeriod"/>
                </a:pPr>
                <a:r>
                  <a:rPr lang="en-IN" sz="3200" b="1" dirty="0">
                    <a:latin typeface="Times New Roman" panose="02020603050405020304" pitchFamily="18" charset="0"/>
                    <a:cs typeface="Times New Roman" panose="02020603050405020304" pitchFamily="18" charset="0"/>
                  </a:rPr>
                  <a:t>end for</a:t>
                </a:r>
                <a:endParaRPr lang="en-IN" sz="32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Select top-</a:t>
                </a:r>
                <a14:m>
                  <m:oMath xmlns:m="http://schemas.openxmlformats.org/officeDocument/2006/math">
                    <m:r>
                      <a:rPr lang="en-IN" sz="3200" i="1">
                        <a:latin typeface="Cambria Math" panose="02040503050406030204" pitchFamily="18" charset="0"/>
                      </a:rPr>
                      <m:t>𝑘</m:t>
                    </m:r>
                  </m:oMath>
                </a14:m>
                <a:r>
                  <a:rPr lang="en-IN" sz="3200" dirty="0">
                    <a:latin typeface="Times New Roman" panose="02020603050405020304" pitchFamily="18" charset="0"/>
                    <a:cs typeface="Times New Roman" panose="02020603050405020304" pitchFamily="18" charset="0"/>
                  </a:rPr>
                  <a:t> samples with highest </a:t>
                </a:r>
                <a14:m>
                  <m:oMath xmlns:m="http://schemas.openxmlformats.org/officeDocument/2006/math">
                    <m:r>
                      <a:rPr lang="en-IN" sz="3200" i="1">
                        <a:latin typeface="Cambria Math" panose="02040503050406030204" pitchFamily="18" charset="0"/>
                      </a:rPr>
                      <m:t>𝐸𝐺𝐿</m:t>
                    </m:r>
                  </m:oMath>
                </a14:m>
                <a:endParaRPr lang="en-IN" sz="3200" dirty="0">
                  <a:latin typeface="Times New Roman" panose="02020603050405020304" pitchFamily="18" charset="0"/>
                </a:endParaRP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Move selected samples from </a:t>
                </a:r>
                <a14:m>
                  <m:oMath xmlns:m="http://schemas.openxmlformats.org/officeDocument/2006/math">
                    <m:sSub>
                      <m:sSubPr>
                        <m:ctrlPr>
                          <a:rPr lang="ar-AE" sz="3200" i="1">
                            <a:latin typeface="Cambria Math" panose="02040503050406030204" pitchFamily="18" charset="0"/>
                          </a:rPr>
                        </m:ctrlPr>
                      </m:sSubPr>
                      <m:e>
                        <m:r>
                          <a:rPr lang="ar-AE" sz="3200" i="1">
                            <a:latin typeface="Cambria Math" panose="02040503050406030204" pitchFamily="18" charset="0"/>
                          </a:rPr>
                          <m:t>𝐷</m:t>
                        </m:r>
                      </m:e>
                      <m:sub>
                        <m:r>
                          <a:rPr lang="ar-AE" sz="3200" i="1">
                            <a:latin typeface="Cambria Math" panose="02040503050406030204" pitchFamily="18" charset="0"/>
                          </a:rPr>
                          <m:t>𝑈</m:t>
                        </m:r>
                      </m:sub>
                    </m:sSub>
                  </m:oMath>
                </a14:m>
                <a:r>
                  <a:rPr lang="en-IN" sz="3200" dirty="0">
                    <a:latin typeface="Times New Roman" panose="02020603050405020304" pitchFamily="18" charset="0"/>
                    <a:cs typeface="Times New Roman" panose="02020603050405020304" pitchFamily="18" charset="0"/>
                  </a:rPr>
                  <a:t>to </a:t>
                </a: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 Retrain Transformer on updated </a:t>
                </a:r>
                <a14:m>
                  <m:oMath xmlns:m="http://schemas.openxmlformats.org/officeDocument/2006/math">
                    <m:sSub>
                      <m:sSubPr>
                        <m:ctrlPr>
                          <a:rPr lang="ar-AE" sz="3200" i="1">
                            <a:latin typeface="Cambria Math" panose="02040503050406030204" pitchFamily="18" charset="0"/>
                          </a:rPr>
                        </m:ctrlPr>
                      </m:sSubPr>
                      <m:e>
                        <m:r>
                          <a:rPr lang="ar-AE" sz="3200" i="1">
                            <a:latin typeface="Cambria Math" panose="02040503050406030204" pitchFamily="18" charset="0"/>
                          </a:rPr>
                          <m:t>𝐷</m:t>
                        </m:r>
                      </m:e>
                      <m:sub>
                        <m:r>
                          <a:rPr lang="ar-AE" sz="3200" i="1">
                            <a:latin typeface="Cambria Math" panose="02040503050406030204" pitchFamily="18" charset="0"/>
                          </a:rPr>
                          <m:t>𝐿</m:t>
                        </m:r>
                      </m:sub>
                    </m:sSub>
                  </m:oMath>
                </a14:m>
                <a:endParaRPr lang="en-IN" sz="3200" dirty="0">
                  <a:latin typeface="Times New Roman" panose="02020603050405020304" pitchFamily="18" charset="0"/>
                </a:endParaRP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e</a:t>
                </a:r>
                <a:r>
                  <a:rPr lang="en-IN" sz="3200" b="1" dirty="0">
                    <a:latin typeface="Times New Roman" panose="02020603050405020304" pitchFamily="18" charset="0"/>
                    <a:cs typeface="Times New Roman" panose="02020603050405020304" pitchFamily="18" charset="0"/>
                  </a:rPr>
                  <a:t>nd while</a:t>
                </a:r>
                <a:endParaRPr lang="en-IN" sz="32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3200" dirty="0">
                    <a:latin typeface="Times New Roman" panose="02020603050405020304" pitchFamily="18" charset="0"/>
                    <a:cs typeface="Times New Roman" panose="02020603050405020304" pitchFamily="18" charset="0"/>
                  </a:rPr>
                  <a:t> Predict final sentiment </a:t>
                </a:r>
                <a14:m>
                  <m:oMath xmlns:m="http://schemas.openxmlformats.org/officeDocument/2006/math">
                    <m:acc>
                      <m:accPr>
                        <m:chr m:val="̂"/>
                        <m:ctrlPr>
                          <a:rPr lang="ar-AE" sz="3200" i="1">
                            <a:latin typeface="Cambria Math" panose="02040503050406030204" pitchFamily="18" charset="0"/>
                          </a:rPr>
                        </m:ctrlPr>
                      </m:accPr>
                      <m:e>
                        <m:r>
                          <a:rPr lang="ar-AE" sz="3200" i="1">
                            <a:latin typeface="Cambria Math" panose="02040503050406030204" pitchFamily="18" charset="0"/>
                          </a:rPr>
                          <m:t>𝑦</m:t>
                        </m:r>
                      </m:e>
                    </m:acc>
                  </m:oMath>
                </a14:m>
                <a:endParaRPr lang="ar-AE" sz="32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72983DC2-992C-4CC2-B1A2-DBC9D80ADA2D}"/>
                  </a:ext>
                </a:extLst>
              </p:cNvPr>
              <p:cNvSpPr txBox="1">
                <a:spLocks noRot="1" noChangeAspect="1" noMove="1" noResize="1" noEditPoints="1" noAdjustHandles="1" noChangeArrowheads="1" noChangeShapeType="1" noTextEdit="1"/>
              </p:cNvSpPr>
              <p:nvPr/>
            </p:nvSpPr>
            <p:spPr>
              <a:xfrm>
                <a:off x="1333287" y="2327344"/>
                <a:ext cx="12230313" cy="7478970"/>
              </a:xfrm>
              <a:prstGeom prst="rect">
                <a:avLst/>
              </a:prstGeom>
              <a:blipFill>
                <a:blip r:embed="rId2"/>
                <a:stretch>
                  <a:fillRect l="-1296" t="-1141" b="-1630"/>
                </a:stretch>
              </a:blipFill>
            </p:spPr>
            <p:txBody>
              <a:bodyPr/>
              <a:lstStyle/>
              <a:p>
                <a:r>
                  <a:rPr lang="en-IN">
                    <a:noFill/>
                  </a:rPr>
                  <a:t> </a:t>
                </a:r>
              </a:p>
            </p:txBody>
          </p:sp>
        </mc:Fallback>
      </mc:AlternateContent>
      <p:sp>
        <p:nvSpPr>
          <p:cNvPr id="4" name="Freeform 7">
            <a:extLst>
              <a:ext uri="{FF2B5EF4-FFF2-40B4-BE49-F238E27FC236}">
                <a16:creationId xmlns:a16="http://schemas.microsoft.com/office/drawing/2014/main" id="{3BC514D3-DD19-3EDD-1257-CC0899F08E11}"/>
              </a:ext>
            </a:extLst>
          </p:cNvPr>
          <p:cNvSpPr/>
          <p:nvPr/>
        </p:nvSpPr>
        <p:spPr>
          <a:xfrm rot="5400000">
            <a:off x="13535187" y="7133838"/>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grpSp>
        <p:nvGrpSpPr>
          <p:cNvPr id="7" name="Group 6">
            <a:extLst>
              <a:ext uri="{FF2B5EF4-FFF2-40B4-BE49-F238E27FC236}">
                <a16:creationId xmlns:a16="http://schemas.microsoft.com/office/drawing/2014/main" id="{FFB4E317-6F90-D4BF-5BBA-A9112D6F1086}"/>
              </a:ext>
            </a:extLst>
          </p:cNvPr>
          <p:cNvGrpSpPr/>
          <p:nvPr/>
        </p:nvGrpSpPr>
        <p:grpSpPr>
          <a:xfrm>
            <a:off x="15875630" y="9334500"/>
            <a:ext cx="1190712" cy="1190712"/>
            <a:chOff x="0" y="0"/>
            <a:chExt cx="812800" cy="812800"/>
          </a:xfrm>
        </p:grpSpPr>
        <p:sp>
          <p:nvSpPr>
            <p:cNvPr id="8" name="Freeform 7">
              <a:extLst>
                <a:ext uri="{FF2B5EF4-FFF2-40B4-BE49-F238E27FC236}">
                  <a16:creationId xmlns:a16="http://schemas.microsoft.com/office/drawing/2014/main" id="{1E107C97-5737-3583-917F-7D5DDE41B05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9" name="TextBox 8">
              <a:extLst>
                <a:ext uri="{FF2B5EF4-FFF2-40B4-BE49-F238E27FC236}">
                  <a16:creationId xmlns:a16="http://schemas.microsoft.com/office/drawing/2014/main" id="{2E97A4FD-973D-8126-D7AD-E2403B9D4537}"/>
                </a:ext>
              </a:extLst>
            </p:cNvPr>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10" name="Freeform 9">
            <a:extLst>
              <a:ext uri="{FF2B5EF4-FFF2-40B4-BE49-F238E27FC236}">
                <a16:creationId xmlns:a16="http://schemas.microsoft.com/office/drawing/2014/main" id="{F511B260-D7CF-6882-13DC-A94CE7D001AE}"/>
              </a:ext>
            </a:extLst>
          </p:cNvPr>
          <p:cNvSpPr/>
          <p:nvPr/>
        </p:nvSpPr>
        <p:spPr>
          <a:xfrm>
            <a:off x="15207460" y="7876541"/>
            <a:ext cx="2618042" cy="4114800"/>
          </a:xfrm>
          <a:custGeom>
            <a:avLst/>
            <a:gdLst/>
            <a:ahLst/>
            <a:cxnLst/>
            <a:rect l="l" t="t" r="r" b="b"/>
            <a:pathLst>
              <a:path w="2618042" h="4114800">
                <a:moveTo>
                  <a:pt x="0" y="0"/>
                </a:moveTo>
                <a:lnTo>
                  <a:pt x="2618042" y="0"/>
                </a:lnTo>
                <a:lnTo>
                  <a:pt x="2618042"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11" name="Group 2">
            <a:extLst>
              <a:ext uri="{FF2B5EF4-FFF2-40B4-BE49-F238E27FC236}">
                <a16:creationId xmlns:a16="http://schemas.microsoft.com/office/drawing/2014/main" id="{1B26097E-5F11-5375-E5FB-E5DE0A7FB719}"/>
              </a:ext>
            </a:extLst>
          </p:cNvPr>
          <p:cNvGrpSpPr/>
          <p:nvPr/>
        </p:nvGrpSpPr>
        <p:grpSpPr>
          <a:xfrm>
            <a:off x="-859253" y="556477"/>
            <a:ext cx="20006506" cy="1389902"/>
            <a:chOff x="0" y="0"/>
            <a:chExt cx="5295481" cy="1052333"/>
          </a:xfrm>
        </p:grpSpPr>
        <p:sp>
          <p:nvSpPr>
            <p:cNvPr id="12" name="Freeform 3">
              <a:extLst>
                <a:ext uri="{FF2B5EF4-FFF2-40B4-BE49-F238E27FC236}">
                  <a16:creationId xmlns:a16="http://schemas.microsoft.com/office/drawing/2014/main" id="{97E1411A-E528-F28C-05AC-CEE6F43552F8}"/>
                </a:ext>
              </a:extLst>
            </p:cNvPr>
            <p:cNvSpPr/>
            <p:nvPr/>
          </p:nvSpPr>
          <p:spPr>
            <a:xfrm>
              <a:off x="0" y="0"/>
              <a:ext cx="5295481" cy="1052333"/>
            </a:xfrm>
            <a:custGeom>
              <a:avLst/>
              <a:gdLst/>
              <a:ahLst/>
              <a:cxnLst/>
              <a:rect l="l" t="t" r="r" b="b"/>
              <a:pathLst>
                <a:path w="5295481" h="1052333">
                  <a:moveTo>
                    <a:pt x="0" y="0"/>
                  </a:moveTo>
                  <a:lnTo>
                    <a:pt x="5295481" y="0"/>
                  </a:lnTo>
                  <a:lnTo>
                    <a:pt x="5295481" y="1052333"/>
                  </a:lnTo>
                  <a:lnTo>
                    <a:pt x="0" y="1052333"/>
                  </a:lnTo>
                  <a:close/>
                </a:path>
              </a:pathLst>
            </a:custGeom>
            <a:solidFill>
              <a:srgbClr val="EAD6B8"/>
            </a:solidFill>
          </p:spPr>
          <p:txBody>
            <a:bodyPr/>
            <a:lstStyle/>
            <a:p>
              <a:endParaRPr lang="en-IN"/>
            </a:p>
          </p:txBody>
        </p:sp>
        <p:sp>
          <p:nvSpPr>
            <p:cNvPr id="13" name="TextBox 4">
              <a:extLst>
                <a:ext uri="{FF2B5EF4-FFF2-40B4-BE49-F238E27FC236}">
                  <a16:creationId xmlns:a16="http://schemas.microsoft.com/office/drawing/2014/main" id="{200729A8-4B8B-B056-6064-287AFD4F7A6F}"/>
                </a:ext>
              </a:extLst>
            </p:cNvPr>
            <p:cNvSpPr txBox="1"/>
            <p:nvPr/>
          </p:nvSpPr>
          <p:spPr>
            <a:xfrm>
              <a:off x="0" y="-47625"/>
              <a:ext cx="5295481" cy="1099958"/>
            </a:xfrm>
            <a:prstGeom prst="rect">
              <a:avLst/>
            </a:prstGeom>
          </p:spPr>
          <p:txBody>
            <a:bodyPr lIns="50800" tIns="50800" rIns="50800" bIns="50800" rtlCol="0" anchor="ctr"/>
            <a:lstStyle/>
            <a:p>
              <a:pPr algn="ctr">
                <a:lnSpc>
                  <a:spcPts val="3012"/>
                </a:lnSpc>
              </a:pPr>
              <a:endParaRPr/>
            </a:p>
          </p:txBody>
        </p:sp>
      </p:grpSp>
      <p:sp>
        <p:nvSpPr>
          <p:cNvPr id="14" name="TextBox 13">
            <a:extLst>
              <a:ext uri="{FF2B5EF4-FFF2-40B4-BE49-F238E27FC236}">
                <a16:creationId xmlns:a16="http://schemas.microsoft.com/office/drawing/2014/main" id="{E6BB2BE2-DD37-2E62-59C0-1FB40F9C76C7}"/>
              </a:ext>
            </a:extLst>
          </p:cNvPr>
          <p:cNvSpPr txBox="1"/>
          <p:nvPr/>
        </p:nvSpPr>
        <p:spPr>
          <a:xfrm>
            <a:off x="914400" y="959040"/>
            <a:ext cx="9144000"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Algorithm </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472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CA3CE52-35B1-A84F-D90C-CFDD699BBF8A}"/>
              </a:ext>
            </a:extLst>
          </p:cNvPr>
          <p:cNvPicPr>
            <a:picLocks noChangeAspect="1"/>
          </p:cNvPicPr>
          <p:nvPr/>
        </p:nvPicPr>
        <p:blipFill>
          <a:blip r:embed="rId2"/>
          <a:stretch>
            <a:fillRect/>
          </a:stretch>
        </p:blipFill>
        <p:spPr>
          <a:xfrm>
            <a:off x="11208940" y="876300"/>
            <a:ext cx="5021660" cy="2904570"/>
          </a:xfrm>
          <a:prstGeom prst="rect">
            <a:avLst/>
          </a:prstGeom>
        </p:spPr>
      </p:pic>
      <p:sp>
        <p:nvSpPr>
          <p:cNvPr id="4" name="TextBox 3">
            <a:extLst>
              <a:ext uri="{FF2B5EF4-FFF2-40B4-BE49-F238E27FC236}">
                <a16:creationId xmlns:a16="http://schemas.microsoft.com/office/drawing/2014/main" id="{F84A172D-CACE-65E8-1108-1635274209F4}"/>
              </a:ext>
            </a:extLst>
          </p:cNvPr>
          <p:cNvSpPr txBox="1"/>
          <p:nvPr/>
        </p:nvSpPr>
        <p:spPr>
          <a:xfrm>
            <a:off x="551835" y="1606525"/>
            <a:ext cx="9982200" cy="6986528"/>
          </a:xfrm>
          <a:prstGeom prst="rect">
            <a:avLst/>
          </a:prstGeom>
          <a:noFill/>
        </p:spPr>
        <p:txBody>
          <a:bodyPr wrap="square" rtlCol="0">
            <a:spAutoFit/>
          </a:bodyPr>
          <a:lstStyle/>
          <a:p>
            <a:pPr>
              <a:lnSpc>
                <a:spcPct val="150000"/>
              </a:lnSpc>
            </a:pPr>
            <a:r>
              <a:rPr lang="en-IN" sz="3200" b="1" dirty="0">
                <a:latin typeface="Times New Roman" panose="02020603050405020304" pitchFamily="18" charset="0"/>
                <a:cs typeface="Times New Roman" panose="02020603050405020304" pitchFamily="18" charset="0"/>
              </a:rPr>
              <a:t>Tools &amp; Learning Status</a:t>
            </a:r>
            <a:endParaRPr lang="en-IN" sz="3200" dirty="0">
              <a:latin typeface="Times New Roman" panose="02020603050405020304" pitchFamily="18" charset="0"/>
              <a:cs typeface="Times New Roman" panose="02020603050405020304" pitchFamily="18" charset="0"/>
            </a:endParaRPr>
          </a:p>
          <a:p>
            <a:pPr>
              <a:lnSpc>
                <a:spcPct val="150000"/>
              </a:lnSpc>
            </a:pPr>
            <a:r>
              <a:rPr lang="en-IN" sz="3200" dirty="0">
                <a:latin typeface="Times New Roman" panose="02020603050405020304" pitchFamily="18" charset="0"/>
                <a:cs typeface="Times New Roman" panose="02020603050405020304" pitchFamily="18" charset="0"/>
              </a:rPr>
              <a:t>Content:</a:t>
            </a:r>
          </a:p>
          <a:p>
            <a:r>
              <a:rPr lang="en-IN" sz="3200" dirty="0">
                <a:latin typeface="Times New Roman" panose="02020603050405020304" pitchFamily="18" charset="0"/>
                <a:cs typeface="Times New Roman" panose="02020603050405020304" pitchFamily="18" charset="0"/>
              </a:rPr>
              <a:t>Programming: Python</a:t>
            </a:r>
          </a:p>
          <a:p>
            <a:r>
              <a:rPr lang="en-IN" sz="3200" dirty="0">
                <a:latin typeface="Times New Roman" panose="02020603050405020304" pitchFamily="18" charset="0"/>
                <a:cs typeface="Times New Roman" panose="02020603050405020304" pitchFamily="18" charset="0"/>
              </a:rPr>
              <a:t>Libraries: NumPy, Pandas, Scikit-learn, </a:t>
            </a:r>
            <a:r>
              <a:rPr lang="en-IN" sz="3200" dirty="0" err="1">
                <a:latin typeface="Times New Roman" panose="02020603050405020304" pitchFamily="18" charset="0"/>
                <a:cs typeface="Times New Roman" panose="02020603050405020304" pitchFamily="18" charset="0"/>
              </a:rPr>
              <a:t>PyTorch</a:t>
            </a:r>
            <a:r>
              <a:rPr lang="en-IN" sz="3200" dirty="0">
                <a:latin typeface="Times New Roman" panose="02020603050405020304" pitchFamily="18" charset="0"/>
                <a:cs typeface="Times New Roman" panose="02020603050405020304" pitchFamily="18" charset="0"/>
              </a:rPr>
              <a:t>, Transformers</a:t>
            </a:r>
          </a:p>
          <a:p>
            <a:r>
              <a:rPr lang="en-IN" sz="3200" dirty="0">
                <a:latin typeface="Times New Roman" panose="02020603050405020304" pitchFamily="18" charset="0"/>
                <a:cs typeface="Times New Roman" panose="02020603050405020304" pitchFamily="18" charset="0"/>
              </a:rPr>
              <a:t>Platform: Google </a:t>
            </a:r>
            <a:r>
              <a:rPr lang="en-IN" sz="3200" dirty="0" err="1">
                <a:latin typeface="Times New Roman" panose="02020603050405020304" pitchFamily="18" charset="0"/>
                <a:cs typeface="Times New Roman" panose="02020603050405020304" pitchFamily="18" charset="0"/>
              </a:rPr>
              <a:t>Colab</a:t>
            </a:r>
            <a:r>
              <a:rPr lang="en-IN" sz="3200" dirty="0">
                <a:latin typeface="Times New Roman" panose="02020603050405020304" pitchFamily="18" charset="0"/>
                <a:cs typeface="Times New Roman" panose="02020603050405020304" pitchFamily="18" charset="0"/>
              </a:rPr>
              <a:t> (GPU Enabled)</a:t>
            </a:r>
          </a:p>
          <a:p>
            <a:r>
              <a:rPr lang="en-IN" sz="3200" dirty="0">
                <a:latin typeface="Times New Roman" panose="02020603050405020304" pitchFamily="18" charset="0"/>
                <a:cs typeface="Times New Roman" panose="02020603050405020304" pitchFamily="18" charset="0"/>
              </a:rPr>
              <a:t>Visualization: Matplotlib, Seaborn</a:t>
            </a:r>
          </a:p>
          <a:p>
            <a:r>
              <a:rPr lang="en-IN" sz="3200" dirty="0">
                <a:latin typeface="Times New Roman" panose="02020603050405020304" pitchFamily="18" charset="0"/>
                <a:cs typeface="Times New Roman" panose="02020603050405020304" pitchFamily="18" charset="0"/>
              </a:rPr>
              <a:t>Dataset Handling: IMDB + Twitter dataset</a:t>
            </a:r>
          </a:p>
          <a:p>
            <a:pPr>
              <a:lnSpc>
                <a:spcPct val="150000"/>
              </a:lnSpc>
            </a:pPr>
            <a:r>
              <a:rPr lang="en-IN" sz="3200" b="1" dirty="0">
                <a:latin typeface="Times New Roman" panose="02020603050405020304" pitchFamily="18" charset="0"/>
                <a:cs typeface="Times New Roman" panose="02020603050405020304" pitchFamily="18" charset="0"/>
              </a:rPr>
              <a:t>Learning Status:</a:t>
            </a:r>
            <a:endParaRPr lang="en-IN" sz="3200" dirty="0">
              <a:latin typeface="Times New Roman" panose="02020603050405020304" pitchFamily="18" charset="0"/>
              <a:cs typeface="Times New Roman" panose="02020603050405020304" pitchFamily="18" charset="0"/>
            </a:endParaRPr>
          </a:p>
          <a:p>
            <a:pPr>
              <a:lnSpc>
                <a:spcPct val="150000"/>
              </a:lnSpc>
            </a:pPr>
            <a:r>
              <a:rPr lang="en-IN" sz="3200" dirty="0">
                <a:latin typeface="Times New Roman" panose="02020603050405020304" pitchFamily="18" charset="0"/>
                <a:cs typeface="Times New Roman" panose="02020603050405020304" pitchFamily="18" charset="0"/>
              </a:rPr>
              <a:t>Completed basics of NLP and Transformers</a:t>
            </a:r>
          </a:p>
          <a:p>
            <a:r>
              <a:rPr lang="en-IN" sz="3200" dirty="0">
                <a:latin typeface="Times New Roman" panose="02020603050405020304" pitchFamily="18" charset="0"/>
                <a:cs typeface="Times New Roman" panose="02020603050405020304" pitchFamily="18" charset="0"/>
              </a:rPr>
              <a:t>Learned BERT, </a:t>
            </a:r>
            <a:r>
              <a:rPr lang="en-IN" sz="3200" dirty="0" err="1">
                <a:latin typeface="Times New Roman" panose="02020603050405020304" pitchFamily="18" charset="0"/>
                <a:cs typeface="Times New Roman" panose="02020603050405020304" pitchFamily="18" charset="0"/>
              </a:rPr>
              <a:t>RoBERTa</a:t>
            </a: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DistilBERT</a:t>
            </a:r>
            <a:r>
              <a:rPr lang="en-IN" sz="3200" dirty="0">
                <a:latin typeface="Times New Roman" panose="02020603050405020304" pitchFamily="18" charset="0"/>
                <a:cs typeface="Times New Roman" panose="02020603050405020304" pitchFamily="18" charset="0"/>
              </a:rPr>
              <a:t> models</a:t>
            </a:r>
          </a:p>
          <a:p>
            <a:r>
              <a:rPr lang="en-IN" sz="3200" dirty="0">
                <a:latin typeface="Times New Roman" panose="02020603050405020304" pitchFamily="18" charset="0"/>
                <a:cs typeface="Times New Roman" panose="02020603050405020304" pitchFamily="18" charset="0"/>
              </a:rPr>
              <a:t>Understood Active Learning (EGL method)</a:t>
            </a:r>
          </a:p>
        </p:txBody>
      </p:sp>
      <p:sp>
        <p:nvSpPr>
          <p:cNvPr id="10" name="AutoShape 7">
            <a:extLst>
              <a:ext uri="{FF2B5EF4-FFF2-40B4-BE49-F238E27FC236}">
                <a16:creationId xmlns:a16="http://schemas.microsoft.com/office/drawing/2014/main" id="{61A6363B-3599-29A6-2A22-83D71523DD5B}"/>
              </a:ext>
            </a:extLst>
          </p:cNvPr>
          <p:cNvSpPr/>
          <p:nvPr/>
        </p:nvSpPr>
        <p:spPr>
          <a:xfrm>
            <a:off x="6783460" y="8789538"/>
            <a:ext cx="10475840" cy="0"/>
          </a:xfrm>
          <a:prstGeom prst="line">
            <a:avLst/>
          </a:prstGeom>
          <a:ln w="38100" cap="flat">
            <a:solidFill>
              <a:srgbClr val="BCA37F"/>
            </a:solidFill>
            <a:prstDash val="solid"/>
            <a:headEnd type="none" w="sm" len="sm"/>
            <a:tailEnd type="none" w="sm" len="sm"/>
          </a:ln>
        </p:spPr>
        <p:txBody>
          <a:bodyPr/>
          <a:lstStyle/>
          <a:p>
            <a:endParaRPr lang="en-IN" sz="1600">
              <a:latin typeface="Times New Roman" panose="02020603050405020304" pitchFamily="18" charset="0"/>
              <a:cs typeface="Times New Roman" panose="02020603050405020304" pitchFamily="18" charset="0"/>
            </a:endParaRPr>
          </a:p>
        </p:txBody>
      </p:sp>
      <p:sp>
        <p:nvSpPr>
          <p:cNvPr id="11" name="Freeform 5">
            <a:extLst>
              <a:ext uri="{FF2B5EF4-FFF2-40B4-BE49-F238E27FC236}">
                <a16:creationId xmlns:a16="http://schemas.microsoft.com/office/drawing/2014/main" id="{51264623-5F87-8F4D-3E6A-6343E2134DC6}"/>
              </a:ext>
            </a:extLst>
          </p:cNvPr>
          <p:cNvSpPr/>
          <p:nvPr/>
        </p:nvSpPr>
        <p:spPr>
          <a:xfrm>
            <a:off x="1280343" y="8446262"/>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160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80831AF1-DD99-8FE0-3593-6B716E354DC4}"/>
              </a:ext>
            </a:extLst>
          </p:cNvPr>
          <p:cNvPicPr>
            <a:picLocks noChangeAspect="1"/>
          </p:cNvPicPr>
          <p:nvPr/>
        </p:nvPicPr>
        <p:blipFill>
          <a:blip r:embed="rId5"/>
          <a:srcRect r="10200" b="2464"/>
          <a:stretch>
            <a:fillRect/>
          </a:stretch>
        </p:blipFill>
        <p:spPr>
          <a:xfrm>
            <a:off x="13607845" y="5083792"/>
            <a:ext cx="4114800" cy="3614424"/>
          </a:xfrm>
          <a:prstGeom prst="rect">
            <a:avLst/>
          </a:prstGeom>
        </p:spPr>
      </p:pic>
      <p:grpSp>
        <p:nvGrpSpPr>
          <p:cNvPr id="16" name="Group 10">
            <a:extLst>
              <a:ext uri="{FF2B5EF4-FFF2-40B4-BE49-F238E27FC236}">
                <a16:creationId xmlns:a16="http://schemas.microsoft.com/office/drawing/2014/main" id="{3C4AF8AE-C1E9-A2C3-93C8-2664095A800B}"/>
              </a:ext>
            </a:extLst>
          </p:cNvPr>
          <p:cNvGrpSpPr/>
          <p:nvPr/>
        </p:nvGrpSpPr>
        <p:grpSpPr>
          <a:xfrm>
            <a:off x="-1073290" y="286928"/>
            <a:ext cx="3086100" cy="1178743"/>
            <a:chOff x="0" y="0"/>
            <a:chExt cx="812800" cy="310451"/>
          </a:xfrm>
        </p:grpSpPr>
        <p:sp>
          <p:nvSpPr>
            <p:cNvPr id="17" name="Freeform 11">
              <a:extLst>
                <a:ext uri="{FF2B5EF4-FFF2-40B4-BE49-F238E27FC236}">
                  <a16:creationId xmlns:a16="http://schemas.microsoft.com/office/drawing/2014/main" id="{3B60CE91-1579-3352-09EE-EC61593D5D36}"/>
                </a:ext>
              </a:extLst>
            </p:cNvPr>
            <p:cNvSpPr/>
            <p:nvPr/>
          </p:nvSpPr>
          <p:spPr>
            <a:xfrm>
              <a:off x="0" y="0"/>
              <a:ext cx="812800" cy="310451"/>
            </a:xfrm>
            <a:custGeom>
              <a:avLst/>
              <a:gdLst/>
              <a:ahLst/>
              <a:cxnLst/>
              <a:rect l="l" t="t" r="r" b="b"/>
              <a:pathLst>
                <a:path w="812800" h="310451">
                  <a:moveTo>
                    <a:pt x="0" y="0"/>
                  </a:moveTo>
                  <a:lnTo>
                    <a:pt x="812800" y="0"/>
                  </a:lnTo>
                  <a:lnTo>
                    <a:pt x="812800" y="310451"/>
                  </a:lnTo>
                  <a:lnTo>
                    <a:pt x="0" y="310451"/>
                  </a:lnTo>
                  <a:close/>
                </a:path>
              </a:pathLst>
            </a:custGeom>
            <a:solidFill>
              <a:srgbClr val="EAD6B8"/>
            </a:solidFill>
          </p:spPr>
          <p:txBody>
            <a:bodyPr/>
            <a:lstStyle/>
            <a:p>
              <a:endParaRPr lang="en-IN" sz="1600">
                <a:latin typeface="Times New Roman" panose="02020603050405020304" pitchFamily="18" charset="0"/>
                <a:cs typeface="Times New Roman" panose="02020603050405020304" pitchFamily="18" charset="0"/>
              </a:endParaRPr>
            </a:p>
          </p:txBody>
        </p:sp>
        <p:sp>
          <p:nvSpPr>
            <p:cNvPr id="18" name="TextBox 12">
              <a:extLst>
                <a:ext uri="{FF2B5EF4-FFF2-40B4-BE49-F238E27FC236}">
                  <a16:creationId xmlns:a16="http://schemas.microsoft.com/office/drawing/2014/main" id="{AB100F4F-8386-9086-90A5-A17D81674459}"/>
                </a:ext>
              </a:extLst>
            </p:cNvPr>
            <p:cNvSpPr txBox="1"/>
            <p:nvPr/>
          </p:nvSpPr>
          <p:spPr>
            <a:xfrm>
              <a:off x="0" y="-47625"/>
              <a:ext cx="812800" cy="358076"/>
            </a:xfrm>
            <a:prstGeom prst="rect">
              <a:avLst/>
            </a:prstGeom>
          </p:spPr>
          <p:txBody>
            <a:bodyPr lIns="50800" tIns="50800" rIns="50800" bIns="50800" rtlCol="0" anchor="ctr"/>
            <a:lstStyle/>
            <a:p>
              <a:pPr algn="ctr">
                <a:lnSpc>
                  <a:spcPts val="3012"/>
                </a:lnSpc>
              </a:pPr>
              <a:endParaRPr sz="1600">
                <a:latin typeface="Times New Roman" panose="02020603050405020304" pitchFamily="18" charset="0"/>
                <a:cs typeface="Times New Roman" panose="02020603050405020304" pitchFamily="18" charset="0"/>
              </a:endParaRPr>
            </a:p>
          </p:txBody>
        </p:sp>
      </p:grpSp>
      <p:sp>
        <p:nvSpPr>
          <p:cNvPr id="23" name="Freeform 15">
            <a:extLst>
              <a:ext uri="{FF2B5EF4-FFF2-40B4-BE49-F238E27FC236}">
                <a16:creationId xmlns:a16="http://schemas.microsoft.com/office/drawing/2014/main" id="{7DAB2F6E-5AA2-9472-AF20-8BCAD10F9C77}"/>
              </a:ext>
            </a:extLst>
          </p:cNvPr>
          <p:cNvSpPr/>
          <p:nvPr/>
        </p:nvSpPr>
        <p:spPr>
          <a:xfrm>
            <a:off x="15982142" y="9001360"/>
            <a:ext cx="1902376" cy="2989982"/>
          </a:xfrm>
          <a:custGeom>
            <a:avLst/>
            <a:gdLst/>
            <a:ahLst/>
            <a:cxnLst/>
            <a:rect l="l" t="t" r="r" b="b"/>
            <a:pathLst>
              <a:path w="1902376" h="2989982">
                <a:moveTo>
                  <a:pt x="0" y="0"/>
                </a:moveTo>
                <a:lnTo>
                  <a:pt x="1902376" y="0"/>
                </a:lnTo>
                <a:lnTo>
                  <a:pt x="1902376" y="2989981"/>
                </a:lnTo>
                <a:lnTo>
                  <a:pt x="0" y="298998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extLst>
      <p:ext uri="{BB962C8B-B14F-4D97-AF65-F5344CB8AC3E}">
        <p14:creationId xmlns:p14="http://schemas.microsoft.com/office/powerpoint/2010/main" val="3125165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A0DB4B-433B-20C8-EE2E-5CA3D6E206BE}"/>
              </a:ext>
            </a:extLst>
          </p:cNvPr>
          <p:cNvSpPr txBox="1"/>
          <p:nvPr/>
        </p:nvSpPr>
        <p:spPr>
          <a:xfrm>
            <a:off x="2057400" y="2628900"/>
            <a:ext cx="13030200" cy="6001643"/>
          </a:xfrm>
          <a:prstGeom prst="rect">
            <a:avLst/>
          </a:prstGeom>
          <a:noFill/>
        </p:spPr>
        <p:txBody>
          <a:bodyPr wrap="square">
            <a:spAutoFit/>
          </a:bodyPr>
          <a:lstStyle/>
          <a:p>
            <a:pPr>
              <a:buNone/>
            </a:pPr>
            <a:r>
              <a:rPr lang="en-IN" sz="3200" dirty="0">
                <a:latin typeface="Times New Roman" panose="02020603050405020304" pitchFamily="18" charset="0"/>
                <a:cs typeface="Times New Roman" panose="02020603050405020304" pitchFamily="18" charset="0"/>
              </a:rPr>
              <a:t>• Evaluated on </a:t>
            </a:r>
            <a:r>
              <a:rPr lang="en-IN" sz="3200" b="1" dirty="0">
                <a:latin typeface="Times New Roman" panose="02020603050405020304" pitchFamily="18" charset="0"/>
                <a:cs typeface="Times New Roman" panose="02020603050405020304" pitchFamily="18" charset="0"/>
              </a:rPr>
              <a:t>IMDB (Binary)</a:t>
            </a:r>
            <a:r>
              <a:rPr lang="en-IN" sz="3200" dirty="0">
                <a:latin typeface="Times New Roman" panose="02020603050405020304" pitchFamily="18" charset="0"/>
                <a:cs typeface="Times New Roman" panose="02020603050405020304" pitchFamily="18" charset="0"/>
              </a:rPr>
              <a:t> and </a:t>
            </a:r>
            <a:r>
              <a:rPr lang="en-IN" sz="3200" b="1" dirty="0">
                <a:latin typeface="Times New Roman" panose="02020603050405020304" pitchFamily="18" charset="0"/>
                <a:cs typeface="Times New Roman" panose="02020603050405020304" pitchFamily="18" charset="0"/>
              </a:rPr>
              <a:t>Twitter (Multi-class)</a:t>
            </a:r>
            <a:r>
              <a:rPr lang="en-IN" sz="3200" dirty="0">
                <a:latin typeface="Times New Roman" panose="02020603050405020304" pitchFamily="18" charset="0"/>
                <a:cs typeface="Times New Roman" panose="02020603050405020304" pitchFamily="18" charset="0"/>
              </a:rPr>
              <a:t> datasets.</a:t>
            </a:r>
          </a:p>
          <a:p>
            <a:pPr>
              <a:buNone/>
            </a:pPr>
            <a:r>
              <a:rPr lang="en-IN" sz="3200" dirty="0">
                <a:latin typeface="Times New Roman" panose="02020603050405020304" pitchFamily="18" charset="0"/>
                <a:cs typeface="Times New Roman" panose="02020603050405020304" pitchFamily="18" charset="0"/>
              </a:rPr>
              <a:t>• Performance metrics used: </a:t>
            </a:r>
            <a:r>
              <a:rPr lang="en-IN" sz="3200" b="1" dirty="0">
                <a:latin typeface="Times New Roman" panose="02020603050405020304" pitchFamily="18" charset="0"/>
                <a:cs typeface="Times New Roman" panose="02020603050405020304" pitchFamily="18" charset="0"/>
              </a:rPr>
              <a:t>Accuracy, Precision, Recall, F1-Score, Confusion Matrix, ROC-AUC</a:t>
            </a:r>
            <a:r>
              <a:rPr lang="en-IN" sz="3200" dirty="0">
                <a:latin typeface="Times New Roman" panose="02020603050405020304" pitchFamily="18" charset="0"/>
                <a:cs typeface="Times New Roman" panose="02020603050405020304" pitchFamily="18" charset="0"/>
              </a:rPr>
              <a:t>.</a:t>
            </a:r>
          </a:p>
          <a:p>
            <a:pPr>
              <a:buNone/>
            </a:pPr>
            <a:r>
              <a:rPr lang="en-IN" sz="3200" dirty="0">
                <a:latin typeface="Times New Roman" panose="02020603050405020304" pitchFamily="18" charset="0"/>
                <a:cs typeface="Times New Roman" panose="02020603050405020304" pitchFamily="18" charset="0"/>
              </a:rPr>
              <a:t>• </a:t>
            </a:r>
            <a:r>
              <a:rPr lang="en-IN" sz="3200" b="1" dirty="0" err="1">
                <a:latin typeface="Times New Roman" panose="02020603050405020304" pitchFamily="18" charset="0"/>
                <a:cs typeface="Times New Roman" panose="02020603050405020304" pitchFamily="18" charset="0"/>
              </a:rPr>
              <a:t>DeBERTa</a:t>
            </a:r>
            <a:r>
              <a:rPr lang="en-IN" sz="3200" b="1" dirty="0">
                <a:latin typeface="Times New Roman" panose="02020603050405020304" pitchFamily="18" charset="0"/>
                <a:cs typeface="Times New Roman" panose="02020603050405020304" pitchFamily="18" charset="0"/>
              </a:rPr>
              <a:t> + EGL achieved highest accuracy (~94%)</a:t>
            </a:r>
            <a:r>
              <a:rPr lang="en-IN" sz="3200" dirty="0">
                <a:latin typeface="Times New Roman" panose="02020603050405020304" pitchFamily="18" charset="0"/>
                <a:cs typeface="Times New Roman" panose="02020603050405020304" pitchFamily="18" charset="0"/>
              </a:rPr>
              <a:t> on IMDB dataset.</a:t>
            </a:r>
          </a:p>
          <a:p>
            <a:pPr>
              <a:buNone/>
            </a:pPr>
            <a:r>
              <a:rPr lang="en-IN" sz="3200" dirty="0">
                <a:latin typeface="Times New Roman" panose="02020603050405020304" pitchFamily="18" charset="0"/>
                <a:cs typeface="Times New Roman" panose="02020603050405020304" pitchFamily="18" charset="0"/>
              </a:rPr>
              <a:t>• </a:t>
            </a:r>
            <a:r>
              <a:rPr lang="en-IN" sz="3200" dirty="0" err="1">
                <a:latin typeface="Times New Roman" panose="02020603050405020304" pitchFamily="18" charset="0"/>
                <a:cs typeface="Times New Roman" panose="02020603050405020304" pitchFamily="18" charset="0"/>
              </a:rPr>
              <a:t>RoBERTa</a:t>
            </a:r>
            <a:r>
              <a:rPr lang="en-IN" sz="3200" dirty="0">
                <a:latin typeface="Times New Roman" panose="02020603050405020304" pitchFamily="18" charset="0"/>
                <a:cs typeface="Times New Roman" panose="02020603050405020304" pitchFamily="18" charset="0"/>
              </a:rPr>
              <a:t> showed strong contextual understanding with high AUC.</a:t>
            </a:r>
          </a:p>
          <a:p>
            <a:pPr>
              <a:buNone/>
            </a:pPr>
            <a:r>
              <a:rPr lang="en-IN" sz="3200" dirty="0">
                <a:latin typeface="Times New Roman" panose="02020603050405020304" pitchFamily="18" charset="0"/>
                <a:cs typeface="Times New Roman" panose="02020603050405020304" pitchFamily="18" charset="0"/>
              </a:rPr>
              <a:t>• EGL-based Active Learning improved performance compared to random sampling by selecting informative samples.</a:t>
            </a:r>
          </a:p>
          <a:p>
            <a:pPr>
              <a:buNone/>
            </a:pPr>
            <a:r>
              <a:rPr lang="en-IN" sz="3200" dirty="0">
                <a:latin typeface="Times New Roman" panose="02020603050405020304" pitchFamily="18" charset="0"/>
                <a:cs typeface="Times New Roman" panose="02020603050405020304" pitchFamily="18" charset="0"/>
              </a:rPr>
              <a:t>• Better class separation and reduced misclassification in multi-class Twitter dataset.</a:t>
            </a:r>
          </a:p>
          <a:p>
            <a:pPr>
              <a:buNone/>
            </a:pPr>
            <a:r>
              <a:rPr lang="en-IN" sz="3200" dirty="0">
                <a:latin typeface="Times New Roman" panose="02020603050405020304" pitchFamily="18" charset="0"/>
                <a:cs typeface="Times New Roman" panose="02020603050405020304" pitchFamily="18" charset="0"/>
              </a:rPr>
              <a:t>• Lightweight models (</a:t>
            </a:r>
            <a:r>
              <a:rPr lang="en-IN" sz="3200" dirty="0" err="1">
                <a:latin typeface="Times New Roman" panose="02020603050405020304" pitchFamily="18" charset="0"/>
                <a:cs typeface="Times New Roman" panose="02020603050405020304" pitchFamily="18" charset="0"/>
              </a:rPr>
              <a:t>DistilBERT</a:t>
            </a:r>
            <a:r>
              <a:rPr lang="en-IN" sz="3200" dirty="0">
                <a:latin typeface="Times New Roman" panose="02020603050405020304" pitchFamily="18" charset="0"/>
                <a:cs typeface="Times New Roman" panose="02020603050405020304" pitchFamily="18" charset="0"/>
              </a:rPr>
              <a:t>) provided good accuracy with lower computational cost.</a:t>
            </a:r>
          </a:p>
          <a:p>
            <a:pPr>
              <a:buNone/>
            </a:pPr>
            <a:r>
              <a:rPr lang="en-IN" sz="3200" dirty="0">
                <a:latin typeface="Times New Roman" panose="02020603050405020304" pitchFamily="18" charset="0"/>
                <a:cs typeface="Times New Roman" panose="02020603050405020304" pitchFamily="18" charset="0"/>
              </a:rPr>
              <a:t>• Overall, the framework improved accuracy while reducing </a:t>
            </a:r>
            <a:r>
              <a:rPr lang="en-IN" sz="3200" dirty="0" err="1">
                <a:latin typeface="Times New Roman" panose="02020603050405020304" pitchFamily="18" charset="0"/>
                <a:cs typeface="Times New Roman" panose="02020603050405020304" pitchFamily="18" charset="0"/>
              </a:rPr>
              <a:t>labeling</a:t>
            </a:r>
            <a:r>
              <a:rPr lang="en-IN" sz="3200" dirty="0">
                <a:latin typeface="Times New Roman" panose="02020603050405020304" pitchFamily="18" charset="0"/>
                <a:cs typeface="Times New Roman" panose="02020603050405020304" pitchFamily="18" charset="0"/>
              </a:rPr>
              <a:t> effort.</a:t>
            </a:r>
          </a:p>
        </p:txBody>
      </p:sp>
      <p:grpSp>
        <p:nvGrpSpPr>
          <p:cNvPr id="5" name="Group 2">
            <a:extLst>
              <a:ext uri="{FF2B5EF4-FFF2-40B4-BE49-F238E27FC236}">
                <a16:creationId xmlns:a16="http://schemas.microsoft.com/office/drawing/2014/main" id="{3A36C1DF-4000-59DE-EFE7-A2BD8723D89B}"/>
              </a:ext>
            </a:extLst>
          </p:cNvPr>
          <p:cNvGrpSpPr/>
          <p:nvPr/>
        </p:nvGrpSpPr>
        <p:grpSpPr>
          <a:xfrm>
            <a:off x="-748979" y="479900"/>
            <a:ext cx="20263939" cy="1454566"/>
            <a:chOff x="0" y="0"/>
            <a:chExt cx="5295481" cy="1052333"/>
          </a:xfrm>
        </p:grpSpPr>
        <p:sp>
          <p:nvSpPr>
            <p:cNvPr id="6" name="Freeform 3">
              <a:extLst>
                <a:ext uri="{FF2B5EF4-FFF2-40B4-BE49-F238E27FC236}">
                  <a16:creationId xmlns:a16="http://schemas.microsoft.com/office/drawing/2014/main" id="{3FA30F13-066F-5679-935F-4BF7208CADC3}"/>
                </a:ext>
              </a:extLst>
            </p:cNvPr>
            <p:cNvSpPr/>
            <p:nvPr/>
          </p:nvSpPr>
          <p:spPr>
            <a:xfrm>
              <a:off x="0" y="0"/>
              <a:ext cx="5295481" cy="1052333"/>
            </a:xfrm>
            <a:custGeom>
              <a:avLst/>
              <a:gdLst/>
              <a:ahLst/>
              <a:cxnLst/>
              <a:rect l="l" t="t" r="r" b="b"/>
              <a:pathLst>
                <a:path w="5295481" h="1052333">
                  <a:moveTo>
                    <a:pt x="0" y="0"/>
                  </a:moveTo>
                  <a:lnTo>
                    <a:pt x="5295481" y="0"/>
                  </a:lnTo>
                  <a:lnTo>
                    <a:pt x="5295481" y="1052333"/>
                  </a:lnTo>
                  <a:lnTo>
                    <a:pt x="0" y="1052333"/>
                  </a:lnTo>
                  <a:close/>
                </a:path>
              </a:pathLst>
            </a:custGeom>
            <a:solidFill>
              <a:srgbClr val="EAD6B8"/>
            </a:solidFill>
          </p:spPr>
          <p:txBody>
            <a:bodyPr/>
            <a:lstStyle/>
            <a:p>
              <a:endParaRPr lang="en-IN" dirty="0"/>
            </a:p>
          </p:txBody>
        </p:sp>
        <p:sp>
          <p:nvSpPr>
            <p:cNvPr id="7" name="TextBox 4">
              <a:extLst>
                <a:ext uri="{FF2B5EF4-FFF2-40B4-BE49-F238E27FC236}">
                  <a16:creationId xmlns:a16="http://schemas.microsoft.com/office/drawing/2014/main" id="{C87617C3-FFC1-888D-04AE-6112A6FB96D4}"/>
                </a:ext>
              </a:extLst>
            </p:cNvPr>
            <p:cNvSpPr txBox="1"/>
            <p:nvPr/>
          </p:nvSpPr>
          <p:spPr>
            <a:xfrm>
              <a:off x="0" y="-47625"/>
              <a:ext cx="5295481" cy="1099958"/>
            </a:xfrm>
            <a:prstGeom prst="rect">
              <a:avLst/>
            </a:prstGeom>
          </p:spPr>
          <p:txBody>
            <a:bodyPr lIns="50800" tIns="50800" rIns="50800" bIns="50800" rtlCol="0" anchor="ctr"/>
            <a:lstStyle/>
            <a:p>
              <a:pPr algn="ctr">
                <a:lnSpc>
                  <a:spcPts val="3012"/>
                </a:lnSpc>
              </a:pPr>
              <a:endParaRPr/>
            </a:p>
          </p:txBody>
        </p:sp>
      </p:grpSp>
      <p:sp>
        <p:nvSpPr>
          <p:cNvPr id="8" name="Title 1">
            <a:extLst>
              <a:ext uri="{FF2B5EF4-FFF2-40B4-BE49-F238E27FC236}">
                <a16:creationId xmlns:a16="http://schemas.microsoft.com/office/drawing/2014/main" id="{51BCBF42-379C-46CB-7474-C7CF3E9322A9}"/>
              </a:ext>
            </a:extLst>
          </p:cNvPr>
          <p:cNvSpPr txBox="1">
            <a:spLocks/>
          </p:cNvSpPr>
          <p:nvPr/>
        </p:nvSpPr>
        <p:spPr>
          <a:xfrm>
            <a:off x="-152400" y="947322"/>
            <a:ext cx="9001991" cy="850611"/>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Results and Discussions</a:t>
            </a:r>
          </a:p>
        </p:txBody>
      </p:sp>
    </p:spTree>
    <p:extLst>
      <p:ext uri="{BB962C8B-B14F-4D97-AF65-F5344CB8AC3E}">
        <p14:creationId xmlns:p14="http://schemas.microsoft.com/office/powerpoint/2010/main" val="2866838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793962903"/>
              </p:ext>
            </p:extLst>
          </p:nvPr>
        </p:nvGraphicFramePr>
        <p:xfrm>
          <a:off x="838200" y="1417638"/>
          <a:ext cx="16592550" cy="7187748"/>
        </p:xfrm>
        <a:graphic>
          <a:graphicData uri="http://schemas.openxmlformats.org/drawingml/2006/table">
            <a:tbl>
              <a:tblPr>
                <a:tableStyleId>{5C22544A-7EE6-4342-B048-85BDC9FD1C3A}</a:tableStyleId>
              </a:tblPr>
              <a:tblGrid>
                <a:gridCol w="2079003">
                  <a:extLst>
                    <a:ext uri="{9D8B030D-6E8A-4147-A177-3AD203B41FA5}">
                      <a16:colId xmlns:a16="http://schemas.microsoft.com/office/drawing/2014/main" val="3004622887"/>
                    </a:ext>
                  </a:extLst>
                </a:gridCol>
                <a:gridCol w="2079003">
                  <a:extLst>
                    <a:ext uri="{9D8B030D-6E8A-4147-A177-3AD203B41FA5}">
                      <a16:colId xmlns:a16="http://schemas.microsoft.com/office/drawing/2014/main" val="2867247371"/>
                    </a:ext>
                  </a:extLst>
                </a:gridCol>
                <a:gridCol w="2072424">
                  <a:extLst>
                    <a:ext uri="{9D8B030D-6E8A-4147-A177-3AD203B41FA5}">
                      <a16:colId xmlns:a16="http://schemas.microsoft.com/office/drawing/2014/main" val="616255145"/>
                    </a:ext>
                  </a:extLst>
                </a:gridCol>
                <a:gridCol w="2072424">
                  <a:extLst>
                    <a:ext uri="{9D8B030D-6E8A-4147-A177-3AD203B41FA5}">
                      <a16:colId xmlns:a16="http://schemas.microsoft.com/office/drawing/2014/main" val="897251020"/>
                    </a:ext>
                  </a:extLst>
                </a:gridCol>
                <a:gridCol w="2072424">
                  <a:extLst>
                    <a:ext uri="{9D8B030D-6E8A-4147-A177-3AD203B41FA5}">
                      <a16:colId xmlns:a16="http://schemas.microsoft.com/office/drawing/2014/main" val="3162234463"/>
                    </a:ext>
                  </a:extLst>
                </a:gridCol>
                <a:gridCol w="2072424">
                  <a:extLst>
                    <a:ext uri="{9D8B030D-6E8A-4147-A177-3AD203B41FA5}">
                      <a16:colId xmlns:a16="http://schemas.microsoft.com/office/drawing/2014/main" val="487080313"/>
                    </a:ext>
                  </a:extLst>
                </a:gridCol>
                <a:gridCol w="2072424">
                  <a:extLst>
                    <a:ext uri="{9D8B030D-6E8A-4147-A177-3AD203B41FA5}">
                      <a16:colId xmlns:a16="http://schemas.microsoft.com/office/drawing/2014/main" val="2248070991"/>
                    </a:ext>
                  </a:extLst>
                </a:gridCol>
                <a:gridCol w="2072424">
                  <a:extLst>
                    <a:ext uri="{9D8B030D-6E8A-4147-A177-3AD203B41FA5}">
                      <a16:colId xmlns:a16="http://schemas.microsoft.com/office/drawing/2014/main" val="1561732071"/>
                    </a:ext>
                  </a:extLst>
                </a:gridCol>
              </a:tblGrid>
              <a:tr h="598979">
                <a:tc>
                  <a:txBody>
                    <a:bodyPr/>
                    <a:lstStyle/>
                    <a:p>
                      <a:pPr algn="ctr" fontAlgn="b"/>
                      <a:r>
                        <a:rPr lang="en-IN" sz="2100" b="1" u="none" strike="noStrike" baseline="0" dirty="0">
                          <a:effectLst/>
                          <a:latin typeface="Arial Narrow" panose="020B0606020202030204" pitchFamily="34" charset="0"/>
                        </a:rPr>
                        <a:t>Model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a:effectLst/>
                          <a:latin typeface="Arial Narrow" panose="020B0606020202030204" pitchFamily="34" charset="0"/>
                        </a:rPr>
                        <a:t>Sampling</a:t>
                      </a:r>
                      <a:endParaRPr lang="en-IN" sz="2100" b="1"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fontAlgn="b"/>
                      <a:r>
                        <a:rPr lang="en-IN" sz="2100" b="1" u="none" strike="noStrike" baseline="0" dirty="0">
                          <a:effectLst/>
                          <a:latin typeface="Arial Narrow" panose="020B0606020202030204" pitchFamily="34" charset="0"/>
                        </a:rPr>
                        <a:t>Positive</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a:p>
                  </a:txBody>
                  <a:tcPr/>
                </a:tc>
                <a:tc gridSpan="3">
                  <a:txBody>
                    <a:bodyPr/>
                    <a:lstStyle/>
                    <a:p>
                      <a:pPr algn="ctr" fontAlgn="b"/>
                      <a:r>
                        <a:rPr lang="en-IN" sz="2100" b="1" u="none" strike="noStrike" baseline="0" dirty="0">
                          <a:effectLst/>
                          <a:latin typeface="Arial Narrow" panose="020B0606020202030204" pitchFamily="34" charset="0"/>
                        </a:rPr>
                        <a:t>Negative</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275138314"/>
                  </a:ext>
                </a:extLst>
              </a:tr>
              <a:tr h="598979">
                <a:tc>
                  <a:txBody>
                    <a:bodyPr/>
                    <a:lstStyle/>
                    <a:p>
                      <a:pPr algn="ctr" fontAlgn="b"/>
                      <a:r>
                        <a:rPr lang="en-IN" sz="2100"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F1-Score</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Accuracy</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AUC</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F1-Score</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Accuracy</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AUC</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1576293"/>
                  </a:ext>
                </a:extLst>
              </a:tr>
              <a:tr h="598979">
                <a:tc rowSpan="2">
                  <a:txBody>
                    <a:bodyPr/>
                    <a:lstStyle/>
                    <a:p>
                      <a:pPr algn="ctr" fontAlgn="b"/>
                      <a:r>
                        <a:rPr lang="en-IN" sz="2100" b="1" u="none" strike="noStrike" baseline="0" dirty="0">
                          <a:effectLst/>
                          <a:latin typeface="Arial Narrow" panose="020B0606020202030204" pitchFamily="34" charset="0"/>
                        </a:rPr>
                        <a:t>BERT</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0.88</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0.85</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0.94</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0.86</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0.84</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0.93</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7937330"/>
                  </a:ext>
                </a:extLst>
              </a:tr>
              <a:tr h="598979">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0.91</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0.87</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0.96</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0.89</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0.86</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0.95</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1848029"/>
                  </a:ext>
                </a:extLst>
              </a:tr>
              <a:tr h="598979">
                <a:tc rowSpan="2">
                  <a:txBody>
                    <a:bodyPr/>
                    <a:lstStyle/>
                    <a:p>
                      <a:pPr algn="ctr" fontAlgn="b"/>
                      <a:r>
                        <a:rPr lang="en-IN" sz="2100" b="1" u="none" strike="noStrike" baseline="0" dirty="0">
                          <a:effectLst/>
                          <a:latin typeface="Arial Narrow" panose="020B0606020202030204" pitchFamily="34" charset="0"/>
                        </a:rPr>
                        <a:t>Distil BERT</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0.84</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0.82</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0.91</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0.83</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3884879"/>
                  </a:ext>
                </a:extLst>
              </a:tr>
              <a:tr h="598979">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0.87</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0.85</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0.93</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0.86</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0.83</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0.92</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8762744"/>
                  </a:ext>
                </a:extLst>
              </a:tr>
              <a:tr h="598979">
                <a:tc rowSpan="2">
                  <a:txBody>
                    <a:bodyPr/>
                    <a:lstStyle/>
                    <a:p>
                      <a:pPr algn="ctr" fontAlgn="b"/>
                      <a:r>
                        <a:rPr lang="en-IN" sz="2100" b="1" u="none" strike="noStrike" baseline="0" dirty="0">
                          <a:effectLst/>
                          <a:latin typeface="Arial Narrow" panose="020B0606020202030204" pitchFamily="34" charset="0"/>
                        </a:rPr>
                        <a:t>RoBERTa</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0.88</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0.97</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0.89</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0.86</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0.96</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1426273"/>
                  </a:ext>
                </a:extLst>
              </a:tr>
              <a:tr h="598979">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0.93</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0.98</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0.91</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0.88</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0.97</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1418448"/>
                  </a:ext>
                </a:extLst>
              </a:tr>
              <a:tr h="598979">
                <a:tc rowSpan="2">
                  <a:txBody>
                    <a:bodyPr/>
                    <a:lstStyle/>
                    <a:p>
                      <a:pPr algn="ctr" fontAlgn="b"/>
                      <a:r>
                        <a:rPr lang="en-IN" sz="2100" b="1" u="none" strike="noStrike" baseline="0" dirty="0">
                          <a:effectLst/>
                          <a:latin typeface="Arial Narrow" panose="020B0606020202030204" pitchFamily="34" charset="0"/>
                        </a:rPr>
                        <a:t>ALBERT</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0.81</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0.79</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0.88</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0.77</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0.87</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5100821"/>
                  </a:ext>
                </a:extLst>
              </a:tr>
              <a:tr h="598979">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0.84</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0.82</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0.83</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0.89</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38390510"/>
                  </a:ext>
                </a:extLst>
              </a:tr>
              <a:tr h="598979">
                <a:tc rowSpan="2">
                  <a:txBody>
                    <a:bodyPr/>
                    <a:lstStyle/>
                    <a:p>
                      <a:pPr algn="ctr" fontAlgn="b"/>
                      <a:r>
                        <a:rPr lang="en-IN" sz="2100" b="1" u="none" strike="noStrike" baseline="0" dirty="0">
                          <a:effectLst/>
                          <a:latin typeface="Arial Narrow" panose="020B0606020202030204" pitchFamily="34" charset="0"/>
                        </a:rPr>
                        <a:t>DeBERTa</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0.92</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a:effectLst/>
                          <a:latin typeface="Arial Narrow" panose="020B0606020202030204" pitchFamily="34" charset="0"/>
                        </a:rPr>
                        <a:t>0.9</a:t>
                      </a:r>
                      <a:endParaRPr lang="en-IN" sz="2100" b="0"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0.98</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0.91</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0.88</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0.97</a:t>
                      </a:r>
                      <a:endParaRPr lang="en-IN" sz="2100" b="0"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2118398"/>
                  </a:ext>
                </a:extLst>
              </a:tr>
              <a:tr h="598979">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0.95</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0.93</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0.99</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0.94</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0.91</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0.98</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8637060"/>
                  </a:ext>
                </a:extLst>
              </a:tr>
            </a:tbl>
          </a:graphicData>
        </a:graphic>
      </p:graphicFrame>
      <p:sp>
        <p:nvSpPr>
          <p:cNvPr id="4" name="Slide Number Placeholder 3"/>
          <p:cNvSpPr>
            <a:spLocks noGrp="1"/>
          </p:cNvSpPr>
          <p:nvPr>
            <p:ph type="sldNum" sz="quarter" idx="12"/>
          </p:nvPr>
        </p:nvSpPr>
        <p:spPr/>
        <p:txBody>
          <a:bodyPr/>
          <a:lstStyle/>
          <a:p>
            <a:fld id="{5EEB83C2-341F-4C28-A243-1C56DDDA54D3}" type="slidenum">
              <a:rPr lang="en-US" smtClean="0"/>
              <a:t>16</a:t>
            </a:fld>
            <a:endParaRPr lang="en-US"/>
          </a:p>
        </p:txBody>
      </p:sp>
      <p:sp>
        <p:nvSpPr>
          <p:cNvPr id="6" name="TextBox 5"/>
          <p:cNvSpPr txBox="1"/>
          <p:nvPr/>
        </p:nvSpPr>
        <p:spPr>
          <a:xfrm>
            <a:off x="1108554" y="8924795"/>
            <a:ext cx="16479438" cy="461665"/>
          </a:xfrm>
          <a:prstGeom prst="rect">
            <a:avLst/>
          </a:prstGeom>
          <a:noFill/>
        </p:spPr>
        <p:txBody>
          <a:bodyPr wrap="square" rtlCol="0">
            <a:spAutoFit/>
          </a:bodyPr>
          <a:lstStyle/>
          <a:p>
            <a:pPr algn="ctr"/>
            <a:r>
              <a:rPr lang="en-IN" sz="2400" dirty="0">
                <a:latin typeface="Arial Narrow" panose="020B0606020202030204" pitchFamily="34" charset="0"/>
              </a:rPr>
              <a:t>Table.8. Class-wise Performance Comparison of Transformer Models with Random and EGL Sampling on IMDB Dataset</a:t>
            </a:r>
          </a:p>
        </p:txBody>
      </p:sp>
      <p:sp>
        <p:nvSpPr>
          <p:cNvPr id="3" name="TextBox 2">
            <a:extLst>
              <a:ext uri="{FF2B5EF4-FFF2-40B4-BE49-F238E27FC236}">
                <a16:creationId xmlns:a16="http://schemas.microsoft.com/office/drawing/2014/main" id="{C7C64CCF-6A23-71ED-24FD-1A876FE7DBAE}"/>
              </a:ext>
            </a:extLst>
          </p:cNvPr>
          <p:cNvSpPr txBox="1"/>
          <p:nvPr/>
        </p:nvSpPr>
        <p:spPr>
          <a:xfrm>
            <a:off x="457200" y="342900"/>
            <a:ext cx="5181600"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RESULTS </a:t>
            </a:r>
          </a:p>
        </p:txBody>
      </p:sp>
    </p:spTree>
    <p:extLst>
      <p:ext uri="{BB962C8B-B14F-4D97-AF65-F5344CB8AC3E}">
        <p14:creationId xmlns:p14="http://schemas.microsoft.com/office/powerpoint/2010/main" val="8147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164723215"/>
              </p:ext>
            </p:extLst>
          </p:nvPr>
        </p:nvGraphicFramePr>
        <p:xfrm>
          <a:off x="762000" y="1181100"/>
          <a:ext cx="16668751" cy="7424280"/>
        </p:xfrm>
        <a:graphic>
          <a:graphicData uri="http://schemas.openxmlformats.org/drawingml/2006/table">
            <a:tbl>
              <a:tblPr>
                <a:tableStyleId>{5C22544A-7EE6-4342-B048-85BDC9FD1C3A}</a:tableStyleId>
              </a:tblPr>
              <a:tblGrid>
                <a:gridCol w="1519274">
                  <a:extLst>
                    <a:ext uri="{9D8B030D-6E8A-4147-A177-3AD203B41FA5}">
                      <a16:colId xmlns:a16="http://schemas.microsoft.com/office/drawing/2014/main" val="3004622887"/>
                    </a:ext>
                  </a:extLst>
                </a:gridCol>
                <a:gridCol w="1519274">
                  <a:extLst>
                    <a:ext uri="{9D8B030D-6E8A-4147-A177-3AD203B41FA5}">
                      <a16:colId xmlns:a16="http://schemas.microsoft.com/office/drawing/2014/main" val="2867247371"/>
                    </a:ext>
                  </a:extLst>
                </a:gridCol>
                <a:gridCol w="1514467">
                  <a:extLst>
                    <a:ext uri="{9D8B030D-6E8A-4147-A177-3AD203B41FA5}">
                      <a16:colId xmlns:a16="http://schemas.microsoft.com/office/drawing/2014/main" val="616255145"/>
                    </a:ext>
                  </a:extLst>
                </a:gridCol>
                <a:gridCol w="1514467">
                  <a:extLst>
                    <a:ext uri="{9D8B030D-6E8A-4147-A177-3AD203B41FA5}">
                      <a16:colId xmlns:a16="http://schemas.microsoft.com/office/drawing/2014/main" val="2096870604"/>
                    </a:ext>
                  </a:extLst>
                </a:gridCol>
                <a:gridCol w="1514467">
                  <a:extLst>
                    <a:ext uri="{9D8B030D-6E8A-4147-A177-3AD203B41FA5}">
                      <a16:colId xmlns:a16="http://schemas.microsoft.com/office/drawing/2014/main" val="3873364628"/>
                    </a:ext>
                  </a:extLst>
                </a:gridCol>
                <a:gridCol w="1514467">
                  <a:extLst>
                    <a:ext uri="{9D8B030D-6E8A-4147-A177-3AD203B41FA5}">
                      <a16:colId xmlns:a16="http://schemas.microsoft.com/office/drawing/2014/main" val="2660347357"/>
                    </a:ext>
                  </a:extLst>
                </a:gridCol>
                <a:gridCol w="1514467">
                  <a:extLst>
                    <a:ext uri="{9D8B030D-6E8A-4147-A177-3AD203B41FA5}">
                      <a16:colId xmlns:a16="http://schemas.microsoft.com/office/drawing/2014/main" val="897251020"/>
                    </a:ext>
                  </a:extLst>
                </a:gridCol>
                <a:gridCol w="1514467">
                  <a:extLst>
                    <a:ext uri="{9D8B030D-6E8A-4147-A177-3AD203B41FA5}">
                      <a16:colId xmlns:a16="http://schemas.microsoft.com/office/drawing/2014/main" val="3162234463"/>
                    </a:ext>
                  </a:extLst>
                </a:gridCol>
                <a:gridCol w="1514467">
                  <a:extLst>
                    <a:ext uri="{9D8B030D-6E8A-4147-A177-3AD203B41FA5}">
                      <a16:colId xmlns:a16="http://schemas.microsoft.com/office/drawing/2014/main" val="487080313"/>
                    </a:ext>
                  </a:extLst>
                </a:gridCol>
                <a:gridCol w="1514467">
                  <a:extLst>
                    <a:ext uri="{9D8B030D-6E8A-4147-A177-3AD203B41FA5}">
                      <a16:colId xmlns:a16="http://schemas.microsoft.com/office/drawing/2014/main" val="2248070991"/>
                    </a:ext>
                  </a:extLst>
                </a:gridCol>
                <a:gridCol w="1514467">
                  <a:extLst>
                    <a:ext uri="{9D8B030D-6E8A-4147-A177-3AD203B41FA5}">
                      <a16:colId xmlns:a16="http://schemas.microsoft.com/office/drawing/2014/main" val="1561732071"/>
                    </a:ext>
                  </a:extLst>
                </a:gridCol>
              </a:tblGrid>
              <a:tr h="618690">
                <a:tc>
                  <a:txBody>
                    <a:bodyPr/>
                    <a:lstStyle/>
                    <a:p>
                      <a:pPr algn="ctr" fontAlgn="b"/>
                      <a:r>
                        <a:rPr lang="en-IN" sz="2100" b="1" u="none" strike="noStrike" baseline="0" dirty="0">
                          <a:effectLst/>
                          <a:latin typeface="Arial Narrow" panose="020B0606020202030204" pitchFamily="34" charset="0"/>
                        </a:rPr>
                        <a:t>Model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a:effectLst/>
                          <a:latin typeface="Arial Narrow" panose="020B0606020202030204" pitchFamily="34" charset="0"/>
                        </a:rPr>
                        <a:t>Sampling</a:t>
                      </a:r>
                      <a:endParaRPr lang="en-IN" sz="2100" b="1" i="0" u="none" strike="noStrike" baseline="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algn="ctr" fontAlgn="b"/>
                      <a:r>
                        <a:rPr lang="en-IN" sz="2100" b="1" u="none" strike="noStrike" baseline="0" dirty="0">
                          <a:effectLst/>
                          <a:latin typeface="Arial Narrow" panose="020B0606020202030204" pitchFamily="34" charset="0"/>
                        </a:rPr>
                        <a:t>Positive</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a:p>
                  </a:txBody>
                  <a:tcPr/>
                </a:tc>
                <a:tc gridSpan="3">
                  <a:txBody>
                    <a:bodyPr/>
                    <a:lstStyle/>
                    <a:p>
                      <a:pPr algn="ctr" fontAlgn="b"/>
                      <a:r>
                        <a:rPr lang="en-IN" sz="2100" b="1" i="0" u="none" strike="noStrike" baseline="0" dirty="0">
                          <a:solidFill>
                            <a:srgbClr val="000000"/>
                          </a:solidFill>
                          <a:effectLst/>
                          <a:latin typeface="Arial Narrow" panose="020B0606020202030204" pitchFamily="34" charset="0"/>
                        </a:rPr>
                        <a:t>Neutral</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a:p>
                  </a:txBody>
                  <a:tcPr/>
                </a:tc>
                <a:tc gridSpan="3">
                  <a:txBody>
                    <a:bodyPr/>
                    <a:lstStyle/>
                    <a:p>
                      <a:pPr algn="ctr" fontAlgn="b"/>
                      <a:r>
                        <a:rPr lang="en-IN" sz="2100" b="1" u="none" strike="noStrike" baseline="0" dirty="0">
                          <a:effectLst/>
                          <a:latin typeface="Arial Narrow" panose="020B0606020202030204" pitchFamily="34" charset="0"/>
                        </a:rPr>
                        <a:t>Negative</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275138314"/>
                  </a:ext>
                </a:extLst>
              </a:tr>
              <a:tr h="618690">
                <a:tc>
                  <a:txBody>
                    <a:bodyPr/>
                    <a:lstStyle/>
                    <a:p>
                      <a:pPr algn="ctr" fontAlgn="b"/>
                      <a:r>
                        <a:rPr lang="en-IN" sz="2100"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F1-Score</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Accuracy</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AUC</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baseline="0" dirty="0">
                          <a:solidFill>
                            <a:srgbClr val="000000"/>
                          </a:solidFill>
                          <a:effectLst/>
                          <a:latin typeface="Arial Narrow" panose="020B0606020202030204" pitchFamily="34" charset="0"/>
                        </a:rPr>
                        <a:t>F1-Score</a:t>
                      </a: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Accuracy</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AUC</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F1-Score</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Accuracy</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AUC</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91576293"/>
                  </a:ext>
                </a:extLst>
              </a:tr>
              <a:tr h="618690">
                <a:tc rowSpan="2">
                  <a:txBody>
                    <a:bodyPr/>
                    <a:lstStyle/>
                    <a:p>
                      <a:pPr algn="ctr" fontAlgn="b"/>
                      <a:r>
                        <a:rPr lang="en-IN" sz="2100" b="1" u="none" strike="noStrike" baseline="0" dirty="0">
                          <a:effectLst/>
                          <a:latin typeface="Arial Narrow" panose="020B0606020202030204" pitchFamily="34" charset="0"/>
                        </a:rPr>
                        <a:t>BERT</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dirty="0">
                          <a:solidFill>
                            <a:srgbClr val="000000"/>
                          </a:solidFill>
                          <a:effectLst/>
                          <a:latin typeface="Arial Narrow" panose="020B0606020202030204" pitchFamily="34" charset="0"/>
                        </a:rPr>
                        <a:t>0.82</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dirty="0">
                          <a:solidFill>
                            <a:srgbClr val="000000"/>
                          </a:solidFill>
                          <a:effectLst/>
                          <a:latin typeface="Arial Narrow" panose="020B0606020202030204" pitchFamily="34" charset="0"/>
                        </a:rPr>
                        <a:t>0.80</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0.91</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0.81</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7937330"/>
                  </a:ext>
                </a:extLst>
              </a:tr>
              <a:tr h="618690">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0.94</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dirty="0">
                          <a:solidFill>
                            <a:srgbClr val="000000"/>
                          </a:solidFill>
                          <a:effectLst/>
                          <a:latin typeface="Arial Narrow" panose="020B0606020202030204" pitchFamily="34" charset="0"/>
                        </a:rPr>
                        <a:t>0.78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0.76</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0.84</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0.82</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1848029"/>
                  </a:ext>
                </a:extLst>
              </a:tr>
              <a:tr h="618690">
                <a:tc rowSpan="2">
                  <a:txBody>
                    <a:bodyPr/>
                    <a:lstStyle/>
                    <a:p>
                      <a:pPr algn="ctr" fontAlgn="b"/>
                      <a:r>
                        <a:rPr lang="en-IN" sz="2100" b="1" u="none" strike="noStrike" baseline="0" dirty="0">
                          <a:effectLst/>
                          <a:latin typeface="Arial Narrow" panose="020B0606020202030204" pitchFamily="34" charset="0"/>
                        </a:rPr>
                        <a:t>Distil BERT</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0.74</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0.72</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83884879"/>
                  </a:ext>
                </a:extLst>
              </a:tr>
              <a:tr h="618690">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0.84</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0.82</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0.92</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0.91</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88762744"/>
                  </a:ext>
                </a:extLst>
              </a:tr>
              <a:tr h="618690">
                <a:tc rowSpan="2">
                  <a:txBody>
                    <a:bodyPr/>
                    <a:lstStyle/>
                    <a:p>
                      <a:pPr algn="ctr" fontAlgn="b"/>
                      <a:r>
                        <a:rPr lang="en-IN" sz="2100" b="1" u="none" strike="noStrike" baseline="0" dirty="0">
                          <a:effectLst/>
                          <a:latin typeface="Arial Narrow" panose="020B0606020202030204" pitchFamily="34" charset="0"/>
                        </a:rPr>
                        <a:t>RoBERTa</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0.86</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0.84</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0.96</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0.92</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1426273"/>
                  </a:ext>
                </a:extLst>
              </a:tr>
              <a:tr h="618690">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0.86</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0.81</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0.94</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1418448"/>
                  </a:ext>
                </a:extLst>
              </a:tr>
              <a:tr h="618690">
                <a:tc rowSpan="2">
                  <a:txBody>
                    <a:bodyPr/>
                    <a:lstStyle/>
                    <a:p>
                      <a:pPr algn="ctr" fontAlgn="b"/>
                      <a:r>
                        <a:rPr lang="en-IN" sz="2100" b="1" u="none" strike="noStrike" baseline="0" dirty="0">
                          <a:effectLst/>
                          <a:latin typeface="Arial Narrow" panose="020B0606020202030204" pitchFamily="34" charset="0"/>
                        </a:rPr>
                        <a:t>ALBERT</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0.76</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0.68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5100821"/>
                  </a:ext>
                </a:extLst>
              </a:tr>
              <a:tr h="618690">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0.81</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0.71</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0.78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38390510"/>
                  </a:ext>
                </a:extLst>
              </a:tr>
              <a:tr h="618690">
                <a:tc rowSpan="2">
                  <a:txBody>
                    <a:bodyPr/>
                    <a:lstStyle/>
                    <a:p>
                      <a:pPr algn="ctr" fontAlgn="b"/>
                      <a:r>
                        <a:rPr lang="en-IN" sz="2100" b="1" u="none" strike="noStrike" baseline="0" dirty="0">
                          <a:effectLst/>
                          <a:latin typeface="Arial Narrow" panose="020B0606020202030204" pitchFamily="34" charset="0"/>
                        </a:rPr>
                        <a:t>DeBERTa</a:t>
                      </a:r>
                      <a:endParaRPr lang="en-IN" sz="2100" b="1" i="0" u="none" strike="noStrike" baseline="0" dirty="0">
                        <a:solidFill>
                          <a:srgbClr val="000000"/>
                        </a:solidFill>
                        <a:effectLst/>
                        <a:latin typeface="Arial Narrow" panose="020B0606020202030204" pitchFamily="34" charset="0"/>
                      </a:endParaRPr>
                    </a:p>
                    <a:p>
                      <a:pPr algn="ctr" fontAlgn="b"/>
                      <a:r>
                        <a:rPr lang="en-IN" sz="2100" b="1" u="none" strike="noStrike" baseline="0" dirty="0">
                          <a:effectLst/>
                          <a:latin typeface="Arial Narrow" panose="020B0606020202030204" pitchFamily="34" charset="0"/>
                        </a:rPr>
                        <a:t> </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Random</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0.82</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0.86</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0.84</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0" i="0" u="none" strike="noStrike">
                          <a:solidFill>
                            <a:srgbClr val="000000"/>
                          </a:solidFill>
                          <a:effectLst/>
                          <a:latin typeface="Arial Narrow" panose="020B0606020202030204" pitchFamily="34" charset="0"/>
                        </a:rPr>
                        <a:t>0.96</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2118398"/>
                  </a:ext>
                </a:extLst>
              </a:tr>
              <a:tr h="618690">
                <a:tc vMerge="1">
                  <a:txBody>
                    <a:bodyPr/>
                    <a:lstStyle/>
                    <a:p>
                      <a:pPr algn="ctr" fontAlgn="b"/>
                      <a:endParaRPr lang="en-IN" sz="1100" b="0" i="0" u="none" strike="noStrike" dirty="0">
                        <a:solidFill>
                          <a:srgbClr val="000000"/>
                        </a:solidFill>
                        <a:effectLst/>
                        <a:latin typeface="Arial Narrow" panose="020B0606020202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u="none" strike="noStrike" baseline="0" dirty="0">
                          <a:effectLst/>
                          <a:latin typeface="Arial Narrow" panose="020B0606020202030204" pitchFamily="34" charset="0"/>
                        </a:rPr>
                        <a:t>EGL</a:t>
                      </a:r>
                      <a:endParaRPr lang="en-IN" sz="2100" b="1" i="0" u="none" strike="noStrike" baseline="0" dirty="0">
                        <a:solidFill>
                          <a:srgbClr val="000000"/>
                        </a:solidFill>
                        <a:effectLst/>
                        <a:latin typeface="Arial Narrow" panose="020B0606020202030204" pitchFamily="34" charset="0"/>
                      </a:endParaRPr>
                    </a:p>
                  </a:txBody>
                  <a:tcPr marL="14288" marR="14288" marT="1428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dirty="0">
                          <a:solidFill>
                            <a:srgbClr val="000000"/>
                          </a:solidFill>
                          <a:effectLst/>
                          <a:latin typeface="Arial Narrow" panose="020B0606020202030204" pitchFamily="34" charset="0"/>
                        </a:rPr>
                        <a:t>0.90</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a:solidFill>
                            <a:srgbClr val="000000"/>
                          </a:solidFill>
                          <a:effectLst/>
                          <a:latin typeface="Arial Narrow" panose="020B0606020202030204" pitchFamily="34" charset="0"/>
                        </a:rPr>
                        <a:t>0.88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a:solidFill>
                            <a:srgbClr val="000000"/>
                          </a:solidFill>
                          <a:effectLst/>
                          <a:latin typeface="Arial Narrow" panose="020B0606020202030204" pitchFamily="34" charset="0"/>
                        </a:rPr>
                        <a:t>0.99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a:solidFill>
                            <a:srgbClr val="000000"/>
                          </a:solidFill>
                          <a:effectLst/>
                          <a:latin typeface="Arial Narrow" panose="020B0606020202030204" pitchFamily="34" charset="0"/>
                        </a:rPr>
                        <a:t>0.85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a:solidFill>
                            <a:srgbClr val="000000"/>
                          </a:solidFill>
                          <a:effectLst/>
                          <a:latin typeface="Arial Narrow" panose="020B0606020202030204" pitchFamily="34" charset="0"/>
                        </a:rPr>
                        <a:t>0.83</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a:solidFill>
                            <a:srgbClr val="000000"/>
                          </a:solidFill>
                          <a:effectLst/>
                          <a:latin typeface="Arial Narrow" panose="020B0606020202030204" pitchFamily="34" charset="0"/>
                        </a:rPr>
                        <a:t>0.95</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a:solidFill>
                            <a:srgbClr val="000000"/>
                          </a:solidFill>
                          <a:effectLst/>
                          <a:latin typeface="Arial Narrow" panose="020B0606020202030204" pitchFamily="34" charset="0"/>
                        </a:rPr>
                        <a:t>0.89</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a:solidFill>
                            <a:srgbClr val="000000"/>
                          </a:solidFill>
                          <a:effectLst/>
                          <a:latin typeface="Arial Narrow" panose="020B0606020202030204" pitchFamily="34" charset="0"/>
                        </a:rPr>
                        <a:t>0.87</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IN" sz="2100" b="1" i="0" u="none" strike="noStrike" dirty="0">
                          <a:solidFill>
                            <a:srgbClr val="000000"/>
                          </a:solidFill>
                          <a:effectLst/>
                          <a:latin typeface="Arial Narrow" panose="020B0606020202030204" pitchFamily="34" charset="0"/>
                        </a:rPr>
                        <a:t>0.98</a:t>
                      </a:r>
                    </a:p>
                  </a:txBody>
                  <a:tcPr marL="14288" marR="14288" marT="14288"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8637060"/>
                  </a:ext>
                </a:extLst>
              </a:tr>
            </a:tbl>
          </a:graphicData>
        </a:graphic>
      </p:graphicFrame>
      <p:sp>
        <p:nvSpPr>
          <p:cNvPr id="4" name="Slide Number Placeholder 3"/>
          <p:cNvSpPr>
            <a:spLocks noGrp="1"/>
          </p:cNvSpPr>
          <p:nvPr>
            <p:ph type="sldNum" sz="quarter" idx="12"/>
          </p:nvPr>
        </p:nvSpPr>
        <p:spPr/>
        <p:txBody>
          <a:bodyPr/>
          <a:lstStyle/>
          <a:p>
            <a:fld id="{5EEB83C2-341F-4C28-A243-1C56DDDA54D3}" type="slidenum">
              <a:rPr lang="en-US" smtClean="0"/>
              <a:t>17</a:t>
            </a:fld>
            <a:endParaRPr lang="en-US"/>
          </a:p>
        </p:txBody>
      </p:sp>
      <p:sp>
        <p:nvSpPr>
          <p:cNvPr id="6" name="TextBox 5"/>
          <p:cNvSpPr txBox="1"/>
          <p:nvPr/>
        </p:nvSpPr>
        <p:spPr>
          <a:xfrm>
            <a:off x="1108554" y="8924795"/>
            <a:ext cx="16479438" cy="461665"/>
          </a:xfrm>
          <a:prstGeom prst="rect">
            <a:avLst/>
          </a:prstGeom>
          <a:noFill/>
        </p:spPr>
        <p:txBody>
          <a:bodyPr wrap="square" rtlCol="0">
            <a:spAutoFit/>
          </a:bodyPr>
          <a:lstStyle/>
          <a:p>
            <a:pPr algn="ctr"/>
            <a:r>
              <a:rPr lang="en-IN" sz="2400" dirty="0">
                <a:latin typeface="Arial Narrow" panose="020B0606020202030204" pitchFamily="34" charset="0"/>
              </a:rPr>
              <a:t>Table.9. Class-wise Performance Comparison of Transformer Models with Random and EGL Sampling on IMDB Dataset</a:t>
            </a:r>
          </a:p>
        </p:txBody>
      </p:sp>
      <p:sp>
        <p:nvSpPr>
          <p:cNvPr id="2" name="TextBox 1">
            <a:extLst>
              <a:ext uri="{FF2B5EF4-FFF2-40B4-BE49-F238E27FC236}">
                <a16:creationId xmlns:a16="http://schemas.microsoft.com/office/drawing/2014/main" id="{61D75B0E-8455-7004-54C6-D04F1BB86BF4}"/>
              </a:ext>
            </a:extLst>
          </p:cNvPr>
          <p:cNvSpPr txBox="1"/>
          <p:nvPr/>
        </p:nvSpPr>
        <p:spPr>
          <a:xfrm>
            <a:off x="457200" y="342900"/>
            <a:ext cx="5181600"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RESULTS </a:t>
            </a:r>
          </a:p>
        </p:txBody>
      </p:sp>
    </p:spTree>
    <p:extLst>
      <p:ext uri="{BB962C8B-B14F-4D97-AF65-F5344CB8AC3E}">
        <p14:creationId xmlns:p14="http://schemas.microsoft.com/office/powerpoint/2010/main" val="2614507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Arial Narrow" panose="020B0606020202030204" pitchFamily="34" charset="0"/>
              </a:rPr>
              <a:t>Confusion Matrix(IMDB)</a:t>
            </a:r>
          </a:p>
        </p:txBody>
      </p:sp>
      <p:pic>
        <p:nvPicPr>
          <p:cNvPr id="5" name="Content Placeholder 4"/>
          <p:cNvPicPr>
            <a:picLocks noGrp="1" noChangeAspect="1"/>
          </p:cNvPicPr>
          <p:nvPr>
            <p:ph idx="1"/>
          </p:nvPr>
        </p:nvPicPr>
        <p:blipFill>
          <a:blip r:embed="rId2"/>
          <a:stretch>
            <a:fillRect/>
          </a:stretch>
        </p:blipFill>
        <p:spPr>
          <a:xfrm>
            <a:off x="134126" y="2019300"/>
            <a:ext cx="18019747" cy="6660081"/>
          </a:xfrm>
          <a:prstGeom prst="rect">
            <a:avLst/>
          </a:prstGeom>
        </p:spPr>
      </p:pic>
      <p:sp>
        <p:nvSpPr>
          <p:cNvPr id="4" name="Slide Number Placeholder 3"/>
          <p:cNvSpPr>
            <a:spLocks noGrp="1"/>
          </p:cNvSpPr>
          <p:nvPr>
            <p:ph type="sldNum" sz="quarter" idx="12"/>
          </p:nvPr>
        </p:nvSpPr>
        <p:spPr/>
        <p:txBody>
          <a:bodyPr/>
          <a:lstStyle/>
          <a:p>
            <a:fld id="{5EEB83C2-341F-4C28-A243-1C56DDDA54D3}" type="slidenum">
              <a:rPr lang="en-US" smtClean="0"/>
              <a:t>18</a:t>
            </a:fld>
            <a:endParaRPr lang="en-US"/>
          </a:p>
        </p:txBody>
      </p:sp>
    </p:spTree>
    <p:extLst>
      <p:ext uri="{BB962C8B-B14F-4D97-AF65-F5344CB8AC3E}">
        <p14:creationId xmlns:p14="http://schemas.microsoft.com/office/powerpoint/2010/main" val="2616329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Arial Narrow" panose="020B0606020202030204" pitchFamily="34" charset="0"/>
              </a:rPr>
              <a:t>Confusion Matrix(Twitter)</a:t>
            </a:r>
          </a:p>
        </p:txBody>
      </p:sp>
      <p:pic>
        <p:nvPicPr>
          <p:cNvPr id="5" name="Content Placeholder 4"/>
          <p:cNvPicPr>
            <a:picLocks noGrp="1" noChangeAspect="1"/>
          </p:cNvPicPr>
          <p:nvPr>
            <p:ph idx="1"/>
          </p:nvPr>
        </p:nvPicPr>
        <p:blipFill>
          <a:blip r:embed="rId2"/>
          <a:stretch>
            <a:fillRect/>
          </a:stretch>
        </p:blipFill>
        <p:spPr>
          <a:xfrm>
            <a:off x="403586" y="2095500"/>
            <a:ext cx="16506553" cy="6964881"/>
          </a:xfrm>
          <a:prstGeom prst="rect">
            <a:avLst/>
          </a:prstGeom>
        </p:spPr>
      </p:pic>
      <p:sp>
        <p:nvSpPr>
          <p:cNvPr id="4" name="Slide Number Placeholder 3"/>
          <p:cNvSpPr>
            <a:spLocks noGrp="1"/>
          </p:cNvSpPr>
          <p:nvPr>
            <p:ph type="sldNum" sz="quarter" idx="12"/>
          </p:nvPr>
        </p:nvSpPr>
        <p:spPr/>
        <p:txBody>
          <a:bodyPr/>
          <a:lstStyle/>
          <a:p>
            <a:fld id="{5EEB83C2-341F-4C28-A243-1C56DDDA54D3}" type="slidenum">
              <a:rPr lang="en-US" smtClean="0"/>
              <a:t>19</a:t>
            </a:fld>
            <a:endParaRPr lang="en-US"/>
          </a:p>
        </p:txBody>
      </p:sp>
    </p:spTree>
    <p:extLst>
      <p:ext uri="{BB962C8B-B14F-4D97-AF65-F5344CB8AC3E}">
        <p14:creationId xmlns:p14="http://schemas.microsoft.com/office/powerpoint/2010/main" val="3493492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1234"/>
            <a:ext cx="8229600" cy="1143000"/>
          </a:xfrm>
        </p:spPr>
        <p:txBody>
          <a:bodyPr/>
          <a:lstStyle/>
          <a:p>
            <a:r>
              <a:rPr lang="en-IN" dirty="0"/>
              <a:t>ROC -Curve</a:t>
            </a:r>
          </a:p>
        </p:txBody>
      </p:sp>
      <p:pic>
        <p:nvPicPr>
          <p:cNvPr id="5" name="Content Placeholder 4"/>
          <p:cNvPicPr>
            <a:picLocks noGrp="1" noChangeAspect="1"/>
          </p:cNvPicPr>
          <p:nvPr>
            <p:ph idx="1"/>
          </p:nvPr>
        </p:nvPicPr>
        <p:blipFill>
          <a:blip r:embed="rId2"/>
          <a:stretch>
            <a:fillRect/>
          </a:stretch>
        </p:blipFill>
        <p:spPr>
          <a:xfrm>
            <a:off x="857250" y="2247900"/>
            <a:ext cx="7200900" cy="6181775"/>
          </a:xfrm>
          <a:prstGeom prst="rect">
            <a:avLst/>
          </a:prstGeom>
        </p:spPr>
      </p:pic>
      <p:sp>
        <p:nvSpPr>
          <p:cNvPr id="4" name="Slide Number Placeholder 3"/>
          <p:cNvSpPr>
            <a:spLocks noGrp="1"/>
          </p:cNvSpPr>
          <p:nvPr>
            <p:ph type="sldNum" sz="quarter" idx="12"/>
          </p:nvPr>
        </p:nvSpPr>
        <p:spPr/>
        <p:txBody>
          <a:bodyPr/>
          <a:lstStyle/>
          <a:p>
            <a:fld id="{5EEB83C2-341F-4C28-A243-1C56DDDA54D3}" type="slidenum">
              <a:rPr lang="en-US" smtClean="0"/>
              <a:t>20</a:t>
            </a:fld>
            <a:endParaRPr lang="en-US"/>
          </a:p>
        </p:txBody>
      </p:sp>
      <p:pic>
        <p:nvPicPr>
          <p:cNvPr id="6" name="Picture 5"/>
          <p:cNvPicPr>
            <a:picLocks noChangeAspect="1"/>
          </p:cNvPicPr>
          <p:nvPr/>
        </p:nvPicPr>
        <p:blipFill>
          <a:blip r:embed="rId3"/>
          <a:stretch>
            <a:fillRect/>
          </a:stretch>
        </p:blipFill>
        <p:spPr>
          <a:xfrm>
            <a:off x="8843276" y="2247900"/>
            <a:ext cx="7215188" cy="6181775"/>
          </a:xfrm>
          <a:prstGeom prst="rect">
            <a:avLst/>
          </a:prstGeom>
        </p:spPr>
      </p:pic>
      <p:sp>
        <p:nvSpPr>
          <p:cNvPr id="7" name="TextBox 6"/>
          <p:cNvSpPr txBox="1"/>
          <p:nvPr/>
        </p:nvSpPr>
        <p:spPr>
          <a:xfrm>
            <a:off x="1442402" y="8428141"/>
            <a:ext cx="7008312" cy="830997"/>
          </a:xfrm>
          <a:prstGeom prst="rect">
            <a:avLst/>
          </a:prstGeom>
          <a:noFill/>
        </p:spPr>
        <p:txBody>
          <a:bodyPr wrap="square" rtlCol="0">
            <a:spAutoFit/>
          </a:bodyPr>
          <a:lstStyle/>
          <a:p>
            <a:pPr algn="ctr"/>
            <a:r>
              <a:rPr lang="en-IN" sz="2400" dirty="0">
                <a:latin typeface="Arial Narrow" panose="020B0606020202030204" pitchFamily="34" charset="0"/>
              </a:rPr>
              <a:t>Fig. 10: ROC-AUC Comparison of Transformer Model of IMDB Data</a:t>
            </a:r>
          </a:p>
        </p:txBody>
      </p:sp>
      <p:sp>
        <p:nvSpPr>
          <p:cNvPr id="8" name="TextBox 7"/>
          <p:cNvSpPr txBox="1"/>
          <p:nvPr/>
        </p:nvSpPr>
        <p:spPr>
          <a:xfrm>
            <a:off x="9450888" y="8624171"/>
            <a:ext cx="6745266" cy="738664"/>
          </a:xfrm>
          <a:prstGeom prst="rect">
            <a:avLst/>
          </a:prstGeom>
          <a:noFill/>
        </p:spPr>
        <p:txBody>
          <a:bodyPr wrap="square" rtlCol="0">
            <a:spAutoFit/>
          </a:bodyPr>
          <a:lstStyle/>
          <a:p>
            <a:r>
              <a:rPr lang="en-IN" sz="2100" dirty="0">
                <a:latin typeface="Arial Narrow" panose="020B0606020202030204" pitchFamily="34" charset="0"/>
              </a:rPr>
              <a:t>Fig.11. ROC-AUC Comparison of Transformer Model of Twitter Data</a:t>
            </a:r>
          </a:p>
        </p:txBody>
      </p:sp>
    </p:spTree>
    <p:extLst>
      <p:ext uri="{BB962C8B-B14F-4D97-AF65-F5344CB8AC3E}">
        <p14:creationId xmlns:p14="http://schemas.microsoft.com/office/powerpoint/2010/main" val="874162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2">
            <a:extLst>
              <a:ext uri="{FF2B5EF4-FFF2-40B4-BE49-F238E27FC236}">
                <a16:creationId xmlns:a16="http://schemas.microsoft.com/office/drawing/2014/main" id="{4FE59C25-BE95-EE08-970B-A4082608C527}"/>
              </a:ext>
            </a:extLst>
          </p:cNvPr>
          <p:cNvGrpSpPr/>
          <p:nvPr/>
        </p:nvGrpSpPr>
        <p:grpSpPr>
          <a:xfrm>
            <a:off x="-909139" y="471708"/>
            <a:ext cx="20106278" cy="3995575"/>
            <a:chOff x="0" y="0"/>
            <a:chExt cx="5295481" cy="1052333"/>
          </a:xfrm>
        </p:grpSpPr>
        <p:sp>
          <p:nvSpPr>
            <p:cNvPr id="33" name="Freeform 3">
              <a:extLst>
                <a:ext uri="{FF2B5EF4-FFF2-40B4-BE49-F238E27FC236}">
                  <a16:creationId xmlns:a16="http://schemas.microsoft.com/office/drawing/2014/main" id="{6FC91FB8-8E9F-88AE-32C2-FE6276339D0F}"/>
                </a:ext>
              </a:extLst>
            </p:cNvPr>
            <p:cNvSpPr/>
            <p:nvPr/>
          </p:nvSpPr>
          <p:spPr>
            <a:xfrm>
              <a:off x="0" y="0"/>
              <a:ext cx="5295481" cy="1052333"/>
            </a:xfrm>
            <a:custGeom>
              <a:avLst/>
              <a:gdLst/>
              <a:ahLst/>
              <a:cxnLst/>
              <a:rect l="l" t="t" r="r" b="b"/>
              <a:pathLst>
                <a:path w="5295481" h="1052333">
                  <a:moveTo>
                    <a:pt x="0" y="0"/>
                  </a:moveTo>
                  <a:lnTo>
                    <a:pt x="5295481" y="0"/>
                  </a:lnTo>
                  <a:lnTo>
                    <a:pt x="5295481" y="1052333"/>
                  </a:lnTo>
                  <a:lnTo>
                    <a:pt x="0" y="1052333"/>
                  </a:lnTo>
                  <a:close/>
                </a:path>
              </a:pathLst>
            </a:custGeom>
            <a:solidFill>
              <a:srgbClr val="EAD6B8"/>
            </a:solidFill>
          </p:spPr>
          <p:txBody>
            <a:bodyPr/>
            <a:lstStyle/>
            <a:p>
              <a:endParaRPr lang="en-IN"/>
            </a:p>
          </p:txBody>
        </p:sp>
        <p:sp>
          <p:nvSpPr>
            <p:cNvPr id="34" name="TextBox 4">
              <a:extLst>
                <a:ext uri="{FF2B5EF4-FFF2-40B4-BE49-F238E27FC236}">
                  <a16:creationId xmlns:a16="http://schemas.microsoft.com/office/drawing/2014/main" id="{36C54394-3EC5-B851-C204-705F20C3FFD8}"/>
                </a:ext>
              </a:extLst>
            </p:cNvPr>
            <p:cNvSpPr txBox="1"/>
            <p:nvPr/>
          </p:nvSpPr>
          <p:spPr>
            <a:xfrm>
              <a:off x="0" y="-47625"/>
              <a:ext cx="5295481" cy="1099958"/>
            </a:xfrm>
            <a:prstGeom prst="rect">
              <a:avLst/>
            </a:prstGeom>
          </p:spPr>
          <p:txBody>
            <a:bodyPr lIns="50800" tIns="50800" rIns="50800" bIns="50800" rtlCol="0" anchor="ctr"/>
            <a:lstStyle/>
            <a:p>
              <a:pPr algn="ctr">
                <a:lnSpc>
                  <a:spcPts val="3012"/>
                </a:lnSpc>
              </a:pPr>
              <a:endParaRPr/>
            </a:p>
          </p:txBody>
        </p:sp>
      </p:grpSp>
      <p:sp>
        <p:nvSpPr>
          <p:cNvPr id="36" name="TextBox 35">
            <a:extLst>
              <a:ext uri="{FF2B5EF4-FFF2-40B4-BE49-F238E27FC236}">
                <a16:creationId xmlns:a16="http://schemas.microsoft.com/office/drawing/2014/main" id="{4FE47915-0317-29D0-7A00-B77F2C43B3A6}"/>
              </a:ext>
            </a:extLst>
          </p:cNvPr>
          <p:cNvSpPr txBox="1"/>
          <p:nvPr/>
        </p:nvSpPr>
        <p:spPr>
          <a:xfrm>
            <a:off x="3048000" y="4838700"/>
            <a:ext cx="11353800" cy="3970318"/>
          </a:xfrm>
          <a:prstGeom prst="rect">
            <a:avLst/>
          </a:prstGeom>
          <a:noFill/>
        </p:spPr>
        <p:txBody>
          <a:bodyPr wrap="square">
            <a:spAutoFit/>
          </a:bodyPr>
          <a:lstStyle/>
          <a:p>
            <a:pPr algn="just"/>
            <a:r>
              <a:rPr lang="en-GB" sz="3600" dirty="0">
                <a:latin typeface="Times New Roman" panose="02020603050405020304" pitchFamily="18" charset="0"/>
                <a:cs typeface="Times New Roman" panose="02020603050405020304" pitchFamily="18" charset="0"/>
              </a:rPr>
              <a:t>Sentiment analysis helps find emotions in text, making it helpful for businesses, social media, and customer support. Using different methods makes it more accurate and better at understanding feelings. Advanced techniques make it more reliable and useful in real life. In the future, it can get better at understanding sarcasm, slang, and different languages.</a:t>
            </a:r>
            <a:endParaRPr lang="en-IN" sz="3600" dirty="0">
              <a:latin typeface="Times New Roman" panose="02020603050405020304" pitchFamily="18" charset="0"/>
              <a:cs typeface="Times New Roman" panose="02020603050405020304" pitchFamily="18" charset="0"/>
            </a:endParaRPr>
          </a:p>
          <a:p>
            <a:pPr algn="just"/>
            <a:endParaRPr lang="en-IN" sz="36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2D3A3DF4-14BF-E974-E318-44B3D06511D0}"/>
              </a:ext>
            </a:extLst>
          </p:cNvPr>
          <p:cNvSpPr txBox="1"/>
          <p:nvPr/>
        </p:nvSpPr>
        <p:spPr>
          <a:xfrm>
            <a:off x="2743200" y="1988856"/>
            <a:ext cx="13799574" cy="1200329"/>
          </a:xfrm>
          <a:prstGeom prst="rect">
            <a:avLst/>
          </a:prstGeom>
          <a:noFill/>
        </p:spPr>
        <p:txBody>
          <a:bodyPr wrap="square">
            <a:spAutoFit/>
          </a:bodyPr>
          <a:lstStyle/>
          <a:p>
            <a:pPr>
              <a:buNone/>
            </a:pPr>
            <a:r>
              <a:rPr lang="en-US" sz="7200" b="1" dirty="0">
                <a:latin typeface="Times New Roman" panose="02020603050405020304" pitchFamily="18" charset="0"/>
                <a:cs typeface="Times New Roman" panose="02020603050405020304" pitchFamily="18" charset="0"/>
              </a:rPr>
              <a:t>Conclusion</a:t>
            </a:r>
          </a:p>
        </p:txBody>
      </p:sp>
      <p:sp>
        <p:nvSpPr>
          <p:cNvPr id="2" name="Freeform 5">
            <a:extLst>
              <a:ext uri="{FF2B5EF4-FFF2-40B4-BE49-F238E27FC236}">
                <a16:creationId xmlns:a16="http://schemas.microsoft.com/office/drawing/2014/main" id="{E42C6710-CD6B-71BB-77A4-D13B1B81D0FA}"/>
              </a:ext>
            </a:extLst>
          </p:cNvPr>
          <p:cNvSpPr/>
          <p:nvPr/>
        </p:nvSpPr>
        <p:spPr>
          <a:xfrm>
            <a:off x="17228820" y="9153279"/>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71519" y="2282576"/>
            <a:ext cx="732467" cy="686553"/>
          </a:xfrm>
          <a:custGeom>
            <a:avLst/>
            <a:gdLst/>
            <a:ahLst/>
            <a:cxnLst/>
            <a:rect l="l" t="t" r="r" b="b"/>
            <a:pathLst>
              <a:path w="732467" h="686553">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 name="Group 3"/>
          <p:cNvGrpSpPr/>
          <p:nvPr/>
        </p:nvGrpSpPr>
        <p:grpSpPr>
          <a:xfrm>
            <a:off x="-2500721" y="3516133"/>
            <a:ext cx="3529421" cy="3338071"/>
            <a:chOff x="0" y="0"/>
            <a:chExt cx="929559" cy="879163"/>
          </a:xfrm>
        </p:grpSpPr>
        <p:sp>
          <p:nvSpPr>
            <p:cNvPr id="4" name="Freeform 4"/>
            <p:cNvSpPr/>
            <p:nvPr/>
          </p:nvSpPr>
          <p:spPr>
            <a:xfrm>
              <a:off x="0" y="0"/>
              <a:ext cx="929559" cy="879163"/>
            </a:xfrm>
            <a:custGeom>
              <a:avLst/>
              <a:gdLst/>
              <a:ahLst/>
              <a:cxnLst/>
              <a:rect l="l" t="t" r="r" b="b"/>
              <a:pathLst>
                <a:path w="929559" h="879163">
                  <a:moveTo>
                    <a:pt x="0" y="0"/>
                  </a:moveTo>
                  <a:lnTo>
                    <a:pt x="929559" y="0"/>
                  </a:lnTo>
                  <a:lnTo>
                    <a:pt x="929559" y="879163"/>
                  </a:lnTo>
                  <a:lnTo>
                    <a:pt x="0" y="879163"/>
                  </a:lnTo>
                  <a:close/>
                </a:path>
              </a:pathLst>
            </a:custGeom>
            <a:solidFill>
              <a:srgbClr val="BCA37F"/>
            </a:solidFill>
          </p:spPr>
          <p:txBody>
            <a:bodyPr/>
            <a:lstStyle/>
            <a:p>
              <a:endParaRPr lang="en-IN"/>
            </a:p>
          </p:txBody>
        </p:sp>
        <p:sp>
          <p:nvSpPr>
            <p:cNvPr id="5" name="TextBox 5"/>
            <p:cNvSpPr txBox="1"/>
            <p:nvPr/>
          </p:nvSpPr>
          <p:spPr>
            <a:xfrm>
              <a:off x="0" y="-47625"/>
              <a:ext cx="929559" cy="926788"/>
            </a:xfrm>
            <a:prstGeom prst="rect">
              <a:avLst/>
            </a:prstGeom>
          </p:spPr>
          <p:txBody>
            <a:bodyPr lIns="50800" tIns="50800" rIns="50800" bIns="50800" rtlCol="0" anchor="ctr"/>
            <a:lstStyle/>
            <a:p>
              <a:pPr algn="ctr">
                <a:lnSpc>
                  <a:spcPts val="3012"/>
                </a:lnSpc>
              </a:pPr>
              <a:endParaRPr/>
            </a:p>
          </p:txBody>
        </p:sp>
      </p:grpSp>
      <p:grpSp>
        <p:nvGrpSpPr>
          <p:cNvPr id="6" name="Group 6"/>
          <p:cNvGrpSpPr/>
          <p:nvPr/>
        </p:nvGrpSpPr>
        <p:grpSpPr>
          <a:xfrm>
            <a:off x="16850683" y="7365373"/>
            <a:ext cx="1190712" cy="11907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txBody>
            <a:bodyPr/>
            <a:lstStyle/>
            <a:p>
              <a:endParaRPr lang="en-IN"/>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012"/>
                </a:lnSpc>
              </a:pPr>
              <a:endParaRPr/>
            </a:p>
          </p:txBody>
        </p:sp>
      </p:grpSp>
      <p:sp>
        <p:nvSpPr>
          <p:cNvPr id="9" name="Freeform 9"/>
          <p:cNvSpPr/>
          <p:nvPr/>
        </p:nvSpPr>
        <p:spPr>
          <a:xfrm>
            <a:off x="15207460" y="7876541"/>
            <a:ext cx="2618042" cy="4114800"/>
          </a:xfrm>
          <a:custGeom>
            <a:avLst/>
            <a:gdLst/>
            <a:ahLst/>
            <a:cxnLst/>
            <a:rect l="l" t="t" r="r" b="b"/>
            <a:pathLst>
              <a:path w="2618042" h="4114800">
                <a:moveTo>
                  <a:pt x="0" y="0"/>
                </a:moveTo>
                <a:lnTo>
                  <a:pt x="2618042" y="0"/>
                </a:lnTo>
                <a:lnTo>
                  <a:pt x="261804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0" name="Freeform 10"/>
          <p:cNvSpPr/>
          <p:nvPr/>
        </p:nvSpPr>
        <p:spPr>
          <a:xfrm rot="5400000">
            <a:off x="13601700" y="2158589"/>
            <a:ext cx="7315200" cy="247973"/>
          </a:xfrm>
          <a:custGeom>
            <a:avLst/>
            <a:gdLst/>
            <a:ahLst/>
            <a:cxnLst/>
            <a:rect l="l" t="t" r="r" b="b"/>
            <a:pathLst>
              <a:path w="7315200" h="247973">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1" name="Freeform 11"/>
          <p:cNvSpPr/>
          <p:nvPr/>
        </p:nvSpPr>
        <p:spPr>
          <a:xfrm>
            <a:off x="14574125" y="-869877"/>
            <a:ext cx="3251377" cy="2483239"/>
          </a:xfrm>
          <a:custGeom>
            <a:avLst/>
            <a:gdLst/>
            <a:ahLst/>
            <a:cxnLst/>
            <a:rect l="l" t="t" r="r" b="b"/>
            <a:pathLst>
              <a:path w="3251377" h="2483239">
                <a:moveTo>
                  <a:pt x="0" y="0"/>
                </a:moveTo>
                <a:lnTo>
                  <a:pt x="3251377" y="0"/>
                </a:lnTo>
                <a:lnTo>
                  <a:pt x="3251377" y="2483240"/>
                </a:lnTo>
                <a:lnTo>
                  <a:pt x="0" y="24832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2" name="TextBox 12"/>
          <p:cNvSpPr txBox="1"/>
          <p:nvPr/>
        </p:nvSpPr>
        <p:spPr>
          <a:xfrm>
            <a:off x="1771519" y="3350122"/>
            <a:ext cx="16269876" cy="2984984"/>
          </a:xfrm>
          <a:prstGeom prst="rect">
            <a:avLst/>
          </a:prstGeom>
        </p:spPr>
        <p:txBody>
          <a:bodyPr wrap="square" lIns="0" tIns="0" rIns="0" bIns="0" rtlCol="0" anchor="t">
            <a:spAutoFit/>
          </a:bodyPr>
          <a:lstStyle/>
          <a:p>
            <a:pPr marL="0" lvl="0" indent="0" algn="l">
              <a:lnSpc>
                <a:spcPts val="24508"/>
              </a:lnSpc>
            </a:pPr>
            <a:r>
              <a:rPr lang="en-US" sz="17506" b="1" dirty="0">
                <a:solidFill>
                  <a:srgbClr val="996633"/>
                </a:solidFill>
                <a:latin typeface="Nordique Inline" panose="00000500000000000000" pitchFamily="2" charset="0"/>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1810</TotalTime>
  <Words>1676</Words>
  <Application>Microsoft Office PowerPoint</Application>
  <PresentationFormat>Custom</PresentationFormat>
  <Paragraphs>420</Paragraphs>
  <Slides>22</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Arial Narrow</vt:lpstr>
      <vt:lpstr>Times New Roman</vt:lpstr>
      <vt:lpstr>Calibri</vt:lpstr>
      <vt:lpstr>Arial</vt:lpstr>
      <vt:lpstr>Inter Bold</vt:lpstr>
      <vt:lpstr>Nordique Inline</vt:lpstr>
      <vt:lpstr>Cambria Math</vt:lpstr>
      <vt:lpstr>Poppins Bold</vt:lpstr>
      <vt:lpstr>Wingdings</vt:lpstr>
      <vt:lpstr>Aptos</vt:lpstr>
      <vt:lpstr>Office Theme</vt:lpstr>
      <vt:lpstr>PowerPoint Presentation</vt:lpstr>
      <vt:lpstr>PowerPoint Presentation</vt:lpstr>
      <vt:lpstr>PowerPoint Presentation</vt:lpstr>
      <vt:lpstr>PowerPoint Presentation</vt:lpstr>
      <vt:lpstr>Datasets Statistics</vt:lpstr>
      <vt:lpstr>PowerPoint Presentation</vt:lpstr>
      <vt:lpstr>PowerPoint Presentation</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Confusion Matrix(IMDB)</vt:lpstr>
      <vt:lpstr>Confusion Matrix(Twitter)</vt:lpstr>
      <vt:lpstr>ROC -Curve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White Simple Research Proposal Presentation</dc:title>
  <dc:creator>pc</dc:creator>
  <cp:lastModifiedBy>Shanmukha Priya Maddiboina</cp:lastModifiedBy>
  <cp:revision>18</cp:revision>
  <dcterms:created xsi:type="dcterms:W3CDTF">2006-08-16T00:00:00Z</dcterms:created>
  <dcterms:modified xsi:type="dcterms:W3CDTF">2026-03-05T08:25:12Z</dcterms:modified>
  <dc:identifier>DAG5KWXu7jg</dc:identifier>
</cp:coreProperties>
</file>