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74" r:id="rId5"/>
    <p:sldId id="281" r:id="rId6"/>
    <p:sldId id="276" r:id="rId7"/>
    <p:sldId id="277" r:id="rId8"/>
    <p:sldId id="279" r:id="rId9"/>
    <p:sldId id="282" r:id="rId10"/>
    <p:sldId id="283" r:id="rId11"/>
    <p:sldId id="259" r:id="rId12"/>
    <p:sldId id="284" r:id="rId13"/>
    <p:sldId id="285" r:id="rId14"/>
    <p:sldId id="263" r:id="rId15"/>
    <p:sldId id="270" r:id="rId16"/>
  </p:sldIdLst>
  <p:sldSz cx="18288000" cy="10287000"/>
  <p:notesSz cx="6858000" cy="9144000"/>
  <p:embeddedFontLst>
    <p:embeddedFont>
      <p:font typeface="Inter Bold" panose="020B0604020202020204" charset="0"/>
      <p:regular r:id="rId17"/>
    </p:embeddedFont>
    <p:embeddedFont>
      <p:font typeface="Nordique Inline" panose="00000500000000000000" pitchFamily="2" charset="0"/>
      <p:regular r:id="rId18"/>
    </p:embeddedFont>
    <p:embeddedFont>
      <p:font typeface="Poppi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996600"/>
    <a:srgbClr val="66003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hyperlink" Target="file:///C:\Users\pc\Downloads\GIT.pptx"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71519" y="2282576"/>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628650" y="3511906"/>
            <a:ext cx="1257300" cy="3338071"/>
            <a:chOff x="0" y="0"/>
            <a:chExt cx="929559" cy="879163"/>
          </a:xfrm>
        </p:grpSpPr>
        <p:sp>
          <p:nvSpPr>
            <p:cNvPr id="4" name="Freeform 4"/>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5" name="TextBox 5"/>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16850683" y="7365373"/>
            <a:ext cx="1190712" cy="11907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Freeform 9"/>
          <p:cNvSpPr/>
          <p:nvPr/>
        </p:nvSpPr>
        <p:spPr>
          <a:xfrm>
            <a:off x="15207460" y="7876541"/>
            <a:ext cx="2618042" cy="4114800"/>
          </a:xfrm>
          <a:custGeom>
            <a:avLst/>
            <a:gdLst/>
            <a:ahLst/>
            <a:cxnLst/>
            <a:rect l="l" t="t" r="r" b="b"/>
            <a:pathLst>
              <a:path w="2618042" h="4114800">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5400000">
            <a:off x="13601700"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574125" y="-869877"/>
            <a:ext cx="3251377" cy="2483239"/>
          </a:xfrm>
          <a:custGeom>
            <a:avLst/>
            <a:gdLst/>
            <a:ahLst/>
            <a:cxnLst/>
            <a:rect l="l" t="t" r="r" b="b"/>
            <a:pathLst>
              <a:path w="3251377" h="2483239">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2645032" y="1656003"/>
            <a:ext cx="13516878" cy="2769989"/>
          </a:xfrm>
          <a:prstGeom prst="rect">
            <a:avLst/>
          </a:prstGeom>
        </p:spPr>
        <p:txBody>
          <a:bodyPr wrap="square" lIns="0" tIns="0" rIns="0" bIns="0" rtlCol="0" anchor="t">
            <a:spAutoFit/>
          </a:bodyPr>
          <a:lstStyle/>
          <a:p>
            <a:pPr algn="ctr"/>
            <a:r>
              <a:rPr lang="en-US" sz="6000" b="1" dirty="0">
                <a:solidFill>
                  <a:srgbClr val="996633"/>
                </a:solidFill>
                <a:latin typeface="Times New Roman" panose="02020603050405020304" pitchFamily="18" charset="0"/>
                <a:cs typeface="Times New Roman" panose="02020603050405020304" pitchFamily="18" charset="0"/>
                <a:sym typeface="Glacial Indifference Bold"/>
              </a:rPr>
              <a:t>An Uncertainty-Aware Active Learning Framework for Sentiment Analysis Using Transformer Based Models</a:t>
            </a:r>
            <a:r>
              <a:rPr lang="en-US" sz="6000" dirty="0">
                <a:latin typeface="Times New Roman" panose="02020603050405020304" pitchFamily="18" charset="0"/>
                <a:cs typeface="Times New Roman" panose="02020603050405020304" pitchFamily="18" charset="0"/>
              </a:rPr>
              <a:t> </a:t>
            </a:r>
            <a:endParaRPr lang="en-US" sz="6000" b="1" dirty="0">
              <a:solidFill>
                <a:srgbClr val="996633"/>
              </a:solidFill>
              <a:latin typeface="Times New Roman" panose="02020603050405020304" pitchFamily="18" charset="0"/>
              <a:ea typeface="Glacial Indifference Bold"/>
              <a:cs typeface="Times New Roman" panose="02020603050405020304" pitchFamily="18" charset="0"/>
              <a:sym typeface="Glacial Indifference Bold"/>
            </a:endParaRPr>
          </a:p>
        </p:txBody>
      </p:sp>
      <p:grpSp>
        <p:nvGrpSpPr>
          <p:cNvPr id="13" name="Group 3">
            <a:extLst>
              <a:ext uri="{FF2B5EF4-FFF2-40B4-BE49-F238E27FC236}">
                <a16:creationId xmlns:a16="http://schemas.microsoft.com/office/drawing/2014/main" id="{F640DF8E-E5D4-D3D6-D8FB-510DAD2BCD8F}"/>
              </a:ext>
            </a:extLst>
          </p:cNvPr>
          <p:cNvGrpSpPr/>
          <p:nvPr/>
        </p:nvGrpSpPr>
        <p:grpSpPr>
          <a:xfrm>
            <a:off x="9103229" y="6106615"/>
            <a:ext cx="7859083" cy="3338071"/>
            <a:chOff x="0" y="0"/>
            <a:chExt cx="929559" cy="879163"/>
          </a:xfrm>
        </p:grpSpPr>
        <p:sp>
          <p:nvSpPr>
            <p:cNvPr id="14" name="Freeform 4">
              <a:extLst>
                <a:ext uri="{FF2B5EF4-FFF2-40B4-BE49-F238E27FC236}">
                  <a16:creationId xmlns:a16="http://schemas.microsoft.com/office/drawing/2014/main" id="{A5EFED25-2B06-F681-A326-887BF5D6C9C6}"/>
                </a:ext>
              </a:extLst>
            </p:cNvPr>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15" name="TextBox 5">
              <a:extLst>
                <a:ext uri="{FF2B5EF4-FFF2-40B4-BE49-F238E27FC236}">
                  <a16:creationId xmlns:a16="http://schemas.microsoft.com/office/drawing/2014/main" id="{25450E0F-BB99-E4D3-B906-A17874A82CDA}"/>
                </a:ext>
              </a:extLst>
            </p:cNvPr>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sp>
        <p:nvSpPr>
          <p:cNvPr id="17" name="TextBox 16">
            <a:extLst>
              <a:ext uri="{FF2B5EF4-FFF2-40B4-BE49-F238E27FC236}">
                <a16:creationId xmlns:a16="http://schemas.microsoft.com/office/drawing/2014/main" id="{7B11BF39-7C13-055C-6827-0A3393050F65}"/>
              </a:ext>
            </a:extLst>
          </p:cNvPr>
          <p:cNvSpPr txBox="1"/>
          <p:nvPr/>
        </p:nvSpPr>
        <p:spPr>
          <a:xfrm>
            <a:off x="9144000" y="6439314"/>
            <a:ext cx="3048000"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Presented By:</a:t>
            </a:r>
          </a:p>
        </p:txBody>
      </p:sp>
      <p:sp>
        <p:nvSpPr>
          <p:cNvPr id="19" name="TextBox 18">
            <a:extLst>
              <a:ext uri="{FF2B5EF4-FFF2-40B4-BE49-F238E27FC236}">
                <a16:creationId xmlns:a16="http://schemas.microsoft.com/office/drawing/2014/main" id="{6B9869E6-7B30-2CA7-03B7-39DDB76FCB8F}"/>
              </a:ext>
            </a:extLst>
          </p:cNvPr>
          <p:cNvSpPr txBox="1"/>
          <p:nvPr/>
        </p:nvSpPr>
        <p:spPr>
          <a:xfrm>
            <a:off x="6172200" y="412855"/>
            <a:ext cx="9461090" cy="923330"/>
          </a:xfrm>
          <a:prstGeom prst="rect">
            <a:avLst/>
          </a:prstGeom>
          <a:noFill/>
        </p:spPr>
        <p:txBody>
          <a:bodyPr wrap="square">
            <a:spAutoFit/>
          </a:bodyPr>
          <a:lstStyle/>
          <a:p>
            <a:r>
              <a:rPr lang="en-IN" sz="5400" b="1" dirty="0">
                <a:latin typeface="Times New Roman" panose="02020603050405020304" pitchFamily="18" charset="0"/>
                <a:cs typeface="Times New Roman" panose="02020603050405020304" pitchFamily="18" charset="0"/>
              </a:rPr>
              <a:t>First Review</a:t>
            </a:r>
          </a:p>
        </p:txBody>
      </p:sp>
      <p:sp>
        <p:nvSpPr>
          <p:cNvPr id="21" name="TextBox 20">
            <a:extLst>
              <a:ext uri="{FF2B5EF4-FFF2-40B4-BE49-F238E27FC236}">
                <a16:creationId xmlns:a16="http://schemas.microsoft.com/office/drawing/2014/main" id="{76BD3E69-1129-138A-004E-EC0379CBAF67}"/>
              </a:ext>
            </a:extLst>
          </p:cNvPr>
          <p:cNvSpPr txBox="1"/>
          <p:nvPr/>
        </p:nvSpPr>
        <p:spPr>
          <a:xfrm>
            <a:off x="10287000" y="7195642"/>
            <a:ext cx="9461090" cy="1815882"/>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221FA04625  </a:t>
            </a:r>
            <a:r>
              <a:rPr lang="en-IN" sz="2800" dirty="0" err="1">
                <a:latin typeface="Times New Roman" panose="02020603050405020304" pitchFamily="18" charset="0"/>
                <a:cs typeface="Times New Roman" panose="02020603050405020304" pitchFamily="18" charset="0"/>
              </a:rPr>
              <a:t>M.Shanmukha</a:t>
            </a:r>
            <a:r>
              <a:rPr lang="en-IN" sz="2800" dirty="0">
                <a:latin typeface="Times New Roman" panose="02020603050405020304" pitchFamily="18" charset="0"/>
                <a:cs typeface="Times New Roman" panose="02020603050405020304" pitchFamily="18" charset="0"/>
              </a:rPr>
              <a:t> Priya</a:t>
            </a:r>
          </a:p>
          <a:p>
            <a:r>
              <a:rPr lang="en-IN" sz="2800" dirty="0">
                <a:latin typeface="Times New Roman" panose="02020603050405020304" pitchFamily="18" charset="0"/>
                <a:cs typeface="Times New Roman" panose="02020603050405020304" pitchFamily="18" charset="0"/>
              </a:rPr>
              <a:t>221FA04700  </a:t>
            </a:r>
            <a:r>
              <a:rPr lang="en-IN" sz="2800" dirty="0" err="1">
                <a:latin typeface="Times New Roman" panose="02020603050405020304" pitchFamily="18" charset="0"/>
                <a:cs typeface="Times New Roman" panose="02020603050405020304" pitchFamily="18" charset="0"/>
              </a:rPr>
              <a:t>K.Swathi</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3D2C6266-4801-27F0-B4B3-1EEB0D33BA39}"/>
              </a:ext>
            </a:extLst>
          </p:cNvPr>
          <p:cNvSpPr txBox="1"/>
          <p:nvPr/>
        </p:nvSpPr>
        <p:spPr>
          <a:xfrm>
            <a:off x="6501964" y="4441788"/>
            <a:ext cx="1019113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Batch N0:259</a:t>
            </a:r>
          </a:p>
        </p:txBody>
      </p:sp>
      <p:sp>
        <p:nvSpPr>
          <p:cNvPr id="25" name="TextBox 24">
            <a:extLst>
              <a:ext uri="{FF2B5EF4-FFF2-40B4-BE49-F238E27FC236}">
                <a16:creationId xmlns:a16="http://schemas.microsoft.com/office/drawing/2014/main" id="{2F67908F-16BD-29A6-229D-82CE4EC62FD3}"/>
              </a:ext>
            </a:extLst>
          </p:cNvPr>
          <p:cNvSpPr txBox="1"/>
          <p:nvPr/>
        </p:nvSpPr>
        <p:spPr>
          <a:xfrm>
            <a:off x="793990" y="7418344"/>
            <a:ext cx="10191134" cy="227241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Guide details:</a:t>
            </a:r>
          </a:p>
          <a:p>
            <a:r>
              <a:rPr lang="en-IN" sz="2800" dirty="0">
                <a:latin typeface="Times New Roman" panose="02020603050405020304" pitchFamily="18" charset="0"/>
                <a:cs typeface="Times New Roman" panose="02020603050405020304" pitchFamily="18" charset="0"/>
              </a:rPr>
              <a:t>Mrs . S. Anitha</a:t>
            </a:r>
          </a:p>
          <a:p>
            <a:pPr marL="12700" marR="5080">
              <a:lnSpc>
                <a:spcPct val="99800"/>
              </a:lnSpc>
              <a:spcBef>
                <a:spcPts val="115"/>
              </a:spcBef>
            </a:pPr>
            <a:r>
              <a:rPr lang="en-IN" sz="2800" spc="300" dirty="0" err="1">
                <a:latin typeface="Times New Roman" panose="02020603050405020304" pitchFamily="18" charset="0"/>
                <a:cs typeface="Times New Roman" panose="02020603050405020304" pitchFamily="18" charset="0"/>
              </a:rPr>
              <a:t>Asst.Prof</a:t>
            </a:r>
            <a:endParaRPr lang="en-IN" sz="2800" spc="300" dirty="0">
              <a:latin typeface="Times New Roman" panose="02020603050405020304" pitchFamily="18" charset="0"/>
              <a:cs typeface="Times New Roman" panose="02020603050405020304" pitchFamily="18" charset="0"/>
            </a:endParaRPr>
          </a:p>
          <a:p>
            <a:pPr marL="12700" marR="5080">
              <a:lnSpc>
                <a:spcPct val="99800"/>
              </a:lnSpc>
              <a:spcBef>
                <a:spcPts val="115"/>
              </a:spcBef>
            </a:pPr>
            <a:r>
              <a:rPr lang="en-IN" sz="2800" spc="300" dirty="0">
                <a:latin typeface="Times New Roman" panose="02020603050405020304" pitchFamily="18" charset="0"/>
                <a:cs typeface="Times New Roman" panose="02020603050405020304" pitchFamily="18" charset="0"/>
              </a:rPr>
              <a:t>Dept of CSE                           </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80343" y="8915023"/>
            <a:ext cx="732467" cy="686553"/>
          </a:xfrm>
          <a:custGeom>
            <a:avLst/>
            <a:gdLst/>
            <a:ahLst/>
            <a:cxnLst/>
            <a:rect l="l" t="t" r="r" b="b"/>
            <a:pathLst>
              <a:path w="732467" h="686553">
                <a:moveTo>
                  <a:pt x="0" y="0"/>
                </a:moveTo>
                <a:lnTo>
                  <a:pt x="732467" y="0"/>
                </a:lnTo>
                <a:lnTo>
                  <a:pt x="732467" y="686554"/>
                </a:lnTo>
                <a:lnTo>
                  <a:pt x="0" y="686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3025320" y="3275637"/>
            <a:ext cx="4233980" cy="8932726"/>
            <a:chOff x="0" y="0"/>
            <a:chExt cx="1115122" cy="2352652"/>
          </a:xfrm>
        </p:grpSpPr>
        <p:sp>
          <p:nvSpPr>
            <p:cNvPr id="4" name="Freeform 4"/>
            <p:cNvSpPr/>
            <p:nvPr/>
          </p:nvSpPr>
          <p:spPr>
            <a:xfrm>
              <a:off x="0" y="0"/>
              <a:ext cx="1115122" cy="2352652"/>
            </a:xfrm>
            <a:custGeom>
              <a:avLst/>
              <a:gdLst/>
              <a:ahLst/>
              <a:cxnLst/>
              <a:rect l="l" t="t" r="r" b="b"/>
              <a:pathLst>
                <a:path w="1115122" h="2352652">
                  <a:moveTo>
                    <a:pt x="0" y="0"/>
                  </a:moveTo>
                  <a:lnTo>
                    <a:pt x="1115122" y="0"/>
                  </a:lnTo>
                  <a:lnTo>
                    <a:pt x="1115122" y="2352652"/>
                  </a:lnTo>
                  <a:lnTo>
                    <a:pt x="0" y="2352652"/>
                  </a:lnTo>
                  <a:close/>
                </a:path>
              </a:pathLst>
            </a:custGeom>
            <a:solidFill>
              <a:srgbClr val="EAD6B8"/>
            </a:solidFill>
          </p:spPr>
          <p:txBody>
            <a:bodyPr/>
            <a:lstStyle/>
            <a:p>
              <a:endParaRPr lang="en-IN"/>
            </a:p>
          </p:txBody>
        </p:sp>
        <p:sp>
          <p:nvSpPr>
            <p:cNvPr id="5" name="TextBox 5"/>
            <p:cNvSpPr txBox="1"/>
            <p:nvPr/>
          </p:nvSpPr>
          <p:spPr>
            <a:xfrm>
              <a:off x="0" y="-47625"/>
              <a:ext cx="1115122" cy="2400277"/>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2587404" y="2701881"/>
            <a:ext cx="4233980" cy="5167289"/>
            <a:chOff x="0" y="0"/>
            <a:chExt cx="1115122" cy="1360932"/>
          </a:xfrm>
        </p:grpSpPr>
        <p:sp>
          <p:nvSpPr>
            <p:cNvPr id="7" name="Freeform 7"/>
            <p:cNvSpPr/>
            <p:nvPr/>
          </p:nvSpPr>
          <p:spPr>
            <a:xfrm>
              <a:off x="0" y="0"/>
              <a:ext cx="1115122" cy="1360932"/>
            </a:xfrm>
            <a:custGeom>
              <a:avLst/>
              <a:gdLst/>
              <a:ahLst/>
              <a:cxnLst/>
              <a:rect l="l" t="t" r="r" b="b"/>
              <a:pathLst>
                <a:path w="1115122" h="1360932">
                  <a:moveTo>
                    <a:pt x="0" y="0"/>
                  </a:moveTo>
                  <a:lnTo>
                    <a:pt x="1115122" y="0"/>
                  </a:lnTo>
                  <a:lnTo>
                    <a:pt x="1115122" y="1360932"/>
                  </a:lnTo>
                  <a:lnTo>
                    <a:pt x="0" y="1360932"/>
                  </a:lnTo>
                  <a:close/>
                </a:path>
              </a:pathLst>
            </a:custGeom>
            <a:solidFill>
              <a:srgbClr val="EAD6B8"/>
            </a:solidFill>
          </p:spPr>
          <p:txBody>
            <a:bodyPr/>
            <a:lstStyle/>
            <a:p>
              <a:endParaRPr lang="en-IN"/>
            </a:p>
          </p:txBody>
        </p:sp>
        <p:sp>
          <p:nvSpPr>
            <p:cNvPr id="8" name="TextBox 8"/>
            <p:cNvSpPr txBox="1"/>
            <p:nvPr/>
          </p:nvSpPr>
          <p:spPr>
            <a:xfrm>
              <a:off x="0" y="-47625"/>
              <a:ext cx="1115122" cy="1408557"/>
            </a:xfrm>
            <a:prstGeom prst="rect">
              <a:avLst/>
            </a:prstGeom>
          </p:spPr>
          <p:txBody>
            <a:bodyPr lIns="50800" tIns="50800" rIns="50800" bIns="50800" rtlCol="0" anchor="ctr"/>
            <a:lstStyle/>
            <a:p>
              <a:pPr algn="ctr">
                <a:lnSpc>
                  <a:spcPts val="3012"/>
                </a:lnSpc>
              </a:pPr>
              <a:endParaRPr/>
            </a:p>
          </p:txBody>
        </p:sp>
      </p:grpSp>
      <p:grpSp>
        <p:nvGrpSpPr>
          <p:cNvPr id="9" name="Group 9"/>
          <p:cNvGrpSpPr/>
          <p:nvPr/>
        </p:nvGrpSpPr>
        <p:grpSpPr>
          <a:xfrm>
            <a:off x="11003228" y="2422871"/>
            <a:ext cx="5246370" cy="6130348"/>
            <a:chOff x="0" y="0"/>
            <a:chExt cx="812800" cy="949751"/>
          </a:xfrm>
        </p:grpSpPr>
        <p:sp>
          <p:nvSpPr>
            <p:cNvPr id="10" name="Freeform 10"/>
            <p:cNvSpPr/>
            <p:nvPr/>
          </p:nvSpPr>
          <p:spPr>
            <a:xfrm>
              <a:off x="0" y="0"/>
              <a:ext cx="812800" cy="949751"/>
            </a:xfrm>
            <a:custGeom>
              <a:avLst/>
              <a:gdLst/>
              <a:ahLst/>
              <a:cxnLst/>
              <a:rect l="l" t="t" r="r" b="b"/>
              <a:pathLst>
                <a:path w="812800" h="949751">
                  <a:moveTo>
                    <a:pt x="0" y="0"/>
                  </a:moveTo>
                  <a:lnTo>
                    <a:pt x="812800" y="0"/>
                  </a:lnTo>
                  <a:lnTo>
                    <a:pt x="812800" y="949751"/>
                  </a:lnTo>
                  <a:lnTo>
                    <a:pt x="0" y="949751"/>
                  </a:lnTo>
                  <a:close/>
                </a:path>
              </a:pathLst>
            </a:custGeom>
            <a:blipFill>
              <a:blip r:embed="rId4"/>
              <a:stretch>
                <a:fillRect t="-3487" b="-3487"/>
              </a:stretch>
            </a:blipFill>
          </p:spPr>
          <p:txBody>
            <a:bodyPr/>
            <a:lstStyle/>
            <a:p>
              <a:endParaRPr lang="en-IN"/>
            </a:p>
          </p:txBody>
        </p:sp>
      </p:grpSp>
      <p:grpSp>
        <p:nvGrpSpPr>
          <p:cNvPr id="11" name="Group 11"/>
          <p:cNvGrpSpPr/>
          <p:nvPr/>
        </p:nvGrpSpPr>
        <p:grpSpPr>
          <a:xfrm>
            <a:off x="2713440" y="2576910"/>
            <a:ext cx="698728" cy="698728"/>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13" name="TextBox 13"/>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01</a:t>
              </a:r>
            </a:p>
          </p:txBody>
        </p:sp>
      </p:grpSp>
      <p:grpSp>
        <p:nvGrpSpPr>
          <p:cNvPr id="14" name="Group 14"/>
          <p:cNvGrpSpPr/>
          <p:nvPr/>
        </p:nvGrpSpPr>
        <p:grpSpPr>
          <a:xfrm>
            <a:off x="2713440" y="3495616"/>
            <a:ext cx="698728" cy="698728"/>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16" name="TextBox 16"/>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02</a:t>
              </a:r>
            </a:p>
          </p:txBody>
        </p:sp>
      </p:grpSp>
      <p:sp>
        <p:nvSpPr>
          <p:cNvPr id="17" name="TextBox 17"/>
          <p:cNvSpPr txBox="1"/>
          <p:nvPr/>
        </p:nvSpPr>
        <p:spPr>
          <a:xfrm>
            <a:off x="1028700" y="404228"/>
            <a:ext cx="12240089" cy="1687211"/>
          </a:xfrm>
          <a:prstGeom prst="rect">
            <a:avLst/>
          </a:prstGeom>
        </p:spPr>
        <p:txBody>
          <a:bodyPr lIns="0" tIns="0" rIns="0" bIns="0" rtlCol="0" anchor="t">
            <a:spAutoFit/>
          </a:bodyPr>
          <a:lstStyle/>
          <a:p>
            <a:pPr marL="0" lvl="0" indent="0" algn="l">
              <a:lnSpc>
                <a:spcPts val="13050"/>
              </a:lnSpc>
              <a:spcBef>
                <a:spcPct val="0"/>
              </a:spcBef>
            </a:pPr>
            <a:r>
              <a:rPr lang="en-US" sz="9321" b="1" dirty="0">
                <a:solidFill>
                  <a:srgbClr val="705C40"/>
                </a:solidFill>
                <a:latin typeface="Poppins Bold"/>
                <a:ea typeface="Poppins Bold"/>
                <a:cs typeface="Poppins Bold"/>
                <a:sym typeface="Poppins Bold"/>
              </a:rPr>
              <a:t>Agenda Overview</a:t>
            </a:r>
          </a:p>
        </p:txBody>
      </p:sp>
      <p:sp>
        <p:nvSpPr>
          <p:cNvPr id="19" name="TextBox 19"/>
          <p:cNvSpPr txBox="1"/>
          <p:nvPr/>
        </p:nvSpPr>
        <p:spPr>
          <a:xfrm>
            <a:off x="3697550" y="2635206"/>
            <a:ext cx="4057443" cy="483337"/>
          </a:xfrm>
          <a:prstGeom prst="rect">
            <a:avLst/>
          </a:prstGeom>
        </p:spPr>
        <p:txBody>
          <a:bodyPr lIns="0" tIns="0" rIns="0" bIns="0" rtlCol="0" anchor="t">
            <a:spAutoFit/>
          </a:bodyPr>
          <a:lstStyle/>
          <a:p>
            <a:pPr algn="l">
              <a:lnSpc>
                <a:spcPts val="4132"/>
              </a:lnSpc>
              <a:spcBef>
                <a:spcPct val="0"/>
              </a:spcBef>
            </a:pPr>
            <a:r>
              <a:rPr lang="en-US" sz="2951" b="1" dirty="0">
                <a:solidFill>
                  <a:srgbClr val="000000"/>
                </a:solidFill>
                <a:latin typeface="Inter Bold"/>
                <a:ea typeface="Inter Bold"/>
                <a:cs typeface="Inter Bold"/>
                <a:sym typeface="Inter Bold"/>
              </a:rPr>
              <a:t>Introduction</a:t>
            </a:r>
          </a:p>
        </p:txBody>
      </p:sp>
      <p:sp>
        <p:nvSpPr>
          <p:cNvPr id="20" name="TextBox 20"/>
          <p:cNvSpPr txBox="1"/>
          <p:nvPr/>
        </p:nvSpPr>
        <p:spPr>
          <a:xfrm>
            <a:off x="3697550" y="3553912"/>
            <a:ext cx="5446450" cy="500137"/>
          </a:xfrm>
          <a:prstGeom prst="rect">
            <a:avLst/>
          </a:prstGeom>
        </p:spPr>
        <p:txBody>
          <a:bodyPr wrap="square"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Motivation</a:t>
            </a:r>
          </a:p>
        </p:txBody>
      </p:sp>
      <p:grpSp>
        <p:nvGrpSpPr>
          <p:cNvPr id="21" name="Group 21"/>
          <p:cNvGrpSpPr/>
          <p:nvPr/>
        </p:nvGrpSpPr>
        <p:grpSpPr>
          <a:xfrm>
            <a:off x="2713440" y="4414323"/>
            <a:ext cx="698728" cy="698728"/>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23" name="TextBox 23"/>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03</a:t>
              </a:r>
            </a:p>
          </p:txBody>
        </p:sp>
      </p:grpSp>
      <p:sp>
        <p:nvSpPr>
          <p:cNvPr id="24" name="TextBox 24"/>
          <p:cNvSpPr txBox="1"/>
          <p:nvPr/>
        </p:nvSpPr>
        <p:spPr>
          <a:xfrm>
            <a:off x="3697550" y="4472618"/>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Dataset Description</a:t>
            </a:r>
          </a:p>
        </p:txBody>
      </p:sp>
      <p:grpSp>
        <p:nvGrpSpPr>
          <p:cNvPr id="25" name="Group 25"/>
          <p:cNvGrpSpPr/>
          <p:nvPr/>
        </p:nvGrpSpPr>
        <p:grpSpPr>
          <a:xfrm>
            <a:off x="2713440" y="5333029"/>
            <a:ext cx="698728" cy="698728"/>
            <a:chOff x="0" y="0"/>
            <a:chExt cx="812800" cy="812800"/>
          </a:xfrm>
        </p:grpSpPr>
        <p:sp>
          <p:nvSpPr>
            <p:cNvPr id="26" name="Freeform 2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27" name="TextBox 27"/>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04</a:t>
              </a:r>
            </a:p>
          </p:txBody>
        </p:sp>
      </p:grpSp>
      <p:sp>
        <p:nvSpPr>
          <p:cNvPr id="28" name="TextBox 28"/>
          <p:cNvSpPr txBox="1"/>
          <p:nvPr/>
        </p:nvSpPr>
        <p:spPr>
          <a:xfrm>
            <a:off x="3697550" y="5391325"/>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Proposed Models</a:t>
            </a:r>
          </a:p>
        </p:txBody>
      </p:sp>
      <p:grpSp>
        <p:nvGrpSpPr>
          <p:cNvPr id="29" name="Group 29"/>
          <p:cNvGrpSpPr/>
          <p:nvPr/>
        </p:nvGrpSpPr>
        <p:grpSpPr>
          <a:xfrm>
            <a:off x="2713440" y="6251735"/>
            <a:ext cx="698728" cy="698728"/>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31" name="TextBox 31"/>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05</a:t>
              </a:r>
            </a:p>
          </p:txBody>
        </p:sp>
      </p:grpSp>
      <p:sp>
        <p:nvSpPr>
          <p:cNvPr id="32" name="TextBox 32"/>
          <p:cNvSpPr txBox="1"/>
          <p:nvPr/>
        </p:nvSpPr>
        <p:spPr>
          <a:xfrm>
            <a:off x="3525469" y="6186276"/>
            <a:ext cx="6589451" cy="886397"/>
          </a:xfrm>
          <a:prstGeom prst="rect">
            <a:avLst/>
          </a:prstGeom>
        </p:spPr>
        <p:txBody>
          <a:bodyPr wrap="square" lIns="0" tIns="0" rIns="0" bIns="0" rtlCol="0" anchor="t">
            <a:spAutoFit/>
          </a:bodyPr>
          <a:lstStyle/>
          <a:p>
            <a:pPr marL="127000" indent="0">
              <a:lnSpc>
                <a:spcPct val="90000"/>
              </a:lnSpc>
              <a:spcBef>
                <a:spcPct val="0"/>
              </a:spcBef>
              <a:spcAft>
                <a:spcPts val="600"/>
              </a:spcAft>
            </a:pPr>
            <a:r>
              <a:rPr lang="en-US" sz="3200" b="1" dirty="0">
                <a:latin typeface="Times New Roman" panose="02020603050405020304" pitchFamily="18" charset="0"/>
                <a:cs typeface="Times New Roman" panose="02020603050405020304" pitchFamily="18" charset="0"/>
              </a:rPr>
              <a:t>Identification of Tools / Equipment / Training Needs</a:t>
            </a:r>
          </a:p>
        </p:txBody>
      </p:sp>
      <p:grpSp>
        <p:nvGrpSpPr>
          <p:cNvPr id="33" name="Group 33"/>
          <p:cNvGrpSpPr/>
          <p:nvPr/>
        </p:nvGrpSpPr>
        <p:grpSpPr>
          <a:xfrm>
            <a:off x="2713440" y="7170442"/>
            <a:ext cx="698728" cy="698728"/>
            <a:chOff x="0" y="0"/>
            <a:chExt cx="812800" cy="812800"/>
          </a:xfrm>
        </p:grpSpPr>
        <p:sp>
          <p:nvSpPr>
            <p:cNvPr id="34" name="Freeform 3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35" name="TextBox 35"/>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dirty="0">
                  <a:solidFill>
                    <a:srgbClr val="000000"/>
                  </a:solidFill>
                  <a:latin typeface="Inter Bold"/>
                  <a:ea typeface="Inter Bold"/>
                  <a:cs typeface="Inter Bold"/>
                  <a:sym typeface="Inter Bold"/>
                </a:rPr>
                <a:t>06</a:t>
              </a:r>
            </a:p>
          </p:txBody>
        </p:sp>
      </p:grpSp>
      <p:sp>
        <p:nvSpPr>
          <p:cNvPr id="36" name="TextBox 36"/>
          <p:cNvSpPr txBox="1"/>
          <p:nvPr/>
        </p:nvSpPr>
        <p:spPr>
          <a:xfrm>
            <a:off x="3697550" y="7228737"/>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Methodology</a:t>
            </a:r>
          </a:p>
        </p:txBody>
      </p:sp>
      <p:sp>
        <p:nvSpPr>
          <p:cNvPr id="37" name="Freeform 37"/>
          <p:cNvSpPr/>
          <p:nvPr/>
        </p:nvSpPr>
        <p:spPr>
          <a:xfrm>
            <a:off x="11838803" y="9258300"/>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pic>
        <p:nvPicPr>
          <p:cNvPr id="18" name="Picture 17">
            <a:extLst>
              <a:ext uri="{FF2B5EF4-FFF2-40B4-BE49-F238E27FC236}">
                <a16:creationId xmlns:a16="http://schemas.microsoft.com/office/drawing/2014/main" id="{1B7EAF28-62A1-1604-24D1-659D9A71D84C}"/>
              </a:ext>
            </a:extLst>
          </p:cNvPr>
          <p:cNvPicPr>
            <a:picLocks noChangeAspect="1"/>
          </p:cNvPicPr>
          <p:nvPr/>
        </p:nvPicPr>
        <p:blipFill>
          <a:blip r:embed="rId7"/>
          <a:stretch>
            <a:fillRect/>
          </a:stretch>
        </p:blipFill>
        <p:spPr>
          <a:xfrm>
            <a:off x="-2474475" y="3495616"/>
            <a:ext cx="4277322" cy="3496163"/>
          </a:xfrm>
          <a:prstGeom prst="rect">
            <a:avLst/>
          </a:prstGeom>
        </p:spPr>
      </p:pic>
      <p:grpSp>
        <p:nvGrpSpPr>
          <p:cNvPr id="41" name="Group 33">
            <a:extLst>
              <a:ext uri="{FF2B5EF4-FFF2-40B4-BE49-F238E27FC236}">
                <a16:creationId xmlns:a16="http://schemas.microsoft.com/office/drawing/2014/main" id="{1B86BB42-6421-3FDC-FE8D-D7F9DDFFE7D2}"/>
              </a:ext>
            </a:extLst>
          </p:cNvPr>
          <p:cNvGrpSpPr/>
          <p:nvPr/>
        </p:nvGrpSpPr>
        <p:grpSpPr>
          <a:xfrm>
            <a:off x="2764512" y="8040020"/>
            <a:ext cx="698728" cy="904601"/>
            <a:chOff x="0" y="0"/>
            <a:chExt cx="812800" cy="812800"/>
          </a:xfrm>
        </p:grpSpPr>
        <p:sp>
          <p:nvSpPr>
            <p:cNvPr id="42" name="Freeform 34">
              <a:extLst>
                <a:ext uri="{FF2B5EF4-FFF2-40B4-BE49-F238E27FC236}">
                  <a16:creationId xmlns:a16="http://schemas.microsoft.com/office/drawing/2014/main" id="{59D5B2C8-F25C-E2C5-0FCA-8F51C944EBA3}"/>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43" name="TextBox 35">
              <a:extLst>
                <a:ext uri="{FF2B5EF4-FFF2-40B4-BE49-F238E27FC236}">
                  <a16:creationId xmlns:a16="http://schemas.microsoft.com/office/drawing/2014/main" id="{D33D36ED-F46B-6881-B422-9C7B910158E0}"/>
                </a:ext>
              </a:extLst>
            </p:cNvPr>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dirty="0">
                  <a:solidFill>
                    <a:srgbClr val="000000"/>
                  </a:solidFill>
                  <a:latin typeface="Inter Bold"/>
                  <a:ea typeface="Inter Bold"/>
                  <a:cs typeface="Inter Bold"/>
                  <a:sym typeface="Inter Bold"/>
                </a:rPr>
                <a:t>07</a:t>
              </a:r>
            </a:p>
          </p:txBody>
        </p:sp>
      </p:grpSp>
      <p:sp>
        <p:nvSpPr>
          <p:cNvPr id="44" name="TextBox 36">
            <a:extLst>
              <a:ext uri="{FF2B5EF4-FFF2-40B4-BE49-F238E27FC236}">
                <a16:creationId xmlns:a16="http://schemas.microsoft.com/office/drawing/2014/main" id="{CF3E69F8-C726-79D7-B51D-86E816567B95}"/>
              </a:ext>
            </a:extLst>
          </p:cNvPr>
          <p:cNvSpPr txBox="1"/>
          <p:nvPr/>
        </p:nvSpPr>
        <p:spPr>
          <a:xfrm>
            <a:off x="3697550" y="8155241"/>
            <a:ext cx="4057443" cy="492443"/>
          </a:xfrm>
          <a:prstGeom prst="rect">
            <a:avLst/>
          </a:prstGeom>
        </p:spPr>
        <p:txBody>
          <a:bodyPr lIns="0" tIns="0" rIns="0" bIns="0" rtlCol="0" anchor="t">
            <a:spAutoFit/>
          </a:bodyPr>
          <a:lstStyle/>
          <a:p>
            <a:r>
              <a:rPr lang="en-IN" sz="32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sp>
        <p:nvSpPr>
          <p:cNvPr id="7" name="AutoShape 7"/>
          <p:cNvSpPr/>
          <p:nvPr/>
        </p:nvSpPr>
        <p:spPr>
          <a:xfrm>
            <a:off x="6783460" y="8789538"/>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grpSp>
        <p:nvGrpSpPr>
          <p:cNvPr id="10" name="Group 10"/>
          <p:cNvGrpSpPr/>
          <p:nvPr/>
        </p:nvGrpSpPr>
        <p:grpSpPr>
          <a:xfrm>
            <a:off x="-914400" y="564813"/>
            <a:ext cx="3086100" cy="1178743"/>
            <a:chOff x="0" y="0"/>
            <a:chExt cx="812800" cy="310451"/>
          </a:xfrm>
        </p:grpSpPr>
        <p:sp>
          <p:nvSpPr>
            <p:cNvPr id="11" name="Freeform 11"/>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2" name="TextBox 12"/>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8EBD72FB-9014-CD74-7478-93EB440918D6}"/>
              </a:ext>
            </a:extLst>
          </p:cNvPr>
          <p:cNvSpPr txBox="1"/>
          <p:nvPr/>
        </p:nvSpPr>
        <p:spPr>
          <a:xfrm>
            <a:off x="2179074" y="1743556"/>
            <a:ext cx="7924800" cy="3416320"/>
          </a:xfrm>
          <a:prstGeom prst="rect">
            <a:avLst/>
          </a:prstGeom>
          <a:noFill/>
        </p:spPr>
        <p:txBody>
          <a:bodyPr wrap="square">
            <a:spAutoFit/>
          </a:bodyPr>
          <a:lstStyle/>
          <a:p>
            <a:pPr marL="342900" indent="-342900" algn="just">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Sentiment analysis is a key task in Natural Language Processing (NLP) that involves determining the emotional tone expressed in text. </a:t>
            </a:r>
          </a:p>
          <a:p>
            <a:pPr marL="342900" indent="-342900" algn="just">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is widely used in fields such as social media monitoring, customer feedback analysis, and market research to extract opinions and attitudes from written language. </a:t>
            </a:r>
          </a:p>
          <a:p>
            <a:pPr marL="342900" indent="-342900" algn="just">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Sentiment analysis helps identify whether the sentiment in a piece of text is positive, negative, or neutral. </a:t>
            </a:r>
          </a:p>
          <a:p>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4C6FCEA-8B1A-9B5B-6262-95B736BEF68D}"/>
              </a:ext>
            </a:extLst>
          </p:cNvPr>
          <p:cNvSpPr txBox="1"/>
          <p:nvPr/>
        </p:nvSpPr>
        <p:spPr>
          <a:xfrm>
            <a:off x="1681316" y="889230"/>
            <a:ext cx="5562600"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Introduction</a:t>
            </a:r>
          </a:p>
        </p:txBody>
      </p:sp>
      <p:sp>
        <p:nvSpPr>
          <p:cNvPr id="15" name="TextBox 14">
            <a:extLst>
              <a:ext uri="{FF2B5EF4-FFF2-40B4-BE49-F238E27FC236}">
                <a16:creationId xmlns:a16="http://schemas.microsoft.com/office/drawing/2014/main" id="{A56F8720-1E25-E349-5460-0D8148084EDB}"/>
              </a:ext>
            </a:extLst>
          </p:cNvPr>
          <p:cNvSpPr txBox="1"/>
          <p:nvPr/>
        </p:nvSpPr>
        <p:spPr>
          <a:xfrm>
            <a:off x="1985771" y="4995239"/>
            <a:ext cx="45720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Problem Statement</a:t>
            </a:r>
          </a:p>
        </p:txBody>
      </p:sp>
      <p:sp>
        <p:nvSpPr>
          <p:cNvPr id="16" name="TextBox 15">
            <a:extLst>
              <a:ext uri="{FF2B5EF4-FFF2-40B4-BE49-F238E27FC236}">
                <a16:creationId xmlns:a16="http://schemas.microsoft.com/office/drawing/2014/main" id="{F09ADE16-1DC2-3C25-09DE-1A88BFA743C2}"/>
              </a:ext>
            </a:extLst>
          </p:cNvPr>
          <p:cNvSpPr txBox="1"/>
          <p:nvPr/>
        </p:nvSpPr>
        <p:spPr>
          <a:xfrm>
            <a:off x="2286000" y="5768606"/>
            <a:ext cx="7924800" cy="2677656"/>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Existing sentiment analysis models require large labeled datasets and often fail to correctly understand contextual and implicit sentiments in text. Manual labeling of large datasets like IMDB reviews is time-consuming and costly. This project aims to improve sentiment classification accuracy while reducing labeling effort using an uncertainty-aware active learning approach with Transformer-based models.</a:t>
            </a:r>
          </a:p>
        </p:txBody>
      </p:sp>
      <p:grpSp>
        <p:nvGrpSpPr>
          <p:cNvPr id="20" name="Group 6">
            <a:extLst>
              <a:ext uri="{FF2B5EF4-FFF2-40B4-BE49-F238E27FC236}">
                <a16:creationId xmlns:a16="http://schemas.microsoft.com/office/drawing/2014/main" id="{E7E3A69C-7BC1-B88D-A487-539702CA9FED}"/>
              </a:ext>
            </a:extLst>
          </p:cNvPr>
          <p:cNvGrpSpPr/>
          <p:nvPr/>
        </p:nvGrpSpPr>
        <p:grpSpPr>
          <a:xfrm>
            <a:off x="11044087" y="1866900"/>
            <a:ext cx="6846470" cy="6523130"/>
            <a:chOff x="-43124" y="-47625"/>
            <a:chExt cx="1158246" cy="1408557"/>
          </a:xfrm>
        </p:grpSpPr>
        <p:sp>
          <p:nvSpPr>
            <p:cNvPr id="21" name="Freeform 7">
              <a:extLst>
                <a:ext uri="{FF2B5EF4-FFF2-40B4-BE49-F238E27FC236}">
                  <a16:creationId xmlns:a16="http://schemas.microsoft.com/office/drawing/2014/main" id="{D7F0D443-A923-AAEF-F250-59F43CD495FB}"/>
                </a:ext>
              </a:extLst>
            </p:cNvPr>
            <p:cNvSpPr/>
            <p:nvPr/>
          </p:nvSpPr>
          <p:spPr>
            <a:xfrm>
              <a:off x="-43124" y="0"/>
              <a:ext cx="1158246" cy="1040469"/>
            </a:xfrm>
            <a:custGeom>
              <a:avLst/>
              <a:gdLst/>
              <a:ahLst/>
              <a:cxnLst/>
              <a:rect l="l" t="t" r="r" b="b"/>
              <a:pathLst>
                <a:path w="1115122" h="1360932">
                  <a:moveTo>
                    <a:pt x="0" y="0"/>
                  </a:moveTo>
                  <a:lnTo>
                    <a:pt x="1115122" y="0"/>
                  </a:lnTo>
                  <a:lnTo>
                    <a:pt x="1115122" y="1360932"/>
                  </a:lnTo>
                  <a:lnTo>
                    <a:pt x="0" y="1360932"/>
                  </a:lnTo>
                  <a:close/>
                </a:path>
              </a:pathLst>
            </a:custGeom>
            <a:solidFill>
              <a:srgbClr val="EAD6B8"/>
            </a:solidFill>
          </p:spPr>
          <p:txBody>
            <a:bodyPr/>
            <a:lstStyle/>
            <a:p>
              <a:endParaRPr lang="en-IN"/>
            </a:p>
          </p:txBody>
        </p:sp>
        <p:sp>
          <p:nvSpPr>
            <p:cNvPr id="22" name="TextBox 8">
              <a:extLst>
                <a:ext uri="{FF2B5EF4-FFF2-40B4-BE49-F238E27FC236}">
                  <a16:creationId xmlns:a16="http://schemas.microsoft.com/office/drawing/2014/main" id="{71D44EDF-F6B7-C8CC-9A8C-89F5F5152687}"/>
                </a:ext>
              </a:extLst>
            </p:cNvPr>
            <p:cNvSpPr txBox="1"/>
            <p:nvPr/>
          </p:nvSpPr>
          <p:spPr>
            <a:xfrm>
              <a:off x="0" y="-47625"/>
              <a:ext cx="1115122" cy="1408557"/>
            </a:xfrm>
            <a:prstGeom prst="rect">
              <a:avLst/>
            </a:prstGeom>
          </p:spPr>
          <p:txBody>
            <a:bodyPr lIns="50800" tIns="50800" rIns="50800" bIns="50800" rtlCol="0" anchor="ctr"/>
            <a:lstStyle/>
            <a:p>
              <a:pPr algn="ctr">
                <a:lnSpc>
                  <a:spcPts val="3012"/>
                </a:lnSpc>
              </a:pPr>
              <a:endParaRPr/>
            </a:p>
          </p:txBody>
        </p:sp>
      </p:grpSp>
      <p:pic>
        <p:nvPicPr>
          <p:cNvPr id="23" name="Picture 22">
            <a:extLst>
              <a:ext uri="{FF2B5EF4-FFF2-40B4-BE49-F238E27FC236}">
                <a16:creationId xmlns:a16="http://schemas.microsoft.com/office/drawing/2014/main" id="{A630C564-7B59-9D8E-A092-27646E7CFFC0}"/>
              </a:ext>
            </a:extLst>
          </p:cNvPr>
          <p:cNvPicPr>
            <a:picLocks noChangeAspect="1"/>
          </p:cNvPicPr>
          <p:nvPr/>
        </p:nvPicPr>
        <p:blipFill>
          <a:blip r:embed="rId4"/>
          <a:stretch>
            <a:fillRect/>
          </a:stretch>
        </p:blipFill>
        <p:spPr>
          <a:xfrm>
            <a:off x="11199791" y="2746391"/>
            <a:ext cx="6535062" cy="3400900"/>
          </a:xfrm>
          <a:prstGeom prst="rect">
            <a:avLst/>
          </a:prstGeom>
        </p:spPr>
      </p:pic>
      <p:sp>
        <p:nvSpPr>
          <p:cNvPr id="24" name="Oval 23">
            <a:extLst>
              <a:ext uri="{FF2B5EF4-FFF2-40B4-BE49-F238E27FC236}">
                <a16:creationId xmlns:a16="http://schemas.microsoft.com/office/drawing/2014/main" id="{A7C5FB50-D645-6353-3989-1A5374A8FCF3}"/>
              </a:ext>
            </a:extLst>
          </p:cNvPr>
          <p:cNvSpPr/>
          <p:nvPr/>
        </p:nvSpPr>
        <p:spPr>
          <a:xfrm>
            <a:off x="11298996" y="5318404"/>
            <a:ext cx="740604" cy="663296"/>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563EEE1-CF96-02BD-7733-4263B5261A7C}"/>
              </a:ext>
            </a:extLst>
          </p:cNvPr>
          <p:cNvSpPr txBox="1"/>
          <p:nvPr/>
        </p:nvSpPr>
        <p:spPr>
          <a:xfrm>
            <a:off x="1676400" y="1006823"/>
            <a:ext cx="9144000" cy="1754326"/>
          </a:xfrm>
          <a:prstGeom prst="rect">
            <a:avLst/>
          </a:prstGeom>
          <a:noFill/>
        </p:spPr>
        <p:txBody>
          <a:bodyPr wrap="square">
            <a:spAutoFit/>
          </a:bodyPr>
          <a:lstStyle/>
          <a:p>
            <a:r>
              <a:rPr lang="en-IN" sz="5400" b="1" dirty="0">
                <a:latin typeface="Times New Roman" panose="02020603050405020304" pitchFamily="18" charset="0"/>
                <a:cs typeface="Times New Roman" panose="02020603050405020304" pitchFamily="18" charset="0"/>
              </a:rPr>
              <a:t>Motivation</a:t>
            </a:r>
            <a:br>
              <a:rPr lang="en-IN" sz="5400" b="1" dirty="0">
                <a:latin typeface="Times New Roman" panose="02020603050405020304" pitchFamily="18" charset="0"/>
                <a:cs typeface="Times New Roman" panose="02020603050405020304" pitchFamily="18" charset="0"/>
              </a:rPr>
            </a:br>
            <a:endParaRPr lang="en-IN" sz="5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1652A3A-6CF5-DADD-35BA-56354D7A4749}"/>
              </a:ext>
            </a:extLst>
          </p:cNvPr>
          <p:cNvSpPr txBox="1"/>
          <p:nvPr/>
        </p:nvSpPr>
        <p:spPr>
          <a:xfrm>
            <a:off x="1649361" y="2081123"/>
            <a:ext cx="9144000" cy="6124754"/>
          </a:xfrm>
          <a:prstGeom prst="rect">
            <a:avLst/>
          </a:prstGeom>
          <a:noFill/>
        </p:spPr>
        <p:txBody>
          <a:bodyPr wrap="square">
            <a:spAutoFit/>
          </a:bodyPr>
          <a:lstStyle/>
          <a:p>
            <a:pPr marL="285750" indent="-285750" algn="just">
              <a:lnSpc>
                <a:spcPct val="100000"/>
              </a:lnSpc>
              <a:buSzPct val="1000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Traditional sentiment analysis methods struggle to capture implicit sentiments, relying heavily on explicit sentiment words, which leads to poor text representations and misinterpretations in complex scenarios.</a:t>
            </a:r>
          </a:p>
          <a:p>
            <a:pPr marL="285750" indent="-285750" algn="just">
              <a:lnSpc>
                <a:spcPct val="100000"/>
              </a:lnSpc>
              <a:buSzPct val="1000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Additionally, these models fail to address contextual and cultural factors that influence sentiment expression, resulting in suboptimal performance on diverse datasets. </a:t>
            </a:r>
          </a:p>
          <a:p>
            <a:pPr marL="285750" indent="-285750" algn="just">
              <a:lnSpc>
                <a:spcPct val="100000"/>
              </a:lnSpc>
              <a:buSzPct val="1000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overcome these limitations, there is a need for context-aware models. </a:t>
            </a:r>
          </a:p>
          <a:p>
            <a:pPr marL="285750" indent="-285750" algn="just">
              <a:lnSpc>
                <a:spcPct val="100000"/>
              </a:lnSpc>
              <a:buSzPct val="1000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motivates the exploration of hybrid deep learning approaches, which offer the potential to model complex relationships, implicit cues, and cultural nuances, leading to more accurate sentiment analysis.</a:t>
            </a:r>
          </a:p>
          <a:p>
            <a:pPr marL="285750" indent="-285750" algn="l">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grpSp>
        <p:nvGrpSpPr>
          <p:cNvPr id="11" name="Group 6">
            <a:extLst>
              <a:ext uri="{FF2B5EF4-FFF2-40B4-BE49-F238E27FC236}">
                <a16:creationId xmlns:a16="http://schemas.microsoft.com/office/drawing/2014/main" id="{2F067BCF-F9B5-2905-30C4-97DA4BB9DBEB}"/>
              </a:ext>
            </a:extLst>
          </p:cNvPr>
          <p:cNvGrpSpPr/>
          <p:nvPr/>
        </p:nvGrpSpPr>
        <p:grpSpPr>
          <a:xfrm>
            <a:off x="11468099" y="647700"/>
            <a:ext cx="6477000" cy="8991600"/>
            <a:chOff x="0" y="0"/>
            <a:chExt cx="1115122" cy="1360932"/>
          </a:xfrm>
        </p:grpSpPr>
        <p:sp>
          <p:nvSpPr>
            <p:cNvPr id="12" name="Freeform 7">
              <a:extLst>
                <a:ext uri="{FF2B5EF4-FFF2-40B4-BE49-F238E27FC236}">
                  <a16:creationId xmlns:a16="http://schemas.microsoft.com/office/drawing/2014/main" id="{B14F62D8-CB4F-2522-FE96-831D2D1F5658}"/>
                </a:ext>
              </a:extLst>
            </p:cNvPr>
            <p:cNvSpPr/>
            <p:nvPr/>
          </p:nvSpPr>
          <p:spPr>
            <a:xfrm>
              <a:off x="0" y="0"/>
              <a:ext cx="1115122" cy="1360932"/>
            </a:xfrm>
            <a:custGeom>
              <a:avLst/>
              <a:gdLst/>
              <a:ahLst/>
              <a:cxnLst/>
              <a:rect l="l" t="t" r="r" b="b"/>
              <a:pathLst>
                <a:path w="1115122" h="1360932">
                  <a:moveTo>
                    <a:pt x="0" y="0"/>
                  </a:moveTo>
                  <a:lnTo>
                    <a:pt x="1115122" y="0"/>
                  </a:lnTo>
                  <a:lnTo>
                    <a:pt x="1115122" y="1360932"/>
                  </a:lnTo>
                  <a:lnTo>
                    <a:pt x="0" y="1360932"/>
                  </a:lnTo>
                  <a:close/>
                </a:path>
              </a:pathLst>
            </a:custGeom>
            <a:solidFill>
              <a:srgbClr val="EAD6B8"/>
            </a:solidFill>
          </p:spPr>
          <p:txBody>
            <a:bodyPr/>
            <a:lstStyle/>
            <a:p>
              <a:endParaRPr lang="en-IN"/>
            </a:p>
          </p:txBody>
        </p:sp>
        <p:sp>
          <p:nvSpPr>
            <p:cNvPr id="13" name="TextBox 8">
              <a:extLst>
                <a:ext uri="{FF2B5EF4-FFF2-40B4-BE49-F238E27FC236}">
                  <a16:creationId xmlns:a16="http://schemas.microsoft.com/office/drawing/2014/main" id="{3206F4DA-3663-EB55-E116-39ABFC271500}"/>
                </a:ext>
              </a:extLst>
            </p:cNvPr>
            <p:cNvSpPr txBox="1"/>
            <p:nvPr/>
          </p:nvSpPr>
          <p:spPr>
            <a:xfrm>
              <a:off x="0" y="-47625"/>
              <a:ext cx="1115122" cy="1408557"/>
            </a:xfrm>
            <a:prstGeom prst="rect">
              <a:avLst/>
            </a:prstGeom>
          </p:spPr>
          <p:txBody>
            <a:bodyPr lIns="50800" tIns="50800" rIns="50800" bIns="50800" rtlCol="0" anchor="ctr"/>
            <a:lstStyle/>
            <a:p>
              <a:pPr algn="ctr">
                <a:lnSpc>
                  <a:spcPts val="3012"/>
                </a:lnSpc>
              </a:pPr>
              <a:endParaRPr/>
            </a:p>
          </p:txBody>
        </p:sp>
      </p:grpSp>
      <p:pic>
        <p:nvPicPr>
          <p:cNvPr id="14" name="Picture 13">
            <a:extLst>
              <a:ext uri="{FF2B5EF4-FFF2-40B4-BE49-F238E27FC236}">
                <a16:creationId xmlns:a16="http://schemas.microsoft.com/office/drawing/2014/main" id="{DBBF61FB-8E73-B5A4-011E-1EC98A4D590C}"/>
              </a:ext>
            </a:extLst>
          </p:cNvPr>
          <p:cNvPicPr>
            <a:picLocks noChangeAspect="1"/>
          </p:cNvPicPr>
          <p:nvPr/>
        </p:nvPicPr>
        <p:blipFill>
          <a:blip r:embed="rId2"/>
          <a:stretch>
            <a:fillRect/>
          </a:stretch>
        </p:blipFill>
        <p:spPr>
          <a:xfrm>
            <a:off x="11593993" y="1586482"/>
            <a:ext cx="6225213" cy="6764714"/>
          </a:xfrm>
          <a:prstGeom prst="rect">
            <a:avLst/>
          </a:prstGeom>
        </p:spPr>
      </p:pic>
      <p:sp>
        <p:nvSpPr>
          <p:cNvPr id="15" name="Freeform 7">
            <a:extLst>
              <a:ext uri="{FF2B5EF4-FFF2-40B4-BE49-F238E27FC236}">
                <a16:creationId xmlns:a16="http://schemas.microsoft.com/office/drawing/2014/main" id="{3627DDA3-F1BE-C380-9A3A-E0B4E63DA821}"/>
              </a:ext>
            </a:extLst>
          </p:cNvPr>
          <p:cNvSpPr/>
          <p:nvPr/>
        </p:nvSpPr>
        <p:spPr>
          <a:xfrm rot="5400000">
            <a:off x="-3055246" y="7815037"/>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Tree>
    <p:extLst>
      <p:ext uri="{BB962C8B-B14F-4D97-AF65-F5344CB8AC3E}">
        <p14:creationId xmlns:p14="http://schemas.microsoft.com/office/powerpoint/2010/main" val="97660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7778-37C7-1A6B-F184-650D572FC906}"/>
              </a:ext>
            </a:extLst>
          </p:cNvPr>
          <p:cNvSpPr>
            <a:spLocks noGrp="1"/>
          </p:cNvSpPr>
          <p:nvPr>
            <p:ph type="title"/>
          </p:nvPr>
        </p:nvSpPr>
        <p:spPr>
          <a:xfrm>
            <a:off x="609600" y="952500"/>
            <a:ext cx="5410200" cy="1066800"/>
          </a:xfrm>
        </p:spPr>
        <p:txBody>
          <a:bodyPr>
            <a:normAutofit fontScale="90000"/>
          </a:bodyPr>
          <a:lstStyle/>
          <a:p>
            <a:r>
              <a:rPr lang="en-US" b="1" dirty="0">
                <a:latin typeface="Times New Roman" panose="02020603050405020304" pitchFamily="18" charset="0"/>
                <a:cs typeface="Times New Roman" panose="02020603050405020304" pitchFamily="18" charset="0"/>
              </a:rPr>
              <a:t>Dataset Description</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7AE8E4-86B9-3DCA-17D4-837C173C954B}"/>
              </a:ext>
            </a:extLst>
          </p:cNvPr>
          <p:cNvSpPr txBox="1"/>
          <p:nvPr/>
        </p:nvSpPr>
        <p:spPr>
          <a:xfrm>
            <a:off x="1600200" y="1866900"/>
            <a:ext cx="10210800" cy="5565640"/>
          </a:xfrm>
          <a:prstGeom prst="rect">
            <a:avLst/>
          </a:prstGeom>
        </p:spPr>
        <p:txBody>
          <a:bodyPr vert="horz" lIns="91440" tIns="45720" rIns="91440" bIns="45720" rtlCol="0" anchor="t">
            <a:normAutofit/>
          </a:bodyPr>
          <a:lstStyle/>
          <a:p>
            <a:pPr>
              <a:lnSpc>
                <a:spcPct val="90000"/>
              </a:lnSpc>
              <a:spcAft>
                <a:spcPts val="600"/>
              </a:spcAft>
            </a:pPr>
            <a:r>
              <a:rPr lang="en-US" sz="3000" dirty="0">
                <a:solidFill>
                  <a:schemeClr val="tx1">
                    <a:alpha val="80000"/>
                  </a:schemeClr>
                </a:solidFill>
                <a:latin typeface="Times New Roman" panose="02020603050405020304" pitchFamily="18" charset="0"/>
                <a:cs typeface="Times New Roman" panose="02020603050405020304" pitchFamily="18" charset="0"/>
              </a:rPr>
              <a:t>Dataset Name: IMDB Movie Reviews</a:t>
            </a:r>
            <a:br>
              <a:rPr lang="en-US" sz="3000" dirty="0">
                <a:solidFill>
                  <a:schemeClr val="tx1">
                    <a:alpha val="80000"/>
                  </a:schemeClr>
                </a:solidFill>
                <a:latin typeface="Times New Roman" panose="02020603050405020304" pitchFamily="18" charset="0"/>
                <a:cs typeface="Times New Roman" panose="02020603050405020304" pitchFamily="18" charset="0"/>
              </a:rPr>
            </a:br>
            <a:r>
              <a:rPr lang="en-US" sz="3000" dirty="0">
                <a:solidFill>
                  <a:schemeClr val="tx1">
                    <a:alpha val="80000"/>
                  </a:schemeClr>
                </a:solidFill>
                <a:latin typeface="Times New Roman" panose="02020603050405020304" pitchFamily="18" charset="0"/>
                <a:cs typeface="Times New Roman" panose="02020603050405020304" pitchFamily="18" charset="0"/>
              </a:rPr>
              <a:t>Total Reviews</a:t>
            </a:r>
            <a:r>
              <a:rPr lang="en-US" sz="3000" b="1" dirty="0">
                <a:solidFill>
                  <a:schemeClr val="tx1">
                    <a:alpha val="80000"/>
                  </a:schemeClr>
                </a:solidFill>
                <a:latin typeface="Times New Roman" panose="02020603050405020304" pitchFamily="18" charset="0"/>
                <a:cs typeface="Times New Roman" panose="02020603050405020304" pitchFamily="18" charset="0"/>
              </a:rPr>
              <a:t>:</a:t>
            </a:r>
            <a:r>
              <a:rPr lang="en-US" sz="3000" dirty="0">
                <a:solidFill>
                  <a:schemeClr val="tx1">
                    <a:alpha val="80000"/>
                  </a:schemeClr>
                </a:solidFill>
                <a:latin typeface="Times New Roman" panose="02020603050405020304" pitchFamily="18" charset="0"/>
                <a:cs typeface="Times New Roman" panose="02020603050405020304" pitchFamily="18" charset="0"/>
              </a:rPr>
              <a:t> 50,000 (Balanced - 25,000 Positive &amp; 25,000 Negative)</a:t>
            </a:r>
            <a:br>
              <a:rPr lang="en-US" sz="3000" dirty="0">
                <a:solidFill>
                  <a:schemeClr val="tx1">
                    <a:alpha val="80000"/>
                  </a:schemeClr>
                </a:solidFill>
                <a:latin typeface="Times New Roman" panose="02020603050405020304" pitchFamily="18" charset="0"/>
                <a:cs typeface="Times New Roman" panose="02020603050405020304" pitchFamily="18" charset="0"/>
              </a:rPr>
            </a:br>
            <a:r>
              <a:rPr lang="en-US" sz="3000" dirty="0">
                <a:solidFill>
                  <a:schemeClr val="tx1">
                    <a:alpha val="80000"/>
                  </a:schemeClr>
                </a:solidFill>
                <a:latin typeface="Times New Roman" panose="02020603050405020304" pitchFamily="18" charset="0"/>
                <a:cs typeface="Times New Roman" panose="02020603050405020304" pitchFamily="18" charset="0"/>
              </a:rPr>
              <a:t>Text Format: Raw movie reviews from IMDB</a:t>
            </a:r>
            <a:br>
              <a:rPr lang="en-US" sz="3000" dirty="0">
                <a:solidFill>
                  <a:schemeClr val="tx1">
                    <a:alpha val="80000"/>
                  </a:schemeClr>
                </a:solidFill>
                <a:latin typeface="Times New Roman" panose="02020603050405020304" pitchFamily="18" charset="0"/>
                <a:cs typeface="Times New Roman" panose="02020603050405020304" pitchFamily="18" charset="0"/>
              </a:rPr>
            </a:br>
            <a:r>
              <a:rPr lang="en-US" sz="3000" dirty="0">
                <a:solidFill>
                  <a:schemeClr val="tx1">
                    <a:alpha val="80000"/>
                  </a:schemeClr>
                </a:solidFill>
                <a:latin typeface="Times New Roman" panose="02020603050405020304" pitchFamily="18" charset="0"/>
                <a:cs typeface="Times New Roman" panose="02020603050405020304" pitchFamily="18" charset="0"/>
              </a:rPr>
              <a:t>Labels: Positive (1) &amp; Negative (0)</a:t>
            </a:r>
            <a:br>
              <a:rPr lang="en-US" sz="3000" dirty="0">
                <a:solidFill>
                  <a:schemeClr val="tx1">
                    <a:alpha val="80000"/>
                  </a:schemeClr>
                </a:solidFill>
                <a:latin typeface="Times New Roman" panose="02020603050405020304" pitchFamily="18" charset="0"/>
                <a:cs typeface="Times New Roman" panose="02020603050405020304" pitchFamily="18" charset="0"/>
              </a:rPr>
            </a:br>
            <a:r>
              <a:rPr lang="en-US" sz="3000" dirty="0">
                <a:solidFill>
                  <a:schemeClr val="tx1">
                    <a:alpha val="80000"/>
                  </a:schemeClr>
                </a:solidFill>
                <a:latin typeface="Times New Roman" panose="02020603050405020304" pitchFamily="18" charset="0"/>
                <a:cs typeface="Times New Roman" panose="02020603050405020304" pitchFamily="18" charset="0"/>
              </a:rPr>
              <a:t>Use Case: Sentiment classification for understanding audience opinions</a:t>
            </a:r>
          </a:p>
          <a:p>
            <a:pPr indent="-228600">
              <a:lnSpc>
                <a:spcPct val="90000"/>
              </a:lnSpc>
              <a:spcAft>
                <a:spcPts val="600"/>
              </a:spcAft>
              <a:buFont typeface="Arial" panose="020B0604020202020204" pitchFamily="34" charset="0"/>
              <a:buChar char="•"/>
            </a:pPr>
            <a:endParaRPr lang="en-US" sz="3000" dirty="0">
              <a:solidFill>
                <a:schemeClr val="tx1">
                  <a:alpha val="80000"/>
                </a:schemeClr>
              </a:solidFill>
              <a:latin typeface="Times New Roman" panose="02020603050405020304" pitchFamily="18" charset="0"/>
              <a:cs typeface="Times New Roman" panose="02020603050405020304" pitchFamily="18" charset="0"/>
            </a:endParaRPr>
          </a:p>
        </p:txBody>
      </p:sp>
      <p:sp>
        <p:nvSpPr>
          <p:cNvPr id="4" name="Freeform 7">
            <a:extLst>
              <a:ext uri="{FF2B5EF4-FFF2-40B4-BE49-F238E27FC236}">
                <a16:creationId xmlns:a16="http://schemas.microsoft.com/office/drawing/2014/main" id="{396B8A02-C908-E0FB-3CC2-ADE6E5B7B990}"/>
              </a:ext>
            </a:extLst>
          </p:cNvPr>
          <p:cNvSpPr/>
          <p:nvPr/>
        </p:nvSpPr>
        <p:spPr>
          <a:xfrm rot="5400000">
            <a:off x="13721642" y="7000714"/>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pic>
        <p:nvPicPr>
          <p:cNvPr id="6" name="Picture 5">
            <a:extLst>
              <a:ext uri="{FF2B5EF4-FFF2-40B4-BE49-F238E27FC236}">
                <a16:creationId xmlns:a16="http://schemas.microsoft.com/office/drawing/2014/main" id="{13AF45CD-E1BB-E245-527F-8FC61C4E27D6}"/>
              </a:ext>
            </a:extLst>
          </p:cNvPr>
          <p:cNvPicPr>
            <a:picLocks noChangeAspect="1"/>
          </p:cNvPicPr>
          <p:nvPr/>
        </p:nvPicPr>
        <p:blipFill>
          <a:blip r:embed="rId4"/>
          <a:stretch>
            <a:fillRect/>
          </a:stretch>
        </p:blipFill>
        <p:spPr>
          <a:xfrm>
            <a:off x="11316880" y="744032"/>
            <a:ext cx="5923627" cy="3905688"/>
          </a:xfrm>
          <a:prstGeom prst="rect">
            <a:avLst/>
          </a:prstGeom>
        </p:spPr>
      </p:pic>
      <p:pic>
        <p:nvPicPr>
          <p:cNvPr id="10" name="Picture 9">
            <a:extLst>
              <a:ext uri="{FF2B5EF4-FFF2-40B4-BE49-F238E27FC236}">
                <a16:creationId xmlns:a16="http://schemas.microsoft.com/office/drawing/2014/main" id="{3A6B61BF-67A1-8BDA-A86B-2F05E87F4F97}"/>
              </a:ext>
            </a:extLst>
          </p:cNvPr>
          <p:cNvPicPr>
            <a:picLocks noChangeAspect="1"/>
          </p:cNvPicPr>
          <p:nvPr/>
        </p:nvPicPr>
        <p:blipFill>
          <a:blip r:embed="rId5"/>
          <a:stretch>
            <a:fillRect/>
          </a:stretch>
        </p:blipFill>
        <p:spPr>
          <a:xfrm>
            <a:off x="11549458" y="5533394"/>
            <a:ext cx="5458470" cy="3640856"/>
          </a:xfrm>
          <a:prstGeom prst="rect">
            <a:avLst/>
          </a:prstGeom>
        </p:spPr>
      </p:pic>
      <p:sp>
        <p:nvSpPr>
          <p:cNvPr id="5" name="TextBox 4">
            <a:extLst>
              <a:ext uri="{FF2B5EF4-FFF2-40B4-BE49-F238E27FC236}">
                <a16:creationId xmlns:a16="http://schemas.microsoft.com/office/drawing/2014/main" id="{421355CB-BD0E-B0BE-B18B-6F0EB280BDEC}"/>
              </a:ext>
            </a:extLst>
          </p:cNvPr>
          <p:cNvSpPr txBox="1"/>
          <p:nvPr/>
        </p:nvSpPr>
        <p:spPr>
          <a:xfrm>
            <a:off x="1280072" y="6511504"/>
            <a:ext cx="662940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hlinkClick r:id="rId6" action="ppaction://hlinkpres?slideindex=1&amp;slidetitle="/>
              </a:rPr>
              <a:t>https://github.com/Shannu1695/Final-Year-Project</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72B0056-8DA8-F40A-34C0-64B1BC741882}"/>
              </a:ext>
            </a:extLst>
          </p:cNvPr>
          <p:cNvSpPr txBox="1"/>
          <p:nvPr/>
        </p:nvSpPr>
        <p:spPr>
          <a:xfrm>
            <a:off x="838200" y="5905500"/>
            <a:ext cx="44958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GitHub Repository</a:t>
            </a:r>
          </a:p>
        </p:txBody>
      </p:sp>
    </p:spTree>
    <p:extLst>
      <p:ext uri="{BB962C8B-B14F-4D97-AF65-F5344CB8AC3E}">
        <p14:creationId xmlns:p14="http://schemas.microsoft.com/office/powerpoint/2010/main" val="3977176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B62469-82DE-F8D3-DDF6-76C29A832377}"/>
              </a:ext>
            </a:extLst>
          </p:cNvPr>
          <p:cNvSpPr txBox="1"/>
          <p:nvPr/>
        </p:nvSpPr>
        <p:spPr>
          <a:xfrm>
            <a:off x="661270" y="1812392"/>
            <a:ext cx="9144000" cy="707886"/>
          </a:xfrm>
          <a:prstGeom prst="rect">
            <a:avLst/>
          </a:prstGeom>
          <a:noFill/>
        </p:spPr>
        <p:txBody>
          <a:bodyPr wrap="square">
            <a:spAutoFit/>
          </a:bodyPr>
          <a:lstStyle/>
          <a:p>
            <a:pPr>
              <a:buNone/>
            </a:pPr>
            <a:r>
              <a:rPr lang="en-IN" sz="4000" b="1" dirty="0">
                <a:latin typeface="Times New Roman" panose="02020603050405020304" pitchFamily="18" charset="0"/>
                <a:cs typeface="Times New Roman" panose="02020603050405020304" pitchFamily="18" charset="0"/>
              </a:rPr>
              <a:t>Proposed Model</a:t>
            </a:r>
          </a:p>
        </p:txBody>
      </p:sp>
      <p:sp>
        <p:nvSpPr>
          <p:cNvPr id="4" name="TextBox 3">
            <a:extLst>
              <a:ext uri="{FF2B5EF4-FFF2-40B4-BE49-F238E27FC236}">
                <a16:creationId xmlns:a16="http://schemas.microsoft.com/office/drawing/2014/main" id="{87238614-AD46-59CE-F3D1-6D54CA580A2C}"/>
              </a:ext>
            </a:extLst>
          </p:cNvPr>
          <p:cNvSpPr txBox="1"/>
          <p:nvPr/>
        </p:nvSpPr>
        <p:spPr>
          <a:xfrm>
            <a:off x="1290175" y="2857398"/>
            <a:ext cx="9979742" cy="3970318"/>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BERT (Bidirectional Encoder Representations from Transformers)</a:t>
            </a:r>
            <a:r>
              <a:rPr lang="en-US" sz="2800" dirty="0">
                <a:latin typeface="Times New Roman" panose="02020603050405020304" pitchFamily="18" charset="0"/>
                <a:cs typeface="Times New Roman" panose="02020603050405020304" pitchFamily="18" charset="0"/>
              </a:rPr>
              <a:t> – Main model for sentiment classification; captures contextual meaning of text.</a:t>
            </a:r>
          </a:p>
          <a:p>
            <a:pPr algn="just"/>
            <a:r>
              <a:rPr lang="en-US" sz="2800" b="1" dirty="0" err="1">
                <a:latin typeface="Times New Roman" panose="02020603050405020304" pitchFamily="18" charset="0"/>
                <a:cs typeface="Times New Roman" panose="02020603050405020304" pitchFamily="18" charset="0"/>
              </a:rPr>
              <a:t>DistilBERT</a:t>
            </a:r>
            <a:r>
              <a:rPr lang="en-US" sz="2800" dirty="0">
                <a:latin typeface="Times New Roman" panose="02020603050405020304" pitchFamily="18" charset="0"/>
                <a:cs typeface="Times New Roman" panose="02020603050405020304" pitchFamily="18" charset="0"/>
              </a:rPr>
              <a:t> – Lightweight and faster version of BERT used for efficient training.</a:t>
            </a:r>
          </a:p>
          <a:p>
            <a:pPr algn="just"/>
            <a:r>
              <a:rPr lang="en-US" sz="2800" b="1" dirty="0" err="1">
                <a:latin typeface="Times New Roman" panose="02020603050405020304" pitchFamily="18" charset="0"/>
                <a:cs typeface="Times New Roman" panose="02020603050405020304" pitchFamily="18" charset="0"/>
              </a:rPr>
              <a:t>RoBERTa</a:t>
            </a:r>
            <a:r>
              <a:rPr lang="en-US" sz="2800" dirty="0">
                <a:latin typeface="Times New Roman" panose="02020603050405020304" pitchFamily="18" charset="0"/>
                <a:cs typeface="Times New Roman" panose="02020603050405020304" pitchFamily="18" charset="0"/>
              </a:rPr>
              <a:t> – An optimized Transformer model that improves sentiment prediction accuracy.</a:t>
            </a:r>
          </a:p>
          <a:p>
            <a:pPr algn="just"/>
            <a:r>
              <a:rPr lang="en-US" sz="2800" b="1" dirty="0">
                <a:latin typeface="Times New Roman" panose="02020603050405020304" pitchFamily="18" charset="0"/>
                <a:cs typeface="Times New Roman" panose="02020603050405020304" pitchFamily="18" charset="0"/>
              </a:rPr>
              <a:t>Baseline Machine Learning Model (Logistic Regression / SVM)</a:t>
            </a:r>
            <a:r>
              <a:rPr lang="en-US" sz="2800" dirty="0">
                <a:latin typeface="Times New Roman" panose="02020603050405020304" pitchFamily="18" charset="0"/>
                <a:cs typeface="Times New Roman" panose="02020603050405020304" pitchFamily="18" charset="0"/>
              </a:rPr>
              <a:t> – Used for performance comparison.</a:t>
            </a:r>
          </a:p>
        </p:txBody>
      </p:sp>
      <p:sp>
        <p:nvSpPr>
          <p:cNvPr id="5" name="AutoShape 7">
            <a:extLst>
              <a:ext uri="{FF2B5EF4-FFF2-40B4-BE49-F238E27FC236}">
                <a16:creationId xmlns:a16="http://schemas.microsoft.com/office/drawing/2014/main" id="{4A68DFAD-8AEE-0531-CB60-FE6B04A018F0}"/>
              </a:ext>
            </a:extLst>
          </p:cNvPr>
          <p:cNvSpPr/>
          <p:nvPr/>
        </p:nvSpPr>
        <p:spPr>
          <a:xfrm>
            <a:off x="6783460" y="8789538"/>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sp>
        <p:nvSpPr>
          <p:cNvPr id="6" name="Freeform 5">
            <a:extLst>
              <a:ext uri="{FF2B5EF4-FFF2-40B4-BE49-F238E27FC236}">
                <a16:creationId xmlns:a16="http://schemas.microsoft.com/office/drawing/2014/main" id="{0BC5D6BE-E874-E238-64AE-8F30EECF2DB6}"/>
              </a:ext>
            </a:extLst>
          </p:cNvPr>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grpSp>
        <p:nvGrpSpPr>
          <p:cNvPr id="7" name="Group 10">
            <a:extLst>
              <a:ext uri="{FF2B5EF4-FFF2-40B4-BE49-F238E27FC236}">
                <a16:creationId xmlns:a16="http://schemas.microsoft.com/office/drawing/2014/main" id="{45E7C20E-3BC8-DCAF-E652-E3CBC988D261}"/>
              </a:ext>
            </a:extLst>
          </p:cNvPr>
          <p:cNvGrpSpPr/>
          <p:nvPr/>
        </p:nvGrpSpPr>
        <p:grpSpPr>
          <a:xfrm>
            <a:off x="-1724641" y="564813"/>
            <a:ext cx="3086100" cy="1178743"/>
            <a:chOff x="0" y="0"/>
            <a:chExt cx="812800" cy="310451"/>
          </a:xfrm>
        </p:grpSpPr>
        <p:sp>
          <p:nvSpPr>
            <p:cNvPr id="8" name="Freeform 11">
              <a:extLst>
                <a:ext uri="{FF2B5EF4-FFF2-40B4-BE49-F238E27FC236}">
                  <a16:creationId xmlns:a16="http://schemas.microsoft.com/office/drawing/2014/main" id="{BC4E78CD-72D7-9B93-3C73-CE6F036EE392}"/>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9" name="TextBox 12">
              <a:extLst>
                <a:ext uri="{FF2B5EF4-FFF2-40B4-BE49-F238E27FC236}">
                  <a16:creationId xmlns:a16="http://schemas.microsoft.com/office/drawing/2014/main" id="{D32D33BF-9E49-C73A-98B0-75817CEA220F}"/>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4BEC5AD7-DC3A-F6C0-4722-24EE9D897D97}"/>
              </a:ext>
            </a:extLst>
          </p:cNvPr>
          <p:cNvGrpSpPr/>
          <p:nvPr/>
        </p:nvGrpSpPr>
        <p:grpSpPr>
          <a:xfrm>
            <a:off x="11963400" y="1044335"/>
            <a:ext cx="6096000" cy="7070962"/>
            <a:chOff x="0" y="0"/>
            <a:chExt cx="812800" cy="310451"/>
          </a:xfrm>
        </p:grpSpPr>
        <p:sp>
          <p:nvSpPr>
            <p:cNvPr id="12" name="Freeform 11">
              <a:extLst>
                <a:ext uri="{FF2B5EF4-FFF2-40B4-BE49-F238E27FC236}">
                  <a16:creationId xmlns:a16="http://schemas.microsoft.com/office/drawing/2014/main" id="{53ACFB82-6B9A-2737-BDEC-4D8AC9EA7952}"/>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BE82F9F-ACCD-B92D-800D-C51A932E9581}"/>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pic>
        <p:nvPicPr>
          <p:cNvPr id="14" name="Picture 13">
            <a:extLst>
              <a:ext uri="{FF2B5EF4-FFF2-40B4-BE49-F238E27FC236}">
                <a16:creationId xmlns:a16="http://schemas.microsoft.com/office/drawing/2014/main" id="{156E1311-928F-EEBF-C1D5-07A162DCC929}"/>
              </a:ext>
            </a:extLst>
          </p:cNvPr>
          <p:cNvPicPr>
            <a:picLocks noChangeAspect="1"/>
          </p:cNvPicPr>
          <p:nvPr/>
        </p:nvPicPr>
        <p:blipFill>
          <a:blip r:embed="rId4"/>
          <a:stretch>
            <a:fillRect/>
          </a:stretch>
        </p:blipFill>
        <p:spPr>
          <a:xfrm>
            <a:off x="12396069" y="2331916"/>
            <a:ext cx="5230661" cy="4495800"/>
          </a:xfrm>
          <a:prstGeom prst="rect">
            <a:avLst/>
          </a:prstGeom>
        </p:spPr>
      </p:pic>
    </p:spTree>
    <p:extLst>
      <p:ext uri="{BB962C8B-B14F-4D97-AF65-F5344CB8AC3E}">
        <p14:creationId xmlns:p14="http://schemas.microsoft.com/office/powerpoint/2010/main" val="415150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283C38F-46B2-22F2-650B-85AA0C6C82B1}"/>
              </a:ext>
            </a:extLst>
          </p:cNvPr>
          <p:cNvSpPr txBox="1"/>
          <p:nvPr/>
        </p:nvSpPr>
        <p:spPr>
          <a:xfrm>
            <a:off x="9986572" y="700906"/>
            <a:ext cx="7816979" cy="611885"/>
          </a:xfrm>
          <a:prstGeom prst="rect">
            <a:avLst/>
          </a:prstGeom>
        </p:spPr>
        <p:txBody>
          <a:bodyPr vert="horz" lIns="91440" tIns="45720" rIns="91440" bIns="45720" rtlCol="0" anchor="b">
            <a:normAutofit fontScale="62500" lnSpcReduction="20000"/>
          </a:bodyPr>
          <a:lstStyle/>
          <a:p>
            <a:pPr marL="127000" indent="0">
              <a:lnSpc>
                <a:spcPct val="90000"/>
              </a:lnSpc>
              <a:spcBef>
                <a:spcPct val="0"/>
              </a:spcBef>
              <a:spcAft>
                <a:spcPts val="600"/>
              </a:spcAft>
            </a:pPr>
            <a:r>
              <a:rPr lang="en-US" sz="4000" b="1" dirty="0">
                <a:latin typeface="Times New Roman" panose="02020603050405020304" pitchFamily="18" charset="0"/>
                <a:ea typeface="+mj-ea"/>
                <a:cs typeface="Times New Roman" panose="02020603050405020304" pitchFamily="18" charset="0"/>
              </a:rPr>
              <a:t>Identification of Tools / Equipment / Training Needs</a:t>
            </a:r>
          </a:p>
        </p:txBody>
      </p:sp>
      <p:sp>
        <p:nvSpPr>
          <p:cNvPr id="14" name="Oval 13">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447" y="831228"/>
            <a:ext cx="8613284" cy="8613283"/>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B206C0F-86F3-517A-1B6B-0E0CCA502E09}"/>
              </a:ext>
            </a:extLst>
          </p:cNvPr>
          <p:cNvPicPr>
            <a:picLocks noChangeAspect="1"/>
          </p:cNvPicPr>
          <p:nvPr/>
        </p:nvPicPr>
        <p:blipFill>
          <a:blip r:embed="rId2"/>
          <a:srcRect l="26642" r="6858" b="1"/>
          <a:stretch>
            <a:fillRect/>
          </a:stretch>
        </p:blipFill>
        <p:spPr>
          <a:xfrm>
            <a:off x="758127" y="831226"/>
            <a:ext cx="8613283" cy="8613284"/>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19"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434" y="1055518"/>
            <a:ext cx="257272" cy="257273"/>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8"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129" y="2344044"/>
            <a:ext cx="236318" cy="236317"/>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F47457F6-2146-8B82-5AA7-EEB5E759448A}"/>
              </a:ext>
            </a:extLst>
          </p:cNvPr>
          <p:cNvSpPr txBox="1"/>
          <p:nvPr/>
        </p:nvSpPr>
        <p:spPr>
          <a:xfrm>
            <a:off x="10409271" y="1562100"/>
            <a:ext cx="6293510" cy="4370808"/>
          </a:xfrm>
          <a:prstGeom prst="rect">
            <a:avLst/>
          </a:prstGeom>
        </p:spPr>
        <p:txBody>
          <a:bodyPr vert="horz" lIns="91440" tIns="45720" rIns="91440" bIns="45720" rtlCol="0" anchor="t">
            <a:noAutofit/>
          </a:bodyPr>
          <a:lstStyle/>
          <a:p>
            <a:pPr>
              <a:lnSpc>
                <a:spcPct val="90000"/>
              </a:lnSpc>
              <a:spcAft>
                <a:spcPts val="600"/>
              </a:spcAft>
            </a:pPr>
            <a:r>
              <a:rPr lang="en-US" sz="2400" b="1" dirty="0">
                <a:solidFill>
                  <a:schemeClr val="tx1">
                    <a:alpha val="80000"/>
                  </a:schemeClr>
                </a:solidFill>
                <a:latin typeface="Times New Roman" panose="02020603050405020304" pitchFamily="18" charset="0"/>
                <a:cs typeface="Times New Roman" panose="02020603050405020304" pitchFamily="18" charset="0"/>
              </a:rPr>
              <a:t>Tools / Software</a:t>
            </a:r>
          </a:p>
          <a:p>
            <a:pPr indent="-228600">
              <a:lnSpc>
                <a:spcPct val="90000"/>
              </a:lnSpc>
              <a:spcAft>
                <a:spcPts val="600"/>
              </a:spcAft>
              <a:buFont typeface="Arial" panose="020B0604020202020204" pitchFamily="34" charset="0"/>
              <a:buChar char="•"/>
            </a:pPr>
            <a:r>
              <a:rPr lang="en-US" sz="2400" b="1" dirty="0">
                <a:solidFill>
                  <a:schemeClr val="tx1">
                    <a:alpha val="80000"/>
                  </a:schemeClr>
                </a:solidFill>
                <a:latin typeface="Times New Roman" panose="02020603050405020304" pitchFamily="18" charset="0"/>
                <a:cs typeface="Times New Roman" panose="02020603050405020304" pitchFamily="18" charset="0"/>
              </a:rPr>
              <a:t>Programming Language:</a:t>
            </a:r>
            <a:r>
              <a:rPr lang="en-US" sz="2400" dirty="0">
                <a:solidFill>
                  <a:schemeClr val="tx1">
                    <a:alpha val="80000"/>
                  </a:schemeClr>
                </a:solidFill>
                <a:latin typeface="Times New Roman" panose="02020603050405020304" pitchFamily="18" charset="0"/>
                <a:cs typeface="Times New Roman" panose="02020603050405020304" pitchFamily="18" charset="0"/>
              </a:rPr>
              <a:t> Python</a:t>
            </a:r>
          </a:p>
          <a:p>
            <a:pPr indent="-228600">
              <a:lnSpc>
                <a:spcPct val="90000"/>
              </a:lnSpc>
              <a:spcAft>
                <a:spcPts val="600"/>
              </a:spcAft>
              <a:buFont typeface="Arial" panose="020B0604020202020204" pitchFamily="34" charset="0"/>
              <a:buChar char="•"/>
            </a:pPr>
            <a:r>
              <a:rPr lang="en-US" sz="2400" b="1" dirty="0">
                <a:solidFill>
                  <a:schemeClr val="tx1">
                    <a:alpha val="80000"/>
                  </a:schemeClr>
                </a:solidFill>
                <a:latin typeface="Times New Roman" panose="02020603050405020304" pitchFamily="18" charset="0"/>
                <a:cs typeface="Times New Roman" panose="02020603050405020304" pitchFamily="18" charset="0"/>
              </a:rPr>
              <a:t>Development </a:t>
            </a:r>
            <a:r>
              <a:rPr lang="en-US" sz="2400" b="1" dirty="0" err="1">
                <a:solidFill>
                  <a:schemeClr val="tx1">
                    <a:alpha val="80000"/>
                  </a:schemeClr>
                </a:solidFill>
                <a:latin typeface="Times New Roman" panose="02020603050405020304" pitchFamily="18" charset="0"/>
                <a:cs typeface="Times New Roman" panose="02020603050405020304" pitchFamily="18" charset="0"/>
              </a:rPr>
              <a:t>Environment:</a:t>
            </a:r>
            <a:r>
              <a:rPr lang="en-US" sz="2400" dirty="0" err="1">
                <a:solidFill>
                  <a:schemeClr val="tx1">
                    <a:alpha val="80000"/>
                  </a:schemeClr>
                </a:solidFill>
                <a:latin typeface="Times New Roman" panose="02020603050405020304" pitchFamily="18" charset="0"/>
                <a:cs typeface="Times New Roman" panose="02020603050405020304" pitchFamily="18" charset="0"/>
              </a:rPr>
              <a:t>Google</a:t>
            </a:r>
            <a:r>
              <a:rPr lang="en-US" sz="2400" dirty="0">
                <a:solidFill>
                  <a:schemeClr val="tx1">
                    <a:alpha val="80000"/>
                  </a:schemeClr>
                </a:solidFill>
                <a:latin typeface="Times New Roman" panose="02020603050405020304" pitchFamily="18" charset="0"/>
                <a:cs typeface="Times New Roman" panose="02020603050405020304" pitchFamily="18" charset="0"/>
              </a:rPr>
              <a:t> </a:t>
            </a:r>
            <a:r>
              <a:rPr lang="en-US" sz="2400" dirty="0" err="1">
                <a:solidFill>
                  <a:schemeClr val="tx1">
                    <a:alpha val="80000"/>
                  </a:schemeClr>
                </a:solidFill>
                <a:latin typeface="Times New Roman" panose="02020603050405020304" pitchFamily="18" charset="0"/>
                <a:cs typeface="Times New Roman" panose="02020603050405020304" pitchFamily="18" charset="0"/>
              </a:rPr>
              <a:t>Colab</a:t>
            </a:r>
            <a:endParaRPr lang="en-US" sz="2400" dirty="0">
              <a:solidFill>
                <a:schemeClr val="tx1">
                  <a:alpha val="80000"/>
                </a:schemeClr>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2400" b="1" dirty="0">
                <a:solidFill>
                  <a:schemeClr val="tx1">
                    <a:alpha val="80000"/>
                  </a:schemeClr>
                </a:solidFill>
                <a:latin typeface="Times New Roman" panose="02020603050405020304" pitchFamily="18" charset="0"/>
                <a:cs typeface="Times New Roman" panose="02020603050405020304" pitchFamily="18" charset="0"/>
              </a:rPr>
              <a:t>Libraries Used:</a:t>
            </a:r>
            <a:endParaRPr lang="en-US" sz="2400" dirty="0">
              <a:solidFill>
                <a:schemeClr val="tx1">
                  <a:alpha val="80000"/>
                </a:schemeClr>
              </a:solidFill>
              <a:latin typeface="Times New Roman" panose="02020603050405020304" pitchFamily="18" charset="0"/>
              <a:cs typeface="Times New Roman" panose="02020603050405020304" pitchFamily="18" charset="0"/>
            </a:endParaRPr>
          </a:p>
          <a:p>
            <a:pPr lvl="1" indent="-228600">
              <a:lnSpc>
                <a:spcPct val="9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NumPy, Pandas – data handling</a:t>
            </a:r>
          </a:p>
          <a:p>
            <a:pPr lvl="1" indent="-228600">
              <a:lnSpc>
                <a:spcPct val="9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Scikit-learn – preprocessing and evaluation</a:t>
            </a:r>
          </a:p>
          <a:p>
            <a:pPr lvl="1" indent="-228600">
              <a:lnSpc>
                <a:spcPct val="90000"/>
              </a:lnSpc>
              <a:spcAft>
                <a:spcPts val="600"/>
              </a:spcAft>
              <a:buFont typeface="Arial" panose="020B0604020202020204" pitchFamily="34" charset="0"/>
              <a:buChar char="•"/>
            </a:pPr>
            <a:r>
              <a:rPr lang="en-US" sz="2400" dirty="0" err="1">
                <a:solidFill>
                  <a:schemeClr val="tx1">
                    <a:alpha val="80000"/>
                  </a:schemeClr>
                </a:solidFill>
                <a:latin typeface="Times New Roman" panose="02020603050405020304" pitchFamily="18" charset="0"/>
                <a:cs typeface="Times New Roman" panose="02020603050405020304" pitchFamily="18" charset="0"/>
              </a:rPr>
              <a:t>PyTorch</a:t>
            </a:r>
            <a:r>
              <a:rPr lang="en-US" sz="2400" dirty="0">
                <a:solidFill>
                  <a:schemeClr val="tx1">
                    <a:alpha val="80000"/>
                  </a:schemeClr>
                </a:solidFill>
                <a:latin typeface="Times New Roman" panose="02020603050405020304" pitchFamily="18" charset="0"/>
                <a:cs typeface="Times New Roman" panose="02020603050405020304" pitchFamily="18" charset="0"/>
              </a:rPr>
              <a:t> / TensorFlow – deep learning framework</a:t>
            </a:r>
          </a:p>
          <a:p>
            <a:pPr lvl="1" indent="-228600">
              <a:lnSpc>
                <a:spcPct val="90000"/>
              </a:lnSpc>
              <a:spcAft>
                <a:spcPts val="600"/>
              </a:spcAft>
              <a:buFont typeface="Arial" panose="020B0604020202020204" pitchFamily="34" charset="0"/>
              <a:buChar char="•"/>
            </a:pPr>
            <a:r>
              <a:rPr lang="en-US" sz="2400" dirty="0" err="1">
                <a:solidFill>
                  <a:schemeClr val="tx1">
                    <a:alpha val="80000"/>
                  </a:schemeClr>
                </a:solidFill>
                <a:latin typeface="Times New Roman" panose="02020603050405020304" pitchFamily="18" charset="0"/>
                <a:cs typeface="Times New Roman" panose="02020603050405020304" pitchFamily="18" charset="0"/>
              </a:rPr>
              <a:t>HuggingFace</a:t>
            </a:r>
            <a:r>
              <a:rPr lang="en-US" sz="2400" dirty="0">
                <a:solidFill>
                  <a:schemeClr val="tx1">
                    <a:alpha val="80000"/>
                  </a:schemeClr>
                </a:solidFill>
                <a:latin typeface="Times New Roman" panose="02020603050405020304" pitchFamily="18" charset="0"/>
                <a:cs typeface="Times New Roman" panose="02020603050405020304" pitchFamily="18" charset="0"/>
              </a:rPr>
              <a:t> Transformers – BERT, </a:t>
            </a:r>
            <a:r>
              <a:rPr lang="en-US" sz="2400" dirty="0" err="1">
                <a:solidFill>
                  <a:schemeClr val="tx1">
                    <a:alpha val="80000"/>
                  </a:schemeClr>
                </a:solidFill>
                <a:latin typeface="Times New Roman" panose="02020603050405020304" pitchFamily="18" charset="0"/>
                <a:cs typeface="Times New Roman" panose="02020603050405020304" pitchFamily="18" charset="0"/>
              </a:rPr>
              <a:t>DistilBERT</a:t>
            </a:r>
            <a:r>
              <a:rPr lang="en-US" sz="2400" dirty="0">
                <a:solidFill>
                  <a:schemeClr val="tx1">
                    <a:alpha val="80000"/>
                  </a:schemeClr>
                </a:solidFill>
                <a:latin typeface="Times New Roman" panose="02020603050405020304" pitchFamily="18" charset="0"/>
                <a:cs typeface="Times New Roman" panose="02020603050405020304" pitchFamily="18" charset="0"/>
              </a:rPr>
              <a:t>, </a:t>
            </a:r>
            <a:r>
              <a:rPr lang="en-US" sz="2400" dirty="0" err="1">
                <a:solidFill>
                  <a:schemeClr val="tx1">
                    <a:alpha val="80000"/>
                  </a:schemeClr>
                </a:solidFill>
                <a:latin typeface="Times New Roman" panose="02020603050405020304" pitchFamily="18" charset="0"/>
                <a:cs typeface="Times New Roman" panose="02020603050405020304" pitchFamily="18" charset="0"/>
              </a:rPr>
              <a:t>RoBERTa</a:t>
            </a:r>
            <a:r>
              <a:rPr lang="en-US" sz="2400" dirty="0">
                <a:solidFill>
                  <a:schemeClr val="tx1">
                    <a:alpha val="80000"/>
                  </a:schemeClr>
                </a:solidFill>
                <a:latin typeface="Times New Roman" panose="02020603050405020304" pitchFamily="18" charset="0"/>
                <a:cs typeface="Times New Roman" panose="02020603050405020304" pitchFamily="18" charset="0"/>
              </a:rPr>
              <a:t> models</a:t>
            </a:r>
          </a:p>
          <a:p>
            <a:pPr lvl="1" indent="-228600">
              <a:lnSpc>
                <a:spcPct val="15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Matplotlib / Seaborn – result visualization</a:t>
            </a:r>
          </a:p>
          <a:p>
            <a:pPr marL="228600" lvl="1">
              <a:lnSpc>
                <a:spcPct val="150000"/>
              </a:lnSpc>
              <a:spcAft>
                <a:spcPts val="600"/>
              </a:spcAft>
            </a:pPr>
            <a:r>
              <a:rPr lang="en-US" sz="2400" b="1" dirty="0">
                <a:solidFill>
                  <a:schemeClr val="tx1">
                    <a:alpha val="80000"/>
                  </a:schemeClr>
                </a:solidFill>
                <a:latin typeface="Times New Roman" panose="02020603050405020304" pitchFamily="18" charset="0"/>
                <a:cs typeface="Times New Roman" panose="02020603050405020304" pitchFamily="18" charset="0"/>
              </a:rPr>
              <a:t>Hardware / Equipment</a:t>
            </a:r>
          </a:p>
          <a:p>
            <a:pPr indent="-228600">
              <a:lnSpc>
                <a:spcPct val="9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Laptop / Desktop Computer</a:t>
            </a:r>
          </a:p>
          <a:p>
            <a:pPr indent="-228600">
              <a:lnSpc>
                <a:spcPct val="9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Minimum </a:t>
            </a:r>
            <a:r>
              <a:rPr lang="en-US" sz="2400" b="1" dirty="0">
                <a:solidFill>
                  <a:schemeClr val="tx1">
                    <a:alpha val="80000"/>
                  </a:schemeClr>
                </a:solidFill>
                <a:latin typeface="Times New Roman" panose="02020603050405020304" pitchFamily="18" charset="0"/>
                <a:cs typeface="Times New Roman" panose="02020603050405020304" pitchFamily="18" charset="0"/>
              </a:rPr>
              <a:t>8 GB RAM</a:t>
            </a:r>
            <a:r>
              <a:rPr lang="en-US" sz="2400" dirty="0">
                <a:solidFill>
                  <a:schemeClr val="tx1">
                    <a:alpha val="80000"/>
                  </a:schemeClr>
                </a:solidFill>
                <a:latin typeface="Times New Roman" panose="02020603050405020304" pitchFamily="18" charset="0"/>
                <a:cs typeface="Times New Roman" panose="02020603050405020304" pitchFamily="18" charset="0"/>
              </a:rPr>
              <a:t> (recommended for smooth execution)</a:t>
            </a:r>
          </a:p>
          <a:p>
            <a:pPr indent="-228600">
              <a:lnSpc>
                <a:spcPct val="90000"/>
              </a:lnSpc>
              <a:spcAft>
                <a:spcPts val="600"/>
              </a:spcAft>
              <a:buFont typeface="Arial" panose="020B0604020202020204" pitchFamily="34" charset="0"/>
              <a:buChar char="•"/>
            </a:pPr>
            <a:r>
              <a:rPr lang="en-US" sz="2400" dirty="0">
                <a:solidFill>
                  <a:schemeClr val="tx1">
                    <a:alpha val="80000"/>
                  </a:schemeClr>
                </a:solidFill>
                <a:latin typeface="Times New Roman" panose="02020603050405020304" pitchFamily="18" charset="0"/>
                <a:cs typeface="Times New Roman" panose="02020603050405020304" pitchFamily="18" charset="0"/>
              </a:rPr>
              <a:t>GPU support (Google </a:t>
            </a:r>
            <a:r>
              <a:rPr lang="en-US" sz="2400" dirty="0" err="1">
                <a:solidFill>
                  <a:schemeClr val="tx1">
                    <a:alpha val="80000"/>
                  </a:schemeClr>
                </a:solidFill>
                <a:latin typeface="Times New Roman" panose="02020603050405020304" pitchFamily="18" charset="0"/>
                <a:cs typeface="Times New Roman" panose="02020603050405020304" pitchFamily="18" charset="0"/>
              </a:rPr>
              <a:t>Colab</a:t>
            </a:r>
            <a:r>
              <a:rPr lang="en-US" sz="2400" dirty="0">
                <a:solidFill>
                  <a:schemeClr val="tx1">
                    <a:alpha val="80000"/>
                  </a:schemeClr>
                </a:solidFill>
                <a:latin typeface="Times New Roman" panose="02020603050405020304" pitchFamily="18" charset="0"/>
                <a:cs typeface="Times New Roman" panose="02020603050405020304" pitchFamily="18" charset="0"/>
              </a:rPr>
              <a:t> / CUDA) for faster transformer training</a:t>
            </a:r>
          </a:p>
        </p:txBody>
      </p:sp>
      <p:sp>
        <p:nvSpPr>
          <p:cNvPr id="20"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1223" y="8662623"/>
            <a:ext cx="168639" cy="168639"/>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2"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379243" y="5428908"/>
            <a:ext cx="0" cy="4858092"/>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AutoShape 7">
            <a:extLst>
              <a:ext uri="{FF2B5EF4-FFF2-40B4-BE49-F238E27FC236}">
                <a16:creationId xmlns:a16="http://schemas.microsoft.com/office/drawing/2014/main" id="{F668D0D9-CA3B-42A7-691A-2E0405ACA6B5}"/>
              </a:ext>
            </a:extLst>
          </p:cNvPr>
          <p:cNvSpPr/>
          <p:nvPr/>
        </p:nvSpPr>
        <p:spPr>
          <a:xfrm>
            <a:off x="7812160" y="9444510"/>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sp>
        <p:nvSpPr>
          <p:cNvPr id="9" name="Freeform 5">
            <a:extLst>
              <a:ext uri="{FF2B5EF4-FFF2-40B4-BE49-F238E27FC236}">
                <a16:creationId xmlns:a16="http://schemas.microsoft.com/office/drawing/2014/main" id="{F1FE5FFA-7D82-CB85-B567-D1201C906FEC}"/>
              </a:ext>
            </a:extLst>
          </p:cNvPr>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grpSp>
        <p:nvGrpSpPr>
          <p:cNvPr id="10" name="Group 10">
            <a:extLst>
              <a:ext uri="{FF2B5EF4-FFF2-40B4-BE49-F238E27FC236}">
                <a16:creationId xmlns:a16="http://schemas.microsoft.com/office/drawing/2014/main" id="{97B29995-AFB8-8AEF-2ED6-19637EC15494}"/>
              </a:ext>
            </a:extLst>
          </p:cNvPr>
          <p:cNvGrpSpPr/>
          <p:nvPr/>
        </p:nvGrpSpPr>
        <p:grpSpPr>
          <a:xfrm>
            <a:off x="-1724641" y="564813"/>
            <a:ext cx="3086100" cy="1178743"/>
            <a:chOff x="0" y="0"/>
            <a:chExt cx="812800" cy="310451"/>
          </a:xfrm>
        </p:grpSpPr>
        <p:sp>
          <p:nvSpPr>
            <p:cNvPr id="11" name="Freeform 11">
              <a:extLst>
                <a:ext uri="{FF2B5EF4-FFF2-40B4-BE49-F238E27FC236}">
                  <a16:creationId xmlns:a16="http://schemas.microsoft.com/office/drawing/2014/main" id="{C4B83612-C87D-3D7A-32CE-59166868D2DE}"/>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8EEB748-394F-EDA8-9C3E-3DC7FD57EE9F}"/>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68344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CA3CE52-35B1-A84F-D90C-CFDD699BBF8A}"/>
              </a:ext>
            </a:extLst>
          </p:cNvPr>
          <p:cNvPicPr>
            <a:picLocks noChangeAspect="1"/>
          </p:cNvPicPr>
          <p:nvPr/>
        </p:nvPicPr>
        <p:blipFill>
          <a:blip r:embed="rId2"/>
          <a:stretch>
            <a:fillRect/>
          </a:stretch>
        </p:blipFill>
        <p:spPr>
          <a:xfrm>
            <a:off x="11208940" y="876300"/>
            <a:ext cx="5021660" cy="2904570"/>
          </a:xfrm>
          <a:prstGeom prst="rect">
            <a:avLst/>
          </a:prstGeom>
        </p:spPr>
      </p:pic>
      <p:sp>
        <p:nvSpPr>
          <p:cNvPr id="4" name="TextBox 3">
            <a:extLst>
              <a:ext uri="{FF2B5EF4-FFF2-40B4-BE49-F238E27FC236}">
                <a16:creationId xmlns:a16="http://schemas.microsoft.com/office/drawing/2014/main" id="{F84A172D-CACE-65E8-1108-1635274209F4}"/>
              </a:ext>
            </a:extLst>
          </p:cNvPr>
          <p:cNvSpPr txBox="1"/>
          <p:nvPr/>
        </p:nvSpPr>
        <p:spPr>
          <a:xfrm>
            <a:off x="551835" y="1606525"/>
            <a:ext cx="9982200" cy="1323439"/>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Training / Knowledge Requirements</a:t>
            </a:r>
          </a:p>
          <a:p>
            <a:endParaRPr lang="en-IN" sz="4000" dirty="0"/>
          </a:p>
        </p:txBody>
      </p:sp>
      <p:sp>
        <p:nvSpPr>
          <p:cNvPr id="5" name="TextBox 4">
            <a:extLst>
              <a:ext uri="{FF2B5EF4-FFF2-40B4-BE49-F238E27FC236}">
                <a16:creationId xmlns:a16="http://schemas.microsoft.com/office/drawing/2014/main" id="{572F51EF-4F1D-87CB-666F-00AEEFAB953C}"/>
              </a:ext>
            </a:extLst>
          </p:cNvPr>
          <p:cNvSpPr txBox="1"/>
          <p:nvPr/>
        </p:nvSpPr>
        <p:spPr>
          <a:xfrm>
            <a:off x="953729" y="2599355"/>
            <a:ext cx="7924800" cy="3416320"/>
          </a:xfrm>
          <a:prstGeom prst="rect">
            <a:avLst/>
          </a:prstGeom>
          <a:noFill/>
        </p:spPr>
        <p:txBody>
          <a:bodyPr wrap="square" rtlCol="0">
            <a:sp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Basics of Python programming</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of Natural Language Processing (NLP)</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Knowledge of Transformer architectures (BERT, </a:t>
            </a:r>
            <a:r>
              <a:rPr lang="en-US" sz="2400" dirty="0" err="1">
                <a:latin typeface="Times New Roman" panose="02020603050405020304" pitchFamily="18" charset="0"/>
                <a:cs typeface="Times New Roman" panose="02020603050405020304" pitchFamily="18" charset="0"/>
              </a:rPr>
              <a:t>RoBERTa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DistilBERT</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Familiarity with active learning concepts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evaluation metrics: Accuracy, Precision, Recall, F1-Score</a:t>
            </a:r>
          </a:p>
          <a:p>
            <a:pPr algn="just"/>
            <a:endParaRPr lang="en-US" sz="2400" dirty="0">
              <a:latin typeface="Times New Roman" panose="02020603050405020304" pitchFamily="18" charset="0"/>
              <a:cs typeface="Times New Roman" panose="02020603050405020304" pitchFamily="18" charset="0"/>
            </a:endParaRPr>
          </a:p>
          <a:p>
            <a:endParaRPr lang="en-IN" sz="2400" dirty="0"/>
          </a:p>
        </p:txBody>
      </p:sp>
      <p:sp>
        <p:nvSpPr>
          <p:cNvPr id="7" name="TextBox 6">
            <a:extLst>
              <a:ext uri="{FF2B5EF4-FFF2-40B4-BE49-F238E27FC236}">
                <a16:creationId xmlns:a16="http://schemas.microsoft.com/office/drawing/2014/main" id="{2DAB1368-2589-E067-EEDD-F21FFD8C37BF}"/>
              </a:ext>
            </a:extLst>
          </p:cNvPr>
          <p:cNvSpPr txBox="1"/>
          <p:nvPr/>
        </p:nvSpPr>
        <p:spPr>
          <a:xfrm>
            <a:off x="565355" y="5369344"/>
            <a:ext cx="9144000"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Hardware / Equipment</a:t>
            </a:r>
          </a:p>
        </p:txBody>
      </p:sp>
      <p:sp>
        <p:nvSpPr>
          <p:cNvPr id="9" name="TextBox 8">
            <a:extLst>
              <a:ext uri="{FF2B5EF4-FFF2-40B4-BE49-F238E27FC236}">
                <a16:creationId xmlns:a16="http://schemas.microsoft.com/office/drawing/2014/main" id="{3C064F8B-19F1-922B-AFFD-3DCD513B1BAE}"/>
              </a:ext>
            </a:extLst>
          </p:cNvPr>
          <p:cNvSpPr txBox="1"/>
          <p:nvPr/>
        </p:nvSpPr>
        <p:spPr>
          <a:xfrm>
            <a:off x="970935" y="6286287"/>
            <a:ext cx="9144000" cy="1200329"/>
          </a:xfrm>
          <a:prstGeom prst="rect">
            <a:avLst/>
          </a:prstGeom>
          <a:noFill/>
        </p:spPr>
        <p:txBody>
          <a:bodyPr wrap="square">
            <a:spAutoFit/>
          </a:bodyPr>
          <a:lstStyle/>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Laptop / Desktop Computer</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Minimum </a:t>
            </a:r>
            <a:r>
              <a:rPr lang="en-IN" sz="2400" b="1" dirty="0">
                <a:latin typeface="Times New Roman" panose="02020603050405020304" pitchFamily="18" charset="0"/>
                <a:cs typeface="Times New Roman" panose="02020603050405020304" pitchFamily="18" charset="0"/>
              </a:rPr>
              <a:t>8 GB RAM</a:t>
            </a:r>
            <a:r>
              <a:rPr lang="en-IN" sz="2400" dirty="0">
                <a:latin typeface="Times New Roman" panose="02020603050405020304" pitchFamily="18" charset="0"/>
                <a:cs typeface="Times New Roman" panose="02020603050405020304" pitchFamily="18" charset="0"/>
              </a:rPr>
              <a:t> (recommended for smooth execution)</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GPU support (Google </a:t>
            </a:r>
            <a:r>
              <a:rPr lang="en-IN" sz="2400" dirty="0" err="1">
                <a:latin typeface="Times New Roman" panose="02020603050405020304" pitchFamily="18" charset="0"/>
                <a:cs typeface="Times New Roman" panose="02020603050405020304" pitchFamily="18" charset="0"/>
              </a:rPr>
              <a:t>Colab</a:t>
            </a:r>
            <a:r>
              <a:rPr lang="en-IN" sz="2400" dirty="0">
                <a:latin typeface="Times New Roman" panose="02020603050405020304" pitchFamily="18" charset="0"/>
                <a:cs typeface="Times New Roman" panose="02020603050405020304" pitchFamily="18" charset="0"/>
              </a:rPr>
              <a:t> / CUDA) for faster transformer training</a:t>
            </a:r>
          </a:p>
        </p:txBody>
      </p:sp>
      <p:sp>
        <p:nvSpPr>
          <p:cNvPr id="10" name="AutoShape 7">
            <a:extLst>
              <a:ext uri="{FF2B5EF4-FFF2-40B4-BE49-F238E27FC236}">
                <a16:creationId xmlns:a16="http://schemas.microsoft.com/office/drawing/2014/main" id="{61A6363B-3599-29A6-2A22-83D71523DD5B}"/>
              </a:ext>
            </a:extLst>
          </p:cNvPr>
          <p:cNvSpPr/>
          <p:nvPr/>
        </p:nvSpPr>
        <p:spPr>
          <a:xfrm>
            <a:off x="6783460" y="8789538"/>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sp>
        <p:nvSpPr>
          <p:cNvPr id="11" name="Freeform 5">
            <a:extLst>
              <a:ext uri="{FF2B5EF4-FFF2-40B4-BE49-F238E27FC236}">
                <a16:creationId xmlns:a16="http://schemas.microsoft.com/office/drawing/2014/main" id="{51264623-5F87-8F4D-3E6A-6343E2134DC6}"/>
              </a:ext>
            </a:extLst>
          </p:cNvPr>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80831AF1-DD99-8FE0-3593-6B716E354DC4}"/>
              </a:ext>
            </a:extLst>
          </p:cNvPr>
          <p:cNvPicPr>
            <a:picLocks noChangeAspect="1"/>
          </p:cNvPicPr>
          <p:nvPr/>
        </p:nvPicPr>
        <p:blipFill>
          <a:blip r:embed="rId5"/>
          <a:srcRect r="10200" b="2464"/>
          <a:stretch>
            <a:fillRect/>
          </a:stretch>
        </p:blipFill>
        <p:spPr>
          <a:xfrm>
            <a:off x="13607845" y="5083792"/>
            <a:ext cx="4114800" cy="3614424"/>
          </a:xfrm>
          <a:prstGeom prst="rect">
            <a:avLst/>
          </a:prstGeom>
        </p:spPr>
      </p:pic>
      <p:grpSp>
        <p:nvGrpSpPr>
          <p:cNvPr id="16" name="Group 10">
            <a:extLst>
              <a:ext uri="{FF2B5EF4-FFF2-40B4-BE49-F238E27FC236}">
                <a16:creationId xmlns:a16="http://schemas.microsoft.com/office/drawing/2014/main" id="{3C4AF8AE-C1E9-A2C3-93C8-2664095A800B}"/>
              </a:ext>
            </a:extLst>
          </p:cNvPr>
          <p:cNvGrpSpPr/>
          <p:nvPr/>
        </p:nvGrpSpPr>
        <p:grpSpPr>
          <a:xfrm>
            <a:off x="-1073290" y="286928"/>
            <a:ext cx="3086100" cy="1178743"/>
            <a:chOff x="0" y="0"/>
            <a:chExt cx="812800" cy="310451"/>
          </a:xfrm>
        </p:grpSpPr>
        <p:sp>
          <p:nvSpPr>
            <p:cNvPr id="17" name="Freeform 11">
              <a:extLst>
                <a:ext uri="{FF2B5EF4-FFF2-40B4-BE49-F238E27FC236}">
                  <a16:creationId xmlns:a16="http://schemas.microsoft.com/office/drawing/2014/main" id="{3B60CE91-1579-3352-09EE-EC61593D5D36}"/>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8" name="TextBox 12">
              <a:extLst>
                <a:ext uri="{FF2B5EF4-FFF2-40B4-BE49-F238E27FC236}">
                  <a16:creationId xmlns:a16="http://schemas.microsoft.com/office/drawing/2014/main" id="{AB100F4F-8386-9086-90A5-A17D81674459}"/>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23" name="Freeform 15">
            <a:extLst>
              <a:ext uri="{FF2B5EF4-FFF2-40B4-BE49-F238E27FC236}">
                <a16:creationId xmlns:a16="http://schemas.microsoft.com/office/drawing/2014/main" id="{7DAB2F6E-5AA2-9472-AF20-8BCAD10F9C77}"/>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extLst>
      <p:ext uri="{BB962C8B-B14F-4D97-AF65-F5344CB8AC3E}">
        <p14:creationId xmlns:p14="http://schemas.microsoft.com/office/powerpoint/2010/main" val="312516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689FC-318D-8714-1468-6ACE6D729050}"/>
              </a:ext>
            </a:extLst>
          </p:cNvPr>
          <p:cNvSpPr txBox="1"/>
          <p:nvPr/>
        </p:nvSpPr>
        <p:spPr>
          <a:xfrm>
            <a:off x="1066800" y="1806528"/>
            <a:ext cx="9448800" cy="6673943"/>
          </a:xfrm>
          <a:prstGeom prst="rect">
            <a:avLst/>
          </a:prstGeom>
          <a:noFill/>
        </p:spPr>
        <p:txBody>
          <a:bodyPr wrap="square">
            <a:spAutoFit/>
          </a:body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Dataset Collection: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 publicly available sentiment datasets such as IMDB movie reviews or Twitter text datasets.</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Data Preprocessing: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Clean the text by removing noise, stop words, URLs, and special characters, followed by tokenization suitable for transformer models.</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Baseline Model Training: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Train traditional machine learning models (Logistic Regression / SVM) using features like TF-IDF to establish baseline performance.</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Transformer Model Training: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Fine-tune transformer-based models (BERT, </a:t>
            </a:r>
            <a:r>
              <a:rPr lang="en-US" sz="2400" dirty="0" err="1">
                <a:latin typeface="Times New Roman" panose="02020603050405020304" pitchFamily="18" charset="0"/>
                <a:cs typeface="Times New Roman" panose="02020603050405020304" pitchFamily="18" charset="0"/>
              </a:rPr>
              <a:t>DistilBERT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RoBERTa</a:t>
            </a:r>
            <a:r>
              <a:rPr lang="en-US" sz="2400" dirty="0">
                <a:latin typeface="Times New Roman" panose="02020603050405020304" pitchFamily="18" charset="0"/>
                <a:cs typeface="Times New Roman" panose="02020603050405020304" pitchFamily="18" charset="0"/>
              </a:rPr>
              <a:t>) on a small labeled dataset to capture contextual sentiment information.</a:t>
            </a:r>
          </a:p>
        </p:txBody>
      </p:sp>
      <p:sp>
        <p:nvSpPr>
          <p:cNvPr id="5" name="TextBox 4">
            <a:extLst>
              <a:ext uri="{FF2B5EF4-FFF2-40B4-BE49-F238E27FC236}">
                <a16:creationId xmlns:a16="http://schemas.microsoft.com/office/drawing/2014/main" id="{A024B230-AD49-B51D-EE19-DC06FDA71C28}"/>
              </a:ext>
            </a:extLst>
          </p:cNvPr>
          <p:cNvSpPr txBox="1"/>
          <p:nvPr/>
        </p:nvSpPr>
        <p:spPr>
          <a:xfrm>
            <a:off x="228600" y="932782"/>
            <a:ext cx="9144000" cy="584775"/>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Finalized Basic Methodology </a:t>
            </a:r>
          </a:p>
        </p:txBody>
      </p:sp>
      <p:sp>
        <p:nvSpPr>
          <p:cNvPr id="6" name="Freeform 7">
            <a:extLst>
              <a:ext uri="{FF2B5EF4-FFF2-40B4-BE49-F238E27FC236}">
                <a16:creationId xmlns:a16="http://schemas.microsoft.com/office/drawing/2014/main" id="{B0833263-CE5A-B77F-C0A3-6065AA0C0C43}"/>
              </a:ext>
            </a:extLst>
          </p:cNvPr>
          <p:cNvSpPr/>
          <p:nvPr/>
        </p:nvSpPr>
        <p:spPr>
          <a:xfrm rot="5400000">
            <a:off x="13563600" y="7457914"/>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7" name="Freeform 2">
            <a:extLst>
              <a:ext uri="{FF2B5EF4-FFF2-40B4-BE49-F238E27FC236}">
                <a16:creationId xmlns:a16="http://schemas.microsoft.com/office/drawing/2014/main" id="{C9D920B3-5367-1F24-1F03-DEF88802E1EE}"/>
              </a:ext>
            </a:extLst>
          </p:cNvPr>
          <p:cNvSpPr/>
          <p:nvPr/>
        </p:nvSpPr>
        <p:spPr>
          <a:xfrm>
            <a:off x="8438108" y="8736881"/>
            <a:ext cx="618357" cy="579596"/>
          </a:xfrm>
          <a:custGeom>
            <a:avLst/>
            <a:gdLst/>
            <a:ahLst/>
            <a:cxnLst/>
            <a:rect l="l" t="t" r="r" b="b"/>
            <a:pathLst>
              <a:path w="618357" h="579596">
                <a:moveTo>
                  <a:pt x="0" y="0"/>
                </a:moveTo>
                <a:lnTo>
                  <a:pt x="618357" y="0"/>
                </a:lnTo>
                <a:lnTo>
                  <a:pt x="618357" y="579596"/>
                </a:lnTo>
                <a:lnTo>
                  <a:pt x="0" y="5795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8" name="Group 12">
            <a:extLst>
              <a:ext uri="{FF2B5EF4-FFF2-40B4-BE49-F238E27FC236}">
                <a16:creationId xmlns:a16="http://schemas.microsoft.com/office/drawing/2014/main" id="{631DC174-E0C1-B5F7-A25B-64689460CE99}"/>
              </a:ext>
            </a:extLst>
          </p:cNvPr>
          <p:cNvGrpSpPr/>
          <p:nvPr/>
        </p:nvGrpSpPr>
        <p:grpSpPr>
          <a:xfrm>
            <a:off x="17176175" y="8629924"/>
            <a:ext cx="865220" cy="865220"/>
            <a:chOff x="0" y="0"/>
            <a:chExt cx="812800" cy="812800"/>
          </a:xfrm>
        </p:grpSpPr>
        <p:sp>
          <p:nvSpPr>
            <p:cNvPr id="9" name="Freeform 13">
              <a:extLst>
                <a:ext uri="{FF2B5EF4-FFF2-40B4-BE49-F238E27FC236}">
                  <a16:creationId xmlns:a16="http://schemas.microsoft.com/office/drawing/2014/main" id="{804902E5-4F79-5551-0960-2969F0CCC0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0" name="TextBox 14">
              <a:extLst>
                <a:ext uri="{FF2B5EF4-FFF2-40B4-BE49-F238E27FC236}">
                  <a16:creationId xmlns:a16="http://schemas.microsoft.com/office/drawing/2014/main" id="{2630AC6A-D7AA-5CBC-98F3-073D2BAA8CE1}"/>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1" name="Freeform 15">
            <a:extLst>
              <a:ext uri="{FF2B5EF4-FFF2-40B4-BE49-F238E27FC236}">
                <a16:creationId xmlns:a16="http://schemas.microsoft.com/office/drawing/2014/main" id="{42E972AC-8B0A-9E24-A91B-D4F7951862DC}"/>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pic>
        <p:nvPicPr>
          <p:cNvPr id="12" name="Picture 11">
            <a:extLst>
              <a:ext uri="{FF2B5EF4-FFF2-40B4-BE49-F238E27FC236}">
                <a16:creationId xmlns:a16="http://schemas.microsoft.com/office/drawing/2014/main" id="{1D130E23-EF23-849E-92CA-B902651F8333}"/>
              </a:ext>
            </a:extLst>
          </p:cNvPr>
          <p:cNvPicPr>
            <a:picLocks noChangeAspect="1"/>
          </p:cNvPicPr>
          <p:nvPr/>
        </p:nvPicPr>
        <p:blipFill>
          <a:blip r:embed="rId8"/>
          <a:stretch>
            <a:fillRect/>
          </a:stretch>
        </p:blipFill>
        <p:spPr>
          <a:xfrm>
            <a:off x="10933036" y="1535992"/>
            <a:ext cx="7010038" cy="3584432"/>
          </a:xfrm>
          <a:prstGeom prst="rect">
            <a:avLst/>
          </a:prstGeom>
        </p:spPr>
      </p:pic>
      <p:sp>
        <p:nvSpPr>
          <p:cNvPr id="13" name="Rectangle 12">
            <a:extLst>
              <a:ext uri="{FF2B5EF4-FFF2-40B4-BE49-F238E27FC236}">
                <a16:creationId xmlns:a16="http://schemas.microsoft.com/office/drawing/2014/main" id="{511C6105-2684-BA3C-6658-BB856FE7FB7F}"/>
              </a:ext>
            </a:extLst>
          </p:cNvPr>
          <p:cNvSpPr/>
          <p:nvPr/>
        </p:nvSpPr>
        <p:spPr>
          <a:xfrm>
            <a:off x="11031965" y="4533900"/>
            <a:ext cx="1197412" cy="7586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29976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88E258-D12A-D0C7-4AE4-747FEFA2D74F}"/>
              </a:ext>
            </a:extLst>
          </p:cNvPr>
          <p:cNvSpPr txBox="1"/>
          <p:nvPr/>
        </p:nvSpPr>
        <p:spPr>
          <a:xfrm>
            <a:off x="1828800" y="-3848100"/>
            <a:ext cx="12496800" cy="11105925"/>
          </a:xfrm>
          <a:prstGeom prst="rect">
            <a:avLst/>
          </a:prstGeom>
          <a:noFill/>
        </p:spPr>
        <p:txBody>
          <a:bodyPr wrap="square">
            <a:spAutoFit/>
          </a:bodyPr>
          <a:lstStyle/>
          <a:p>
            <a:pPr marL="457200" indent="-457200">
              <a:lnSpc>
                <a:spcPct val="150000"/>
              </a:lnSpc>
              <a:buFont typeface="+mj-lt"/>
              <a:buAutoNum type="arabicPeriod"/>
            </a:pPr>
            <a:r>
              <a:rPr lang="en-US" sz="2400" b="1" dirty="0">
                <a:solidFill>
                  <a:schemeClr val="bg2"/>
                </a:solidFill>
                <a:latin typeface="Times New Roman" panose="02020603050405020304" pitchFamily="18" charset="0"/>
                <a:cs typeface="Times New Roman" panose="02020603050405020304" pitchFamily="18" charset="0"/>
              </a:rPr>
              <a:t>Dataset Collection:</a:t>
            </a:r>
            <a:br>
              <a:rPr lang="en-US" sz="2400" dirty="0">
                <a:solidFill>
                  <a:schemeClr val="bg2"/>
                </a:solidFill>
                <a:latin typeface="Times New Roman" panose="02020603050405020304" pitchFamily="18" charset="0"/>
                <a:cs typeface="Times New Roman" panose="02020603050405020304" pitchFamily="18" charset="0"/>
              </a:rPr>
            </a:br>
            <a:r>
              <a:rPr lang="en-US" sz="2400" dirty="0">
                <a:solidFill>
                  <a:schemeClr val="bg2"/>
                </a:solidFill>
                <a:latin typeface="Times New Roman" panose="02020603050405020304" pitchFamily="18" charset="0"/>
                <a:cs typeface="Times New Roman" panose="02020603050405020304" pitchFamily="18" charset="0"/>
              </a:rPr>
              <a:t>Use publicly available sentiment datasets such as IMDB movie reviews or Twitter text datasets.</a:t>
            </a:r>
          </a:p>
          <a:p>
            <a:pPr marL="457200" indent="-457200">
              <a:lnSpc>
                <a:spcPct val="150000"/>
              </a:lnSpc>
              <a:buFont typeface="+mj-lt"/>
              <a:buAutoNum type="arabicPeriod"/>
            </a:pPr>
            <a:r>
              <a:rPr lang="en-US" sz="2400" b="1" dirty="0">
                <a:solidFill>
                  <a:schemeClr val="bg2"/>
                </a:solidFill>
                <a:latin typeface="Times New Roman" panose="02020603050405020304" pitchFamily="18" charset="0"/>
                <a:cs typeface="Times New Roman" panose="02020603050405020304" pitchFamily="18" charset="0"/>
              </a:rPr>
              <a:t>Data Preprocessing:</a:t>
            </a:r>
            <a:br>
              <a:rPr lang="en-US" sz="2400" dirty="0">
                <a:solidFill>
                  <a:schemeClr val="bg2"/>
                </a:solidFill>
                <a:latin typeface="Times New Roman" panose="02020603050405020304" pitchFamily="18" charset="0"/>
                <a:cs typeface="Times New Roman" panose="02020603050405020304" pitchFamily="18" charset="0"/>
              </a:rPr>
            </a:br>
            <a:r>
              <a:rPr lang="en-US" sz="2400" dirty="0">
                <a:solidFill>
                  <a:schemeClr val="bg2"/>
                </a:solidFill>
                <a:latin typeface="Times New Roman" panose="02020603050405020304" pitchFamily="18" charset="0"/>
                <a:cs typeface="Times New Roman" panose="02020603050405020304" pitchFamily="18" charset="0"/>
              </a:rPr>
              <a:t>Clean the text by removing noise, stop words, URLs, and special characters, followed by tokenization suitable for transformer models.</a:t>
            </a:r>
          </a:p>
          <a:p>
            <a:pPr marL="457200" indent="-457200">
              <a:lnSpc>
                <a:spcPct val="150000"/>
              </a:lnSpc>
              <a:buFont typeface="+mj-lt"/>
              <a:buAutoNum type="arabicPeriod"/>
            </a:pPr>
            <a:r>
              <a:rPr lang="en-US" sz="2400" b="1" dirty="0">
                <a:solidFill>
                  <a:schemeClr val="bg2"/>
                </a:solidFill>
                <a:latin typeface="Times New Roman" panose="02020603050405020304" pitchFamily="18" charset="0"/>
                <a:cs typeface="Times New Roman" panose="02020603050405020304" pitchFamily="18" charset="0"/>
              </a:rPr>
              <a:t>Baseline Model Training:</a:t>
            </a:r>
            <a:br>
              <a:rPr lang="en-US" sz="2400" dirty="0">
                <a:solidFill>
                  <a:schemeClr val="bg2"/>
                </a:solidFill>
                <a:latin typeface="Times New Roman" panose="02020603050405020304" pitchFamily="18" charset="0"/>
                <a:cs typeface="Times New Roman" panose="02020603050405020304" pitchFamily="18" charset="0"/>
              </a:rPr>
            </a:br>
            <a:endParaRPr lang="en-US" sz="2400" dirty="0">
              <a:solidFill>
                <a:schemeClr val="bg2"/>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solidFill>
                  <a:schemeClr val="bg1"/>
                </a:solidFill>
                <a:latin typeface="Times New Roman" panose="02020603050405020304" pitchFamily="18" charset="0"/>
                <a:cs typeface="Times New Roman" panose="02020603050405020304" pitchFamily="18" charset="0"/>
              </a:rPr>
              <a:t>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Uncertainty Estimation: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Identify samples with low confidence predictions from the unlabeled data pool using model uncertainty measures.</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Active Learning Loop: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Select the most uncertain samples, label them, and add them to the training set for iterative retraining.</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Model Evaluation: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Evaluate all models using accuracy, precision, recall, and F1-score to analyze performance improvement.</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Final Model Selection: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Select the best-performing model as the final sentiment analysis system.</a:t>
            </a:r>
          </a:p>
        </p:txBody>
      </p:sp>
      <p:sp>
        <p:nvSpPr>
          <p:cNvPr id="7" name="Freeform 7">
            <a:extLst>
              <a:ext uri="{FF2B5EF4-FFF2-40B4-BE49-F238E27FC236}">
                <a16:creationId xmlns:a16="http://schemas.microsoft.com/office/drawing/2014/main" id="{7645618A-FF40-F55F-695C-2B816A536B67}"/>
              </a:ext>
            </a:extLst>
          </p:cNvPr>
          <p:cNvSpPr/>
          <p:nvPr/>
        </p:nvSpPr>
        <p:spPr>
          <a:xfrm rot="5400000">
            <a:off x="13535187" y="7133838"/>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8" name="Freeform 2">
            <a:extLst>
              <a:ext uri="{FF2B5EF4-FFF2-40B4-BE49-F238E27FC236}">
                <a16:creationId xmlns:a16="http://schemas.microsoft.com/office/drawing/2014/main" id="{03F37B9F-EE36-CB71-4FE9-0F47567202AA}"/>
              </a:ext>
            </a:extLst>
          </p:cNvPr>
          <p:cNvSpPr/>
          <p:nvPr/>
        </p:nvSpPr>
        <p:spPr>
          <a:xfrm>
            <a:off x="8438108" y="8736881"/>
            <a:ext cx="618357" cy="579596"/>
          </a:xfrm>
          <a:custGeom>
            <a:avLst/>
            <a:gdLst/>
            <a:ahLst/>
            <a:cxnLst/>
            <a:rect l="l" t="t" r="r" b="b"/>
            <a:pathLst>
              <a:path w="618357" h="579596">
                <a:moveTo>
                  <a:pt x="0" y="0"/>
                </a:moveTo>
                <a:lnTo>
                  <a:pt x="618357" y="0"/>
                </a:lnTo>
                <a:lnTo>
                  <a:pt x="618357" y="579596"/>
                </a:lnTo>
                <a:lnTo>
                  <a:pt x="0" y="5795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9" name="Group 12">
            <a:extLst>
              <a:ext uri="{FF2B5EF4-FFF2-40B4-BE49-F238E27FC236}">
                <a16:creationId xmlns:a16="http://schemas.microsoft.com/office/drawing/2014/main" id="{896CE2F9-0AEB-A061-22CA-0480ED51125F}"/>
              </a:ext>
            </a:extLst>
          </p:cNvPr>
          <p:cNvGrpSpPr/>
          <p:nvPr/>
        </p:nvGrpSpPr>
        <p:grpSpPr>
          <a:xfrm>
            <a:off x="17176175" y="8629924"/>
            <a:ext cx="865220" cy="865220"/>
            <a:chOff x="0" y="0"/>
            <a:chExt cx="812800" cy="812800"/>
          </a:xfrm>
        </p:grpSpPr>
        <p:sp>
          <p:nvSpPr>
            <p:cNvPr id="10" name="Freeform 13">
              <a:extLst>
                <a:ext uri="{FF2B5EF4-FFF2-40B4-BE49-F238E27FC236}">
                  <a16:creationId xmlns:a16="http://schemas.microsoft.com/office/drawing/2014/main" id="{1F27DAC3-CA16-1127-0EDC-FB3229A5A3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1" name="TextBox 14">
              <a:extLst>
                <a:ext uri="{FF2B5EF4-FFF2-40B4-BE49-F238E27FC236}">
                  <a16:creationId xmlns:a16="http://schemas.microsoft.com/office/drawing/2014/main" id="{C11E41C9-1BFF-955F-C5C1-F231298F39AD}"/>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2" name="Freeform 15">
            <a:extLst>
              <a:ext uri="{FF2B5EF4-FFF2-40B4-BE49-F238E27FC236}">
                <a16:creationId xmlns:a16="http://schemas.microsoft.com/office/drawing/2014/main" id="{069DAACB-47EF-D120-731F-4BC486FD01CB}"/>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extLst>
      <p:ext uri="{BB962C8B-B14F-4D97-AF65-F5344CB8AC3E}">
        <p14:creationId xmlns:p14="http://schemas.microsoft.com/office/powerpoint/2010/main" val="58470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155986" y="495300"/>
            <a:ext cx="13182600" cy="2133600"/>
            <a:chOff x="0" y="0"/>
            <a:chExt cx="2429645" cy="2960376"/>
          </a:xfrm>
        </p:grpSpPr>
        <p:sp>
          <p:nvSpPr>
            <p:cNvPr id="4" name="Freeform 4"/>
            <p:cNvSpPr/>
            <p:nvPr/>
          </p:nvSpPr>
          <p:spPr>
            <a:xfrm>
              <a:off x="0" y="0"/>
              <a:ext cx="2429645" cy="2960376"/>
            </a:xfrm>
            <a:custGeom>
              <a:avLst/>
              <a:gdLst/>
              <a:ahLst/>
              <a:cxnLst/>
              <a:rect l="l" t="t" r="r" b="b"/>
              <a:pathLst>
                <a:path w="2429645" h="2960376">
                  <a:moveTo>
                    <a:pt x="0" y="0"/>
                  </a:moveTo>
                  <a:lnTo>
                    <a:pt x="2429645" y="0"/>
                  </a:lnTo>
                  <a:lnTo>
                    <a:pt x="2429645" y="2960376"/>
                  </a:lnTo>
                  <a:lnTo>
                    <a:pt x="0" y="2960376"/>
                  </a:lnTo>
                  <a:close/>
                </a:path>
              </a:pathLst>
            </a:custGeom>
            <a:solidFill>
              <a:srgbClr val="EAD6B8"/>
            </a:solidFill>
          </p:spPr>
          <p:txBody>
            <a:bodyPr/>
            <a:lstStyle/>
            <a:p>
              <a:endParaRPr lang="en-IN"/>
            </a:p>
          </p:txBody>
        </p:sp>
        <p:sp>
          <p:nvSpPr>
            <p:cNvPr id="5" name="TextBox 5"/>
            <p:cNvSpPr txBox="1"/>
            <p:nvPr/>
          </p:nvSpPr>
          <p:spPr>
            <a:xfrm>
              <a:off x="0" y="-47625"/>
              <a:ext cx="2429645" cy="3008001"/>
            </a:xfrm>
            <a:prstGeom prst="rect">
              <a:avLst/>
            </a:prstGeom>
          </p:spPr>
          <p:txBody>
            <a:bodyPr lIns="50800" tIns="50800" rIns="50800" bIns="50800" rtlCol="0" anchor="ctr"/>
            <a:lstStyle/>
            <a:p>
              <a:pPr algn="ctr">
                <a:lnSpc>
                  <a:spcPts val="3012"/>
                </a:lnSpc>
              </a:pPr>
              <a:endParaRPr/>
            </a:p>
          </p:txBody>
        </p:sp>
      </p:grpSp>
      <p:grpSp>
        <p:nvGrpSpPr>
          <p:cNvPr id="12" name="Group 12"/>
          <p:cNvGrpSpPr/>
          <p:nvPr/>
        </p:nvGrpSpPr>
        <p:grpSpPr>
          <a:xfrm>
            <a:off x="17176175" y="8629924"/>
            <a:ext cx="865220" cy="8652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5" name="Freeform 15"/>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rot="5400000">
            <a:off x="14075172"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7" name="TextBox 17"/>
          <p:cNvSpPr txBox="1"/>
          <p:nvPr/>
        </p:nvSpPr>
        <p:spPr>
          <a:xfrm>
            <a:off x="5783215" y="430250"/>
            <a:ext cx="11150115" cy="1356140"/>
          </a:xfrm>
          <a:prstGeom prst="rect">
            <a:avLst/>
          </a:prstGeom>
        </p:spPr>
        <p:txBody>
          <a:bodyPr wrap="square" lIns="0" tIns="0" rIns="0" bIns="0" rtlCol="0" anchor="t">
            <a:spAutoFit/>
          </a:bodyPr>
          <a:lstStyle/>
          <a:p>
            <a:pPr lvl="0">
              <a:lnSpc>
                <a:spcPts val="13050"/>
              </a:lnSpc>
              <a:spcBef>
                <a:spcPct val="0"/>
              </a:spcBef>
            </a:pPr>
            <a:r>
              <a:rPr lang="en-IN" sz="3200" b="1" dirty="0">
                <a:latin typeface="Times New Roman" panose="02020603050405020304" pitchFamily="18" charset="0"/>
                <a:cs typeface="Times New Roman" panose="02020603050405020304" pitchFamily="18" charset="0"/>
              </a:rPr>
              <a:t>Proposed System Architecture</a:t>
            </a:r>
            <a:endParaRPr lang="en-US" sz="3200" b="1" dirty="0">
              <a:solidFill>
                <a:srgbClr val="465739"/>
              </a:solidFill>
              <a:latin typeface="Times New Roman" panose="02020603050405020304" pitchFamily="18" charset="0"/>
              <a:ea typeface="Glacial Indifference Bold"/>
              <a:cs typeface="Times New Roman" panose="02020603050405020304" pitchFamily="18" charset="0"/>
              <a:sym typeface="Glacial Indifference Bold"/>
            </a:endParaRPr>
          </a:p>
        </p:txBody>
      </p:sp>
      <p:pic>
        <p:nvPicPr>
          <p:cNvPr id="7" name="Picture 6">
            <a:extLst>
              <a:ext uri="{FF2B5EF4-FFF2-40B4-BE49-F238E27FC236}">
                <a16:creationId xmlns:a16="http://schemas.microsoft.com/office/drawing/2014/main" id="{32820AB8-1F61-C6F9-6B97-B3B91B440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039" y="3238500"/>
            <a:ext cx="16500250" cy="66182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pSp>
        <p:nvGrpSpPr>
          <p:cNvPr id="9" name="Group 9">
            <a:extLst>
              <a:ext uri="{FF2B5EF4-FFF2-40B4-BE49-F238E27FC236}">
                <a16:creationId xmlns:a16="http://schemas.microsoft.com/office/drawing/2014/main" id="{0AFBEF13-EDCE-2223-8F3E-C79D8DFA8074}"/>
              </a:ext>
            </a:extLst>
          </p:cNvPr>
          <p:cNvGrpSpPr/>
          <p:nvPr/>
        </p:nvGrpSpPr>
        <p:grpSpPr>
          <a:xfrm>
            <a:off x="7456520" y="3266168"/>
            <a:ext cx="450213" cy="450213"/>
            <a:chOff x="0" y="0"/>
            <a:chExt cx="812800" cy="812800"/>
          </a:xfrm>
        </p:grpSpPr>
        <p:sp>
          <p:nvSpPr>
            <p:cNvPr id="10" name="Freeform 10">
              <a:extLst>
                <a:ext uri="{FF2B5EF4-FFF2-40B4-BE49-F238E27FC236}">
                  <a16:creationId xmlns:a16="http://schemas.microsoft.com/office/drawing/2014/main" id="{A2FB0556-352A-2985-B50B-D6B770FF12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txBody>
            <a:bodyPr/>
            <a:lstStyle/>
            <a:p>
              <a:endParaRPr lang="en-IN"/>
            </a:p>
          </p:txBody>
        </p:sp>
        <p:sp>
          <p:nvSpPr>
            <p:cNvPr id="11" name="TextBox 11">
              <a:extLst>
                <a:ext uri="{FF2B5EF4-FFF2-40B4-BE49-F238E27FC236}">
                  <a16:creationId xmlns:a16="http://schemas.microsoft.com/office/drawing/2014/main" id="{7E1EDEB0-A596-38C1-DECB-ED1FBCE551F6}"/>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156BF35-EA39-9287-E0A5-F16ABD32A769}"/>
              </a:ext>
            </a:extLst>
          </p:cNvPr>
          <p:cNvGraphicFramePr>
            <a:graphicFrameLocks noGrp="1"/>
          </p:cNvGraphicFramePr>
          <p:nvPr>
            <p:extLst>
              <p:ext uri="{D42A27DB-BD31-4B8C-83A1-F6EECF244321}">
                <p14:modId xmlns:p14="http://schemas.microsoft.com/office/powerpoint/2010/main" val="208902488"/>
              </p:ext>
            </p:extLst>
          </p:nvPr>
        </p:nvGraphicFramePr>
        <p:xfrm>
          <a:off x="1066800" y="1104900"/>
          <a:ext cx="15773394" cy="8977631"/>
        </p:xfrm>
        <a:graphic>
          <a:graphicData uri="http://schemas.openxmlformats.org/drawingml/2006/table">
            <a:tbl>
              <a:tblPr firstRow="1" bandRow="1">
                <a:tableStyleId>{00A15C55-8517-42AA-B614-E9B94910E393}</a:tableStyleId>
              </a:tblPr>
              <a:tblGrid>
                <a:gridCol w="2253342">
                  <a:extLst>
                    <a:ext uri="{9D8B030D-6E8A-4147-A177-3AD203B41FA5}">
                      <a16:colId xmlns:a16="http://schemas.microsoft.com/office/drawing/2014/main" val="3527637264"/>
                    </a:ext>
                  </a:extLst>
                </a:gridCol>
                <a:gridCol w="2253342">
                  <a:extLst>
                    <a:ext uri="{9D8B030D-6E8A-4147-A177-3AD203B41FA5}">
                      <a16:colId xmlns:a16="http://schemas.microsoft.com/office/drawing/2014/main" val="1346730423"/>
                    </a:ext>
                  </a:extLst>
                </a:gridCol>
                <a:gridCol w="2253342">
                  <a:extLst>
                    <a:ext uri="{9D8B030D-6E8A-4147-A177-3AD203B41FA5}">
                      <a16:colId xmlns:a16="http://schemas.microsoft.com/office/drawing/2014/main" val="1873048557"/>
                    </a:ext>
                  </a:extLst>
                </a:gridCol>
                <a:gridCol w="2253342">
                  <a:extLst>
                    <a:ext uri="{9D8B030D-6E8A-4147-A177-3AD203B41FA5}">
                      <a16:colId xmlns:a16="http://schemas.microsoft.com/office/drawing/2014/main" val="2322493342"/>
                    </a:ext>
                  </a:extLst>
                </a:gridCol>
                <a:gridCol w="2253342">
                  <a:extLst>
                    <a:ext uri="{9D8B030D-6E8A-4147-A177-3AD203B41FA5}">
                      <a16:colId xmlns:a16="http://schemas.microsoft.com/office/drawing/2014/main" val="1365079578"/>
                    </a:ext>
                  </a:extLst>
                </a:gridCol>
                <a:gridCol w="2253342">
                  <a:extLst>
                    <a:ext uri="{9D8B030D-6E8A-4147-A177-3AD203B41FA5}">
                      <a16:colId xmlns:a16="http://schemas.microsoft.com/office/drawing/2014/main" val="459454849"/>
                    </a:ext>
                  </a:extLst>
                </a:gridCol>
                <a:gridCol w="2253342">
                  <a:extLst>
                    <a:ext uri="{9D8B030D-6E8A-4147-A177-3AD203B41FA5}">
                      <a16:colId xmlns:a16="http://schemas.microsoft.com/office/drawing/2014/main" val="1653458321"/>
                    </a:ext>
                  </a:extLst>
                </a:gridCol>
              </a:tblGrid>
              <a:tr h="324697">
                <a:tc>
                  <a:txBody>
                    <a:bodyPr/>
                    <a:lstStyle/>
                    <a:p>
                      <a:pPr algn="ctr">
                        <a:buNone/>
                      </a:pPr>
                      <a:r>
                        <a:rPr lang="en-IN" sz="1900" dirty="0" err="1"/>
                        <a:t>S.No</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Authors &amp; Year</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Title</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Methods Used</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Advantages</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Limitations</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Publication</a:t>
                      </a:r>
                      <a:endParaRPr lang="en-IN" sz="1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49184302"/>
                  </a:ext>
                </a:extLst>
              </a:tr>
              <a:tr h="1073998">
                <a:tc>
                  <a:txBody>
                    <a:bodyPr/>
                    <a:lstStyle/>
                    <a:p>
                      <a:pPr algn="ctr">
                        <a:buNone/>
                      </a:pPr>
                      <a:r>
                        <a:rPr lang="en-IN" sz="1900" dirty="0"/>
                        <a:t>1</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Afzal (2024)</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900"/>
                        <a:t>Transformer-based active learning for multi-class text classification</a:t>
                      </a:r>
                      <a:endParaRPr lang="en-US"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BERT, Active Learning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900"/>
                        <a:t>Reduces labeling cost, improves accuracy</a:t>
                      </a:r>
                      <a:endParaRPr lang="en-US"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High computation cost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Digital Health</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4401857"/>
                  </a:ext>
                </a:extLst>
              </a:tr>
              <a:tr h="824231">
                <a:tc>
                  <a:txBody>
                    <a:bodyPr/>
                    <a:lstStyle/>
                    <a:p>
                      <a:pPr algn="ctr">
                        <a:buNone/>
                      </a:pPr>
                      <a:r>
                        <a:rPr lang="en-IN" sz="1900" dirty="0"/>
                        <a:t>2</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Kumar et al.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SentXFormer: Hybrid transformer framework</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BERT + CNN/GRU</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Better cross-domain performance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Complex architecture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Scientific Reports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24287493"/>
                  </a:ext>
                </a:extLst>
              </a:tr>
              <a:tr h="824231">
                <a:tc>
                  <a:txBody>
                    <a:bodyPr/>
                    <a:lstStyle/>
                    <a:p>
                      <a:pPr algn="ctr">
                        <a:buNone/>
                      </a:pPr>
                      <a:r>
                        <a:rPr lang="en-IN" sz="1900"/>
                        <a:t>3</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El Azzouzy &amp; Berrada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Transformer models for YouTube sentiment</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BERT, RoBERTa</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900"/>
                        <a:t>High accuracy on social media text</a:t>
                      </a:r>
                      <a:endParaRPr lang="en-US"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Limited to YouTube data</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Journal of Information Processing</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77467533"/>
                  </a:ext>
                </a:extLst>
              </a:tr>
              <a:tr h="824231">
                <a:tc>
                  <a:txBody>
                    <a:bodyPr/>
                    <a:lstStyle/>
                    <a:p>
                      <a:pPr algn="ctr">
                        <a:buNone/>
                      </a:pPr>
                      <a:r>
                        <a:rPr lang="en-IN" sz="1900"/>
                        <a:t>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Pookduang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RoBERTa performance evaluation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RoBERTa, DL models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Strong contextual understanding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Requires large datasets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ETASR</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45460770"/>
                  </a:ext>
                </a:extLst>
              </a:tr>
              <a:tr h="824231">
                <a:tc>
                  <a:txBody>
                    <a:bodyPr/>
                    <a:lstStyle/>
                    <a:p>
                      <a:pPr algn="ctr">
                        <a:buNone/>
                      </a:pPr>
                      <a:r>
                        <a:rPr lang="en-IN" sz="1900" dirty="0"/>
                        <a:t>5</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err="1"/>
                        <a:t>Jakha</a:t>
                      </a:r>
                      <a:r>
                        <a:rPr lang="en-IN" sz="1900" dirty="0"/>
                        <a:t> et al. (2025)</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Multilingual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Multilingual 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Supports multiple languages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900"/>
                        <a:t>Lower accuracy for low-resource languages</a:t>
                      </a:r>
                      <a:endParaRPr lang="en-US"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Entropy</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5699856"/>
                  </a:ext>
                </a:extLst>
              </a:tr>
              <a:tr h="574464">
                <a:tc>
                  <a:txBody>
                    <a:bodyPr/>
                    <a:lstStyle/>
                    <a:p>
                      <a:pPr algn="ctr">
                        <a:buNone/>
                      </a:pPr>
                      <a:r>
                        <a:rPr lang="en-IN" sz="1900"/>
                        <a:t>6</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Albladi et al.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Hybrid transformer framework</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Ensemble Transformers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Improved robustness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High training time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arXiv</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68673844"/>
                  </a:ext>
                </a:extLst>
              </a:tr>
              <a:tr h="574464">
                <a:tc>
                  <a:txBody>
                    <a:bodyPr/>
                    <a:lstStyle/>
                    <a:p>
                      <a:pPr algn="ctr">
                        <a:buNone/>
                      </a:pPr>
                      <a:r>
                        <a:rPr lang="en-IN" sz="1900"/>
                        <a:t>7</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Mehta &amp; Verma (2026)</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DL vs Transformer comparison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CNN, LSTM, 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Clear performance comparison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Dataset-dependent results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IJDSA</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82425306"/>
                  </a:ext>
                </a:extLst>
              </a:tr>
              <a:tr h="574464">
                <a:tc>
                  <a:txBody>
                    <a:bodyPr/>
                    <a:lstStyle/>
                    <a:p>
                      <a:pPr algn="ctr">
                        <a:buNone/>
                      </a:pPr>
                      <a:r>
                        <a:rPr lang="en-IN" sz="1900"/>
                        <a:t>8</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Wang &amp; Chen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Context-aware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Fine-tuned 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Better contextual understanding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Fine-tuning is expensive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IEEE Access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48884457"/>
                  </a:ext>
                </a:extLst>
              </a:tr>
              <a:tr h="824231">
                <a:tc>
                  <a:txBody>
                    <a:bodyPr/>
                    <a:lstStyle/>
                    <a:p>
                      <a:pPr algn="ctr">
                        <a:buNone/>
                      </a:pPr>
                      <a:r>
                        <a:rPr lang="en-IN" sz="1900"/>
                        <a:t>9</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Rahman et al.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Uncertainty-based active learning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BERT + Uncertainty Sampling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Efficient sample selection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Needs careful threshold tuning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Expert Systems with Applications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38046964"/>
                  </a:ext>
                </a:extLst>
              </a:tr>
              <a:tr h="574464">
                <a:tc>
                  <a:txBody>
                    <a:bodyPr/>
                    <a:lstStyle/>
                    <a:p>
                      <a:pPr algn="ctr">
                        <a:buNone/>
                      </a:pPr>
                      <a:r>
                        <a:rPr lang="en-IN" sz="1900"/>
                        <a:t>10</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Singh &amp; Kaur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Aspect-based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Transformer Attention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Captures aspect-level sentiment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Complex annotation process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Applied AI</a:t>
                      </a:r>
                      <a:endParaRPr lang="en-IN" sz="1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72828858"/>
                  </a:ext>
                </a:extLst>
              </a:tr>
            </a:tbl>
          </a:graphicData>
        </a:graphic>
      </p:graphicFrame>
      <p:sp>
        <p:nvSpPr>
          <p:cNvPr id="3" name="TextBox 2">
            <a:extLst>
              <a:ext uri="{FF2B5EF4-FFF2-40B4-BE49-F238E27FC236}">
                <a16:creationId xmlns:a16="http://schemas.microsoft.com/office/drawing/2014/main" id="{C8220973-6012-B2EB-A8D0-774B8C48093E}"/>
              </a:ext>
            </a:extLst>
          </p:cNvPr>
          <p:cNvSpPr txBox="1"/>
          <p:nvPr/>
        </p:nvSpPr>
        <p:spPr>
          <a:xfrm>
            <a:off x="381000" y="225363"/>
            <a:ext cx="5943600"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649933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4DA8EF1-490F-A770-531C-99F72D7747D6}"/>
              </a:ext>
            </a:extLst>
          </p:cNvPr>
          <p:cNvGraphicFramePr>
            <a:graphicFrameLocks noGrp="1"/>
          </p:cNvGraphicFramePr>
          <p:nvPr>
            <p:extLst>
              <p:ext uri="{D42A27DB-BD31-4B8C-83A1-F6EECF244321}">
                <p14:modId xmlns:p14="http://schemas.microsoft.com/office/powerpoint/2010/main" val="2773475818"/>
              </p:ext>
            </p:extLst>
          </p:nvPr>
        </p:nvGraphicFramePr>
        <p:xfrm>
          <a:off x="990600" y="869523"/>
          <a:ext cx="15773394" cy="8837513"/>
        </p:xfrm>
        <a:graphic>
          <a:graphicData uri="http://schemas.openxmlformats.org/drawingml/2006/table">
            <a:tbl>
              <a:tblPr firstRow="1" bandRow="1">
                <a:tableStyleId>{00A15C55-8517-42AA-B614-E9B94910E393}</a:tableStyleId>
              </a:tblPr>
              <a:tblGrid>
                <a:gridCol w="2253342">
                  <a:extLst>
                    <a:ext uri="{9D8B030D-6E8A-4147-A177-3AD203B41FA5}">
                      <a16:colId xmlns:a16="http://schemas.microsoft.com/office/drawing/2014/main" val="3527637264"/>
                    </a:ext>
                  </a:extLst>
                </a:gridCol>
                <a:gridCol w="2253342">
                  <a:extLst>
                    <a:ext uri="{9D8B030D-6E8A-4147-A177-3AD203B41FA5}">
                      <a16:colId xmlns:a16="http://schemas.microsoft.com/office/drawing/2014/main" val="1346730423"/>
                    </a:ext>
                  </a:extLst>
                </a:gridCol>
                <a:gridCol w="2253342">
                  <a:extLst>
                    <a:ext uri="{9D8B030D-6E8A-4147-A177-3AD203B41FA5}">
                      <a16:colId xmlns:a16="http://schemas.microsoft.com/office/drawing/2014/main" val="1873048557"/>
                    </a:ext>
                  </a:extLst>
                </a:gridCol>
                <a:gridCol w="2253342">
                  <a:extLst>
                    <a:ext uri="{9D8B030D-6E8A-4147-A177-3AD203B41FA5}">
                      <a16:colId xmlns:a16="http://schemas.microsoft.com/office/drawing/2014/main" val="2322493342"/>
                    </a:ext>
                  </a:extLst>
                </a:gridCol>
                <a:gridCol w="2253342">
                  <a:extLst>
                    <a:ext uri="{9D8B030D-6E8A-4147-A177-3AD203B41FA5}">
                      <a16:colId xmlns:a16="http://schemas.microsoft.com/office/drawing/2014/main" val="1365079578"/>
                    </a:ext>
                  </a:extLst>
                </a:gridCol>
                <a:gridCol w="2253342">
                  <a:extLst>
                    <a:ext uri="{9D8B030D-6E8A-4147-A177-3AD203B41FA5}">
                      <a16:colId xmlns:a16="http://schemas.microsoft.com/office/drawing/2014/main" val="459454849"/>
                    </a:ext>
                  </a:extLst>
                </a:gridCol>
                <a:gridCol w="2253342">
                  <a:extLst>
                    <a:ext uri="{9D8B030D-6E8A-4147-A177-3AD203B41FA5}">
                      <a16:colId xmlns:a16="http://schemas.microsoft.com/office/drawing/2014/main" val="1653458321"/>
                    </a:ext>
                  </a:extLst>
                </a:gridCol>
              </a:tblGrid>
              <a:tr h="324697">
                <a:tc>
                  <a:txBody>
                    <a:bodyPr/>
                    <a:lstStyle/>
                    <a:p>
                      <a:pPr algn="ctr">
                        <a:buNone/>
                      </a:pPr>
                      <a:r>
                        <a:rPr lang="en-IN" sz="1900" dirty="0" err="1"/>
                        <a:t>S.No</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Authors &amp; Year</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Title</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Methods Used</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Advantages</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Limitations</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Publication</a:t>
                      </a:r>
                      <a:endParaRPr lang="en-IN" sz="1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49184302"/>
                  </a:ext>
                </a:extLst>
              </a:tr>
              <a:tr h="1073998">
                <a:tc>
                  <a:txBody>
                    <a:bodyPr/>
                    <a:lstStyle/>
                    <a:p>
                      <a:pPr algn="ctr">
                        <a:buNone/>
                      </a:pPr>
                      <a:r>
                        <a:rPr lang="en-IN" sz="1900" dirty="0"/>
                        <a:t>11</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Zhang et al.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Domain-adaptive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Domain-adaptive 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Works well across domains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Domain shift still challenging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Knowledge-Based Systems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4401857"/>
                  </a:ext>
                </a:extLst>
              </a:tr>
              <a:tr h="824231">
                <a:tc>
                  <a:txBody>
                    <a:bodyPr/>
                    <a:lstStyle/>
                    <a:p>
                      <a:pPr algn="ctr">
                        <a:buNone/>
                      </a:pPr>
                      <a:r>
                        <a:rPr lang="en-IN" sz="1900" dirty="0"/>
                        <a:t>12</a:t>
                      </a:r>
                      <a:endParaRPr lang="en-IN" sz="19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Kumar &amp; Patel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Lightweight transformer models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DistilBERT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Faster and memory-efficient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Slight accuracy drop</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Neural Computing &amp; Applications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24287493"/>
                  </a:ext>
                </a:extLst>
              </a:tr>
              <a:tr h="824231">
                <a:tc>
                  <a:txBody>
                    <a:bodyPr/>
                    <a:lstStyle/>
                    <a:p>
                      <a:pPr algn="ctr">
                        <a:buNone/>
                      </a:pPr>
                      <a:r>
                        <a:rPr lang="en-IN" sz="1900"/>
                        <a:t>13</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Hassan &amp; Alotaibi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Active learning strategies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ML + Active Learning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Reduces annotation effort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Depends on sampling strategy</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IP&amp;M</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77467533"/>
                  </a:ext>
                </a:extLst>
              </a:tr>
              <a:tr h="824231">
                <a:tc>
                  <a:txBody>
                    <a:bodyPr/>
                    <a:lstStyle/>
                    <a:p>
                      <a:pPr algn="ctr">
                        <a:buNone/>
                      </a:pPr>
                      <a:r>
                        <a:rPr lang="en-IN" sz="1900"/>
                        <a:t>14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Park &amp; Lee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Social media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RoBERTa, DistilBERT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High accuracy on tweets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Noise in social data</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Journal of Big Data</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45460770"/>
                  </a:ext>
                </a:extLst>
              </a:tr>
              <a:tr h="824231">
                <a:tc>
                  <a:txBody>
                    <a:bodyPr/>
                    <a:lstStyle/>
                    <a:p>
                      <a:pPr algn="ctr">
                        <a:buNone/>
                      </a:pPr>
                      <a:r>
                        <a:rPr lang="en-IN" sz="1900"/>
                        <a:t>15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Ali et al.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Low-resource language sentiment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Transformer models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Supports low-resource languages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Limited datasets available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ACM TALLIP</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5699856"/>
                  </a:ext>
                </a:extLst>
              </a:tr>
              <a:tr h="574464">
                <a:tc>
                  <a:txBody>
                    <a:bodyPr/>
                    <a:lstStyle/>
                    <a:p>
                      <a:pPr algn="ctr">
                        <a:buNone/>
                      </a:pPr>
                      <a:r>
                        <a:rPr lang="en-IN" sz="1900"/>
                        <a:t>16</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Zhou &amp; Wang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Graph-enhanced transformers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Graph Transformer</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Better relationship modeling</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High computational complexity</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PRL</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68673844"/>
                  </a:ext>
                </a:extLst>
              </a:tr>
              <a:tr h="574464">
                <a:tc>
                  <a:txBody>
                    <a:bodyPr/>
                    <a:lstStyle/>
                    <a:p>
                      <a:pPr algn="ctr">
                        <a:buNone/>
                      </a:pPr>
                      <a:r>
                        <a:rPr lang="en-IN" sz="1900"/>
                        <a:t>17</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Patel &amp; Shah (2025)</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Uncertainty-aware transformers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BERT + Uncertainty</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Improved decision confidence</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Implementation complexity</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AI Review</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82425306"/>
                  </a:ext>
                </a:extLst>
              </a:tr>
              <a:tr h="574464">
                <a:tc>
                  <a:txBody>
                    <a:bodyPr/>
                    <a:lstStyle/>
                    <a:p>
                      <a:pPr algn="ctr">
                        <a:buNone/>
                      </a:pPr>
                      <a:r>
                        <a:rPr lang="en-IN" sz="1900"/>
                        <a:t>18</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Ahmed et al. (2026)</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Ensemble transformer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Ensemble BERT models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High accuracy and stability</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Very high computation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FGCS</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48884457"/>
                  </a:ext>
                </a:extLst>
              </a:tr>
              <a:tr h="824231">
                <a:tc>
                  <a:txBody>
                    <a:bodyPr/>
                    <a:lstStyle/>
                    <a:p>
                      <a:pPr algn="ctr">
                        <a:buNone/>
                      </a:pPr>
                      <a:r>
                        <a:rPr lang="en-IN" sz="1900"/>
                        <a:t>19</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Verma &amp; Joshi (2024)</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Cross-lingual sentiment analysis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Multilingual BERT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Cross-language support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Translation errors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Natural Language Engineering</a:t>
                      </a:r>
                      <a:endParaRPr lang="en-IN" sz="19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38046964"/>
                  </a:ext>
                </a:extLst>
              </a:tr>
              <a:tr h="574464">
                <a:tc>
                  <a:txBody>
                    <a:bodyPr/>
                    <a:lstStyle/>
                    <a:p>
                      <a:pPr algn="ctr">
                        <a:buNone/>
                      </a:pPr>
                      <a:r>
                        <a:rPr lang="en-IN" sz="1900"/>
                        <a:t>20</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Brown &amp; Miller (2026)</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Large-scale sentiment evaluation</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Modern Transformers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Scales to large datasets</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a:t>Infrastructure dependent</a:t>
                      </a:r>
                      <a:endParaRPr lang="en-IN" sz="19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900" dirty="0"/>
                        <a:t>IEEE TCSS</a:t>
                      </a:r>
                      <a:endParaRPr lang="en-IN" sz="1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72828858"/>
                  </a:ext>
                </a:extLst>
              </a:tr>
            </a:tbl>
          </a:graphicData>
        </a:graphic>
      </p:graphicFrame>
    </p:spTree>
    <p:extLst>
      <p:ext uri="{BB962C8B-B14F-4D97-AF65-F5344CB8AC3E}">
        <p14:creationId xmlns:p14="http://schemas.microsoft.com/office/powerpoint/2010/main" val="145478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2">
            <a:extLst>
              <a:ext uri="{FF2B5EF4-FFF2-40B4-BE49-F238E27FC236}">
                <a16:creationId xmlns:a16="http://schemas.microsoft.com/office/drawing/2014/main" id="{4FE59C25-BE95-EE08-970B-A4082608C527}"/>
              </a:ext>
            </a:extLst>
          </p:cNvPr>
          <p:cNvGrpSpPr/>
          <p:nvPr/>
        </p:nvGrpSpPr>
        <p:grpSpPr>
          <a:xfrm>
            <a:off x="-909139" y="471708"/>
            <a:ext cx="20106278" cy="3995575"/>
            <a:chOff x="0" y="0"/>
            <a:chExt cx="5295481" cy="1052333"/>
          </a:xfrm>
        </p:grpSpPr>
        <p:sp>
          <p:nvSpPr>
            <p:cNvPr id="33" name="Freeform 3">
              <a:extLst>
                <a:ext uri="{FF2B5EF4-FFF2-40B4-BE49-F238E27FC236}">
                  <a16:creationId xmlns:a16="http://schemas.microsoft.com/office/drawing/2014/main" id="{6FC91FB8-8E9F-88AE-32C2-FE6276339D0F}"/>
                </a:ext>
              </a:extLst>
            </p:cNvPr>
            <p:cNvSpPr/>
            <p:nvPr/>
          </p:nvSpPr>
          <p:spPr>
            <a:xfrm>
              <a:off x="0" y="0"/>
              <a:ext cx="5295481" cy="1052333"/>
            </a:xfrm>
            <a:custGeom>
              <a:avLst/>
              <a:gdLst/>
              <a:ahLst/>
              <a:cxnLst/>
              <a:rect l="l" t="t" r="r" b="b"/>
              <a:pathLst>
                <a:path w="5295481" h="1052333">
                  <a:moveTo>
                    <a:pt x="0" y="0"/>
                  </a:moveTo>
                  <a:lnTo>
                    <a:pt x="5295481" y="0"/>
                  </a:lnTo>
                  <a:lnTo>
                    <a:pt x="5295481" y="1052333"/>
                  </a:lnTo>
                  <a:lnTo>
                    <a:pt x="0" y="1052333"/>
                  </a:lnTo>
                  <a:close/>
                </a:path>
              </a:pathLst>
            </a:custGeom>
            <a:solidFill>
              <a:srgbClr val="EAD6B8"/>
            </a:solidFill>
          </p:spPr>
          <p:txBody>
            <a:bodyPr/>
            <a:lstStyle/>
            <a:p>
              <a:endParaRPr lang="en-IN"/>
            </a:p>
          </p:txBody>
        </p:sp>
        <p:sp>
          <p:nvSpPr>
            <p:cNvPr id="34" name="TextBox 4">
              <a:extLst>
                <a:ext uri="{FF2B5EF4-FFF2-40B4-BE49-F238E27FC236}">
                  <a16:creationId xmlns:a16="http://schemas.microsoft.com/office/drawing/2014/main" id="{36C54394-3EC5-B851-C204-705F20C3FFD8}"/>
                </a:ext>
              </a:extLst>
            </p:cNvPr>
            <p:cNvSpPr txBox="1"/>
            <p:nvPr/>
          </p:nvSpPr>
          <p:spPr>
            <a:xfrm>
              <a:off x="0" y="-47625"/>
              <a:ext cx="5295481" cy="1099958"/>
            </a:xfrm>
            <a:prstGeom prst="rect">
              <a:avLst/>
            </a:prstGeom>
          </p:spPr>
          <p:txBody>
            <a:bodyPr lIns="50800" tIns="50800" rIns="50800" bIns="50800" rtlCol="0" anchor="ctr"/>
            <a:lstStyle/>
            <a:p>
              <a:pPr algn="ctr">
                <a:lnSpc>
                  <a:spcPts val="3012"/>
                </a:lnSpc>
              </a:pPr>
              <a:endParaRPr/>
            </a:p>
          </p:txBody>
        </p:sp>
      </p:grpSp>
      <p:sp>
        <p:nvSpPr>
          <p:cNvPr id="36" name="TextBox 35">
            <a:extLst>
              <a:ext uri="{FF2B5EF4-FFF2-40B4-BE49-F238E27FC236}">
                <a16:creationId xmlns:a16="http://schemas.microsoft.com/office/drawing/2014/main" id="{4FE47915-0317-29D0-7A00-B77F2C43B3A6}"/>
              </a:ext>
            </a:extLst>
          </p:cNvPr>
          <p:cNvSpPr txBox="1"/>
          <p:nvPr/>
        </p:nvSpPr>
        <p:spPr>
          <a:xfrm>
            <a:off x="4343400" y="4838700"/>
            <a:ext cx="10058400" cy="3108543"/>
          </a:xfrm>
          <a:prstGeom prst="rect">
            <a:avLst/>
          </a:prstGeom>
          <a:noFill/>
        </p:spPr>
        <p:txBody>
          <a:bodyPr wrap="square">
            <a:spAutoFit/>
          </a:bodyPr>
          <a:lstStyle/>
          <a:p>
            <a:r>
              <a:rPr lang="en-GB" sz="2800" dirty="0">
                <a:latin typeface="Times New Roman" panose="02020603050405020304" pitchFamily="18" charset="0"/>
                <a:cs typeface="Times New Roman" panose="02020603050405020304" pitchFamily="18" charset="0"/>
              </a:rPr>
              <a:t>Sentiment analysis helps find emotions in text, making it helpful for businesses, social media, and customer support. Using different methods makes it more accurate and better at understanding feelings. Advanced techniques make it more reliable and useful in real life. In the future, it can get better at understanding sarcasm, slang, and different languages.</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2D3A3DF4-14BF-E974-E318-44B3D06511D0}"/>
              </a:ext>
            </a:extLst>
          </p:cNvPr>
          <p:cNvSpPr txBox="1"/>
          <p:nvPr/>
        </p:nvSpPr>
        <p:spPr>
          <a:xfrm>
            <a:off x="2743200" y="1988856"/>
            <a:ext cx="13799574" cy="1200329"/>
          </a:xfrm>
          <a:prstGeom prst="rect">
            <a:avLst/>
          </a:prstGeom>
          <a:noFill/>
        </p:spPr>
        <p:txBody>
          <a:bodyPr wrap="square">
            <a:spAutoFit/>
          </a:bodyPr>
          <a:lstStyle/>
          <a:p>
            <a:pPr>
              <a:buNone/>
            </a:pPr>
            <a:r>
              <a:rPr lang="en-US" sz="7200" b="1" dirty="0">
                <a:latin typeface="Times New Roman" panose="02020603050405020304" pitchFamily="18" charset="0"/>
                <a:cs typeface="Times New Roman" panose="02020603050405020304" pitchFamily="18" charset="0"/>
              </a:rPr>
              <a:t>Conclusion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71519" y="2282576"/>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2500721" y="3516133"/>
            <a:ext cx="3529421" cy="3338071"/>
            <a:chOff x="0" y="0"/>
            <a:chExt cx="929559" cy="879163"/>
          </a:xfrm>
        </p:grpSpPr>
        <p:sp>
          <p:nvSpPr>
            <p:cNvPr id="4" name="Freeform 4"/>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5" name="TextBox 5"/>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16850683" y="7365373"/>
            <a:ext cx="1190712" cy="11907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Freeform 9"/>
          <p:cNvSpPr/>
          <p:nvPr/>
        </p:nvSpPr>
        <p:spPr>
          <a:xfrm>
            <a:off x="15207460" y="7876541"/>
            <a:ext cx="2618042" cy="4114800"/>
          </a:xfrm>
          <a:custGeom>
            <a:avLst/>
            <a:gdLst/>
            <a:ahLst/>
            <a:cxnLst/>
            <a:rect l="l" t="t" r="r" b="b"/>
            <a:pathLst>
              <a:path w="2618042" h="4114800">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5400000">
            <a:off x="13601700"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574125" y="-869877"/>
            <a:ext cx="3251377" cy="2483239"/>
          </a:xfrm>
          <a:custGeom>
            <a:avLst/>
            <a:gdLst/>
            <a:ahLst/>
            <a:cxnLst/>
            <a:rect l="l" t="t" r="r" b="b"/>
            <a:pathLst>
              <a:path w="3251377" h="2483239">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1771519" y="3350122"/>
            <a:ext cx="16269876" cy="2984984"/>
          </a:xfrm>
          <a:prstGeom prst="rect">
            <a:avLst/>
          </a:prstGeom>
        </p:spPr>
        <p:txBody>
          <a:bodyPr wrap="square" lIns="0" tIns="0" rIns="0" bIns="0" rtlCol="0" anchor="t">
            <a:spAutoFit/>
          </a:bodyPr>
          <a:lstStyle/>
          <a:p>
            <a:pPr marL="0" lvl="0" indent="0" algn="l">
              <a:lnSpc>
                <a:spcPts val="24508"/>
              </a:lnSpc>
            </a:pPr>
            <a:r>
              <a:rPr lang="en-US" sz="17506" b="1" dirty="0">
                <a:solidFill>
                  <a:srgbClr val="996633"/>
                </a:solidFill>
                <a:latin typeface="Nordique Inline" panose="00000500000000000000" pitchFamily="2" charset="0"/>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TotalTime>
  <Words>1364</Words>
  <Application>Microsoft Office PowerPoint</Application>
  <PresentationFormat>Custom</PresentationFormat>
  <Paragraphs>241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Wingdings</vt:lpstr>
      <vt:lpstr>Inter Bold</vt:lpstr>
      <vt:lpstr>Poppins Bold</vt:lpstr>
      <vt:lpstr>Nordique Inline</vt:lpstr>
      <vt:lpstr>Arial</vt:lpstr>
      <vt:lpstr>Calibri</vt:lpstr>
      <vt:lpstr>Office Theme</vt:lpstr>
      <vt:lpstr>PowerPoint Presentation</vt:lpstr>
      <vt:lpstr>PowerPoint Presentation</vt:lpstr>
      <vt:lpstr>PowerPoint Presentation</vt:lpstr>
      <vt:lpstr>PowerPoint Presentation</vt:lpstr>
      <vt:lpstr>Dataset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White Simple Research Proposal Presentation</dc:title>
  <dc:creator>pc</dc:creator>
  <cp:lastModifiedBy>Shanmukha Priya Maddiboina</cp:lastModifiedBy>
  <cp:revision>8</cp:revision>
  <dcterms:created xsi:type="dcterms:W3CDTF">2006-08-16T00:00:00Z</dcterms:created>
  <dcterms:modified xsi:type="dcterms:W3CDTF">2026-01-30T13:07:41Z</dcterms:modified>
  <dc:identifier>DAG5KWXu7jg</dc:identifier>
</cp:coreProperties>
</file>